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alibri (MS) Bold" charset="1" panose="020F0702030404030204"/>
      <p:regular r:id="rId22"/>
    </p:embeddedFont>
    <p:embeddedFont>
      <p:font typeface="Calibri (MS)" charset="1" panose="020F0502020204030204"/>
      <p:regular r:id="rId23"/>
    </p:embeddedFont>
    <p:embeddedFont>
      <p:font typeface="Calibri (MS) Italics" charset="1" panose="020F05020202040A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fonts/font25.fntdata" Type="http://schemas.openxmlformats.org/officeDocument/2006/relationships/font"/><Relationship Id="rId26" Target="notesSlides/notesSlide3.xml" Type="http://schemas.openxmlformats.org/officeDocument/2006/relationships/notesSlide"/><Relationship Id="rId27" Target="notesSlides/notesSlide4.xml" Type="http://schemas.openxmlformats.org/officeDocument/2006/relationships/notesSlide"/><Relationship Id="rId28" Target="notesSlides/notesSlide5.xml" Type="http://schemas.openxmlformats.org/officeDocument/2006/relationships/notesSlide"/><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8.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1B3E"/>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0D9E8A"/>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0D9E8A"/>
            </a:solidFill>
          </p:spPr>
        </p:sp>
      </p:grpSp>
      <p:grpSp>
        <p:nvGrpSpPr>
          <p:cNvPr name="Group 5" id="5"/>
          <p:cNvGrpSpPr/>
          <p:nvPr/>
        </p:nvGrpSpPr>
        <p:grpSpPr>
          <a:xfrm rot="0">
            <a:off x="14983463" y="-1109977"/>
            <a:ext cx="5146043" cy="5146043"/>
            <a:chOff x="0" y="0"/>
            <a:chExt cx="6861391" cy="6861391"/>
          </a:xfrm>
        </p:grpSpPr>
        <p:sp>
          <p:nvSpPr>
            <p:cNvPr name="Freeform 6" id="6"/>
            <p:cNvSpPr/>
            <p:nvPr/>
          </p:nvSpPr>
          <p:spPr>
            <a:xfrm flipH="false" flipV="false" rot="0">
              <a:off x="16891" y="16891"/>
              <a:ext cx="6827520" cy="6827520"/>
            </a:xfrm>
            <a:custGeom>
              <a:avLst/>
              <a:gdLst/>
              <a:ahLst/>
              <a:cxnLst/>
              <a:rect r="r" b="b" t="t" l="l"/>
              <a:pathLst>
                <a:path h="6827520" w="6827520">
                  <a:moveTo>
                    <a:pt x="0" y="3413760"/>
                  </a:moveTo>
                  <a:cubicBezTo>
                    <a:pt x="0" y="1528445"/>
                    <a:pt x="1528445" y="0"/>
                    <a:pt x="3413760" y="0"/>
                  </a:cubicBezTo>
                  <a:cubicBezTo>
                    <a:pt x="5299075" y="0"/>
                    <a:pt x="6827520" y="1528445"/>
                    <a:pt x="6827520" y="3413760"/>
                  </a:cubicBezTo>
                  <a:cubicBezTo>
                    <a:pt x="6827520" y="5299075"/>
                    <a:pt x="5299075" y="6827520"/>
                    <a:pt x="3413760" y="6827520"/>
                  </a:cubicBezTo>
                  <a:cubicBezTo>
                    <a:pt x="1528445" y="6827520"/>
                    <a:pt x="0" y="5299202"/>
                    <a:pt x="0" y="3413760"/>
                  </a:cubicBezTo>
                  <a:close/>
                </a:path>
              </a:pathLst>
            </a:custGeom>
            <a:solidFill>
              <a:srgbClr val="1A5EAD">
                <a:alpha val="5882"/>
              </a:srgbClr>
            </a:solidFill>
          </p:spPr>
        </p:sp>
        <p:sp>
          <p:nvSpPr>
            <p:cNvPr name="Freeform 7" id="7"/>
            <p:cNvSpPr/>
            <p:nvPr/>
          </p:nvSpPr>
          <p:spPr>
            <a:xfrm flipH="false" flipV="false" rot="0">
              <a:off x="0" y="0"/>
              <a:ext cx="6861429" cy="6861302"/>
            </a:xfrm>
            <a:custGeom>
              <a:avLst/>
              <a:gdLst/>
              <a:ahLst/>
              <a:cxnLst/>
              <a:rect r="r" b="b" t="t" l="l"/>
              <a:pathLst>
                <a:path h="6861302" w="6861429">
                  <a:moveTo>
                    <a:pt x="0" y="3430651"/>
                  </a:moveTo>
                  <a:cubicBezTo>
                    <a:pt x="0" y="1535938"/>
                    <a:pt x="1535938" y="0"/>
                    <a:pt x="3430651" y="0"/>
                  </a:cubicBezTo>
                  <a:lnTo>
                    <a:pt x="3430651" y="16891"/>
                  </a:lnTo>
                  <a:lnTo>
                    <a:pt x="3430651" y="0"/>
                  </a:lnTo>
                  <a:cubicBezTo>
                    <a:pt x="5325364" y="0"/>
                    <a:pt x="6861429" y="1535938"/>
                    <a:pt x="6861429" y="3430651"/>
                  </a:cubicBezTo>
                  <a:cubicBezTo>
                    <a:pt x="6861429" y="5325364"/>
                    <a:pt x="5325491" y="6861302"/>
                    <a:pt x="3430778" y="6861302"/>
                  </a:cubicBezTo>
                  <a:lnTo>
                    <a:pt x="3430778" y="6844411"/>
                  </a:lnTo>
                  <a:lnTo>
                    <a:pt x="3430778" y="6861302"/>
                  </a:lnTo>
                  <a:cubicBezTo>
                    <a:pt x="1535938" y="6861429"/>
                    <a:pt x="0" y="5325364"/>
                    <a:pt x="0" y="3430651"/>
                  </a:cubicBezTo>
                  <a:lnTo>
                    <a:pt x="16891" y="3430651"/>
                  </a:lnTo>
                  <a:lnTo>
                    <a:pt x="31115" y="3439795"/>
                  </a:lnTo>
                  <a:cubicBezTo>
                    <a:pt x="27051" y="3446145"/>
                    <a:pt x="19304" y="3449066"/>
                    <a:pt x="12065" y="3446907"/>
                  </a:cubicBezTo>
                  <a:cubicBezTo>
                    <a:pt x="4826" y="3444748"/>
                    <a:pt x="0" y="3438271"/>
                    <a:pt x="0" y="3430651"/>
                  </a:cubicBezTo>
                  <a:moveTo>
                    <a:pt x="33909" y="3430651"/>
                  </a:moveTo>
                  <a:lnTo>
                    <a:pt x="16891" y="3430651"/>
                  </a:lnTo>
                  <a:lnTo>
                    <a:pt x="2667" y="3421507"/>
                  </a:lnTo>
                  <a:cubicBezTo>
                    <a:pt x="6731" y="3415157"/>
                    <a:pt x="14478" y="3412236"/>
                    <a:pt x="21717" y="3414395"/>
                  </a:cubicBezTo>
                  <a:cubicBezTo>
                    <a:pt x="28956" y="3416554"/>
                    <a:pt x="33909" y="3423158"/>
                    <a:pt x="33909" y="3430651"/>
                  </a:cubicBezTo>
                  <a:cubicBezTo>
                    <a:pt x="33909" y="5306695"/>
                    <a:pt x="1554734" y="6827520"/>
                    <a:pt x="3430778" y="6827520"/>
                  </a:cubicBezTo>
                  <a:cubicBezTo>
                    <a:pt x="5306822" y="6827520"/>
                    <a:pt x="6827647" y="5306695"/>
                    <a:pt x="6827647" y="3430651"/>
                  </a:cubicBezTo>
                  <a:lnTo>
                    <a:pt x="6844538" y="3430651"/>
                  </a:lnTo>
                  <a:lnTo>
                    <a:pt x="6827647" y="3430651"/>
                  </a:lnTo>
                  <a:cubicBezTo>
                    <a:pt x="6827520" y="1554734"/>
                    <a:pt x="5306695" y="33909"/>
                    <a:pt x="3430651" y="33909"/>
                  </a:cubicBezTo>
                  <a:lnTo>
                    <a:pt x="3430651" y="16891"/>
                  </a:lnTo>
                  <a:lnTo>
                    <a:pt x="3430651" y="33909"/>
                  </a:lnTo>
                  <a:cubicBezTo>
                    <a:pt x="1554734" y="33909"/>
                    <a:pt x="33909" y="1554734"/>
                    <a:pt x="33909" y="3430651"/>
                  </a:cubicBezTo>
                  <a:close/>
                </a:path>
              </a:pathLst>
            </a:custGeom>
            <a:solidFill>
              <a:srgbClr val="1A5EAD">
                <a:alpha val="5882"/>
              </a:srgbClr>
            </a:solidFill>
          </p:spPr>
        </p:sp>
      </p:grpSp>
      <p:grpSp>
        <p:nvGrpSpPr>
          <p:cNvPr name="Group 8" id="8"/>
          <p:cNvGrpSpPr/>
          <p:nvPr/>
        </p:nvGrpSpPr>
        <p:grpSpPr>
          <a:xfrm rot="0">
            <a:off x="16080743" y="6388103"/>
            <a:ext cx="3317243" cy="3317243"/>
            <a:chOff x="0" y="0"/>
            <a:chExt cx="4422991" cy="4422991"/>
          </a:xfrm>
        </p:grpSpPr>
        <p:sp>
          <p:nvSpPr>
            <p:cNvPr name="Freeform 9" id="9"/>
            <p:cNvSpPr/>
            <p:nvPr/>
          </p:nvSpPr>
          <p:spPr>
            <a:xfrm flipH="false" flipV="false" rot="0">
              <a:off x="16891" y="16891"/>
              <a:ext cx="4389120" cy="4389120"/>
            </a:xfrm>
            <a:custGeom>
              <a:avLst/>
              <a:gdLst/>
              <a:ahLst/>
              <a:cxnLst/>
              <a:rect r="r" b="b" t="t" l="l"/>
              <a:pathLst>
                <a:path h="4389120" w="4389120">
                  <a:moveTo>
                    <a:pt x="0" y="2194560"/>
                  </a:moveTo>
                  <a:cubicBezTo>
                    <a:pt x="0" y="982599"/>
                    <a:pt x="982599" y="0"/>
                    <a:pt x="2194560" y="0"/>
                  </a:cubicBezTo>
                  <a:cubicBezTo>
                    <a:pt x="3406521" y="0"/>
                    <a:pt x="4389120" y="982599"/>
                    <a:pt x="4389120" y="2194560"/>
                  </a:cubicBezTo>
                  <a:cubicBezTo>
                    <a:pt x="4389120" y="3406521"/>
                    <a:pt x="3406521" y="4389120"/>
                    <a:pt x="2194560" y="4389120"/>
                  </a:cubicBezTo>
                  <a:cubicBezTo>
                    <a:pt x="982599" y="4389120"/>
                    <a:pt x="0" y="3406648"/>
                    <a:pt x="0" y="2194560"/>
                  </a:cubicBezTo>
                  <a:close/>
                </a:path>
              </a:pathLst>
            </a:custGeom>
            <a:solidFill>
              <a:srgbClr val="0D9E8A">
                <a:alpha val="3922"/>
              </a:srgbClr>
            </a:solidFill>
          </p:spPr>
        </p:sp>
        <p:sp>
          <p:nvSpPr>
            <p:cNvPr name="Freeform 10" id="10"/>
            <p:cNvSpPr/>
            <p:nvPr/>
          </p:nvSpPr>
          <p:spPr>
            <a:xfrm flipH="false" flipV="false" rot="0">
              <a:off x="0" y="0"/>
              <a:ext cx="4423029" cy="4422902"/>
            </a:xfrm>
            <a:custGeom>
              <a:avLst/>
              <a:gdLst/>
              <a:ahLst/>
              <a:cxnLst/>
              <a:rect r="r" b="b" t="t" l="l"/>
              <a:pathLst>
                <a:path h="4422902" w="4423029">
                  <a:moveTo>
                    <a:pt x="0" y="2211451"/>
                  </a:moveTo>
                  <a:cubicBezTo>
                    <a:pt x="0" y="990092"/>
                    <a:pt x="990092" y="0"/>
                    <a:pt x="2211451" y="0"/>
                  </a:cubicBezTo>
                  <a:lnTo>
                    <a:pt x="2211451" y="16891"/>
                  </a:lnTo>
                  <a:lnTo>
                    <a:pt x="2211451" y="0"/>
                  </a:lnTo>
                  <a:cubicBezTo>
                    <a:pt x="3432810" y="0"/>
                    <a:pt x="4423029" y="990092"/>
                    <a:pt x="4423029" y="2211451"/>
                  </a:cubicBezTo>
                  <a:lnTo>
                    <a:pt x="4406138" y="2211451"/>
                  </a:lnTo>
                  <a:lnTo>
                    <a:pt x="4423029" y="2211451"/>
                  </a:lnTo>
                  <a:cubicBezTo>
                    <a:pt x="4423029" y="3432810"/>
                    <a:pt x="3432937" y="4422902"/>
                    <a:pt x="2211578" y="4422902"/>
                  </a:cubicBezTo>
                  <a:lnTo>
                    <a:pt x="2211578" y="4406011"/>
                  </a:lnTo>
                  <a:lnTo>
                    <a:pt x="2211578" y="4422902"/>
                  </a:lnTo>
                  <a:cubicBezTo>
                    <a:pt x="990092" y="4423029"/>
                    <a:pt x="0" y="3432810"/>
                    <a:pt x="0" y="2211451"/>
                  </a:cubicBezTo>
                  <a:lnTo>
                    <a:pt x="16891" y="2211451"/>
                  </a:lnTo>
                  <a:lnTo>
                    <a:pt x="33909" y="2211451"/>
                  </a:lnTo>
                  <a:lnTo>
                    <a:pt x="16891" y="2211451"/>
                  </a:lnTo>
                  <a:lnTo>
                    <a:pt x="0" y="2211451"/>
                  </a:lnTo>
                  <a:moveTo>
                    <a:pt x="33909" y="2211451"/>
                  </a:moveTo>
                  <a:cubicBezTo>
                    <a:pt x="33909" y="2220849"/>
                    <a:pt x="26289" y="2228342"/>
                    <a:pt x="17018" y="2228342"/>
                  </a:cubicBezTo>
                  <a:cubicBezTo>
                    <a:pt x="7747" y="2228342"/>
                    <a:pt x="0" y="2220849"/>
                    <a:pt x="0" y="2211451"/>
                  </a:cubicBezTo>
                  <a:cubicBezTo>
                    <a:pt x="0" y="2202053"/>
                    <a:pt x="7620" y="2194560"/>
                    <a:pt x="16891" y="2194560"/>
                  </a:cubicBezTo>
                  <a:cubicBezTo>
                    <a:pt x="26162" y="2194560"/>
                    <a:pt x="33782" y="2202180"/>
                    <a:pt x="33782" y="2211451"/>
                  </a:cubicBezTo>
                  <a:cubicBezTo>
                    <a:pt x="33782" y="3414141"/>
                    <a:pt x="1008761" y="4389120"/>
                    <a:pt x="2211451" y="4389120"/>
                  </a:cubicBezTo>
                  <a:cubicBezTo>
                    <a:pt x="3414141" y="4389120"/>
                    <a:pt x="4389120" y="3414141"/>
                    <a:pt x="4389120" y="2211451"/>
                  </a:cubicBezTo>
                  <a:cubicBezTo>
                    <a:pt x="4389120" y="1008761"/>
                    <a:pt x="3414141" y="33782"/>
                    <a:pt x="2211451" y="33782"/>
                  </a:cubicBezTo>
                  <a:lnTo>
                    <a:pt x="2211451" y="16891"/>
                  </a:lnTo>
                  <a:lnTo>
                    <a:pt x="2211451" y="33909"/>
                  </a:lnTo>
                  <a:cubicBezTo>
                    <a:pt x="1008761" y="33909"/>
                    <a:pt x="33909" y="1008761"/>
                    <a:pt x="33909" y="2211451"/>
                  </a:cubicBezTo>
                  <a:close/>
                </a:path>
              </a:pathLst>
            </a:custGeom>
            <a:solidFill>
              <a:srgbClr val="0D9E8A">
                <a:alpha val="3922"/>
              </a:srgbClr>
            </a:solidFill>
          </p:spPr>
        </p:sp>
      </p:grpSp>
      <p:grpSp>
        <p:nvGrpSpPr>
          <p:cNvPr name="Group 11" id="11"/>
          <p:cNvGrpSpPr/>
          <p:nvPr/>
        </p:nvGrpSpPr>
        <p:grpSpPr>
          <a:xfrm rot="0">
            <a:off x="731520" y="1280160"/>
            <a:ext cx="16459200" cy="731520"/>
            <a:chOff x="0" y="0"/>
            <a:chExt cx="21945600" cy="975360"/>
          </a:xfrm>
        </p:grpSpPr>
        <p:sp>
          <p:nvSpPr>
            <p:cNvPr name="Freeform 12" id="12"/>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sp>
        <p:sp>
          <p:nvSpPr>
            <p:cNvPr name="TextBox 13" id="13"/>
            <p:cNvSpPr txBox="true"/>
            <p:nvPr/>
          </p:nvSpPr>
          <p:spPr>
            <a:xfrm>
              <a:off x="0" y="-47625"/>
              <a:ext cx="21945600" cy="1022985"/>
            </a:xfrm>
            <a:prstGeom prst="rect">
              <a:avLst/>
            </a:prstGeom>
          </p:spPr>
          <p:txBody>
            <a:bodyPr anchor="ctr" rtlCol="false" tIns="0" lIns="0" bIns="0" rIns="0"/>
            <a:lstStyle/>
            <a:p>
              <a:pPr algn="l">
                <a:lnSpc>
                  <a:spcPts val="2640"/>
                </a:lnSpc>
              </a:pPr>
              <a:r>
                <a:rPr lang="en-US" b="true" sz="2200" spc="799">
                  <a:solidFill>
                    <a:srgbClr val="0D9E8A"/>
                  </a:solidFill>
                  <a:latin typeface="Calibri (MS) Bold"/>
                  <a:ea typeface="Calibri (MS) Bold"/>
                  <a:cs typeface="Calibri (MS) Bold"/>
                  <a:sym typeface="Calibri (MS) Bold"/>
                </a:rPr>
                <a:t>MACHINE LEARNING — GI2</a:t>
              </a:r>
            </a:p>
          </p:txBody>
        </p:sp>
      </p:grpSp>
      <p:grpSp>
        <p:nvGrpSpPr>
          <p:cNvPr name="Group 14" id="14"/>
          <p:cNvGrpSpPr/>
          <p:nvPr/>
        </p:nvGrpSpPr>
        <p:grpSpPr>
          <a:xfrm rot="0">
            <a:off x="731520" y="2194560"/>
            <a:ext cx="15544800" cy="4023360"/>
            <a:chOff x="0" y="0"/>
            <a:chExt cx="20726400" cy="5364480"/>
          </a:xfrm>
        </p:grpSpPr>
        <p:sp>
          <p:nvSpPr>
            <p:cNvPr name="Freeform 15" id="15"/>
            <p:cNvSpPr/>
            <p:nvPr/>
          </p:nvSpPr>
          <p:spPr>
            <a:xfrm flipH="false" flipV="false" rot="0">
              <a:off x="0" y="0"/>
              <a:ext cx="20726400" cy="5364480"/>
            </a:xfrm>
            <a:custGeom>
              <a:avLst/>
              <a:gdLst/>
              <a:ahLst/>
              <a:cxnLst/>
              <a:rect r="r" b="b" t="t" l="l"/>
              <a:pathLst>
                <a:path h="5364480" w="20726400">
                  <a:moveTo>
                    <a:pt x="0" y="0"/>
                  </a:moveTo>
                  <a:lnTo>
                    <a:pt x="20726400" y="0"/>
                  </a:lnTo>
                  <a:lnTo>
                    <a:pt x="20726400" y="5364480"/>
                  </a:lnTo>
                  <a:lnTo>
                    <a:pt x="0" y="5364480"/>
                  </a:lnTo>
                  <a:close/>
                </a:path>
              </a:pathLst>
            </a:custGeom>
            <a:blipFill>
              <a:blip r:embed="rId3">
                <a:alphaModFix amt="0"/>
              </a:blip>
              <a:stretch>
                <a:fillRect l="0" t="-25283" r="0" b="-25283"/>
              </a:stretch>
            </a:blipFill>
          </p:spPr>
        </p:sp>
        <p:sp>
          <p:nvSpPr>
            <p:cNvPr name="TextBox 16" id="16"/>
            <p:cNvSpPr txBox="true"/>
            <p:nvPr/>
          </p:nvSpPr>
          <p:spPr>
            <a:xfrm>
              <a:off x="0" y="-295275"/>
              <a:ext cx="20726400" cy="5659755"/>
            </a:xfrm>
            <a:prstGeom prst="rect">
              <a:avLst/>
            </a:prstGeom>
          </p:spPr>
          <p:txBody>
            <a:bodyPr anchor="ctr" rtlCol="false" tIns="0" lIns="0" bIns="0" rIns="0"/>
            <a:lstStyle/>
            <a:p>
              <a:pPr algn="l">
                <a:lnSpc>
                  <a:spcPts val="11040"/>
                </a:lnSpc>
              </a:pPr>
              <a:r>
                <a:rPr lang="en-US" sz="8000" b="true">
                  <a:solidFill>
                    <a:srgbClr val="FFFFFF"/>
                  </a:solidFill>
                  <a:latin typeface="Calibri (MS) Bold"/>
                  <a:ea typeface="Calibri (MS) Bold"/>
                  <a:cs typeface="Calibri (MS) Bold"/>
                  <a:sym typeface="Calibri (MS) Bold"/>
                </a:rPr>
                <a:t>Analyse Comportementale</a:t>
              </a:r>
            </a:p>
            <a:p>
              <a:pPr algn="l">
                <a:lnSpc>
                  <a:spcPts val="11040"/>
                </a:lnSpc>
              </a:pPr>
              <a:r>
                <a:rPr lang="en-US" sz="8000" b="true">
                  <a:solidFill>
                    <a:srgbClr val="FFFFFF"/>
                  </a:solidFill>
                  <a:latin typeface="Calibri (MS) Bold"/>
                  <a:ea typeface="Calibri (MS) Bold"/>
                  <a:cs typeface="Calibri (MS) Bold"/>
                  <a:sym typeface="Calibri (MS) Bold"/>
                </a:rPr>
                <a:t>Clientèle Retail</a:t>
              </a:r>
            </a:p>
          </p:txBody>
        </p:sp>
      </p:grpSp>
      <p:grpSp>
        <p:nvGrpSpPr>
          <p:cNvPr name="Group 17" id="17"/>
          <p:cNvGrpSpPr/>
          <p:nvPr/>
        </p:nvGrpSpPr>
        <p:grpSpPr>
          <a:xfrm rot="0">
            <a:off x="731520" y="6400800"/>
            <a:ext cx="15544800" cy="914400"/>
            <a:chOff x="0" y="0"/>
            <a:chExt cx="20726400" cy="1219200"/>
          </a:xfrm>
        </p:grpSpPr>
        <p:sp>
          <p:nvSpPr>
            <p:cNvPr name="Freeform 18" id="18"/>
            <p:cNvSpPr/>
            <p:nvPr/>
          </p:nvSpPr>
          <p:spPr>
            <a:xfrm flipH="false" flipV="false" rot="0">
              <a:off x="0" y="0"/>
              <a:ext cx="20726400" cy="1219200"/>
            </a:xfrm>
            <a:custGeom>
              <a:avLst/>
              <a:gdLst/>
              <a:ahLst/>
              <a:cxnLst/>
              <a:rect r="r" b="b" t="t" l="l"/>
              <a:pathLst>
                <a:path h="1219200" w="20726400">
                  <a:moveTo>
                    <a:pt x="0" y="0"/>
                  </a:moveTo>
                  <a:lnTo>
                    <a:pt x="20726400" y="0"/>
                  </a:lnTo>
                  <a:lnTo>
                    <a:pt x="20726400" y="1219200"/>
                  </a:lnTo>
                  <a:lnTo>
                    <a:pt x="0" y="1219200"/>
                  </a:lnTo>
                  <a:close/>
                </a:path>
              </a:pathLst>
            </a:custGeom>
            <a:blipFill>
              <a:blip r:embed="rId3">
                <a:alphaModFix amt="0"/>
              </a:blip>
              <a:stretch>
                <a:fillRect l="0" t="-281245" r="0" b="-281245"/>
              </a:stretch>
            </a:blipFill>
          </p:spPr>
        </p:sp>
        <p:sp>
          <p:nvSpPr>
            <p:cNvPr name="TextBox 19" id="19"/>
            <p:cNvSpPr txBox="true"/>
            <p:nvPr/>
          </p:nvSpPr>
          <p:spPr>
            <a:xfrm>
              <a:off x="0" y="-57150"/>
              <a:ext cx="20726400" cy="1276350"/>
            </a:xfrm>
            <a:prstGeom prst="rect">
              <a:avLst/>
            </a:prstGeom>
          </p:spPr>
          <p:txBody>
            <a:bodyPr anchor="ctr" rtlCol="false" tIns="0" lIns="0" bIns="0" rIns="0"/>
            <a:lstStyle/>
            <a:p>
              <a:pPr algn="l">
                <a:lnSpc>
                  <a:spcPts val="3120"/>
                </a:lnSpc>
              </a:pPr>
              <a:r>
                <a:rPr lang="en-US" sz="2600">
                  <a:solidFill>
                    <a:srgbClr val="94A3B8"/>
                  </a:solidFill>
                  <a:latin typeface="Calibri (MS)"/>
                  <a:ea typeface="Calibri (MS)"/>
                  <a:cs typeface="Calibri (MS)"/>
                  <a:sym typeface="Calibri (MS)"/>
                </a:rPr>
                <a:t>Pipeline complet : Clustering RFM · Classification Churn · Régression MonetaryTotal</a:t>
              </a:r>
            </a:p>
          </p:txBody>
        </p:sp>
      </p:grpSp>
      <p:grpSp>
        <p:nvGrpSpPr>
          <p:cNvPr name="Group 20" id="20"/>
          <p:cNvGrpSpPr/>
          <p:nvPr/>
        </p:nvGrpSpPr>
        <p:grpSpPr>
          <a:xfrm rot="0">
            <a:off x="721357" y="7579357"/>
            <a:ext cx="16845277" cy="20317"/>
            <a:chOff x="0" y="0"/>
            <a:chExt cx="22460369" cy="27089"/>
          </a:xfrm>
        </p:grpSpPr>
        <p:sp>
          <p:nvSpPr>
            <p:cNvPr name="Freeform 21" id="21"/>
            <p:cNvSpPr/>
            <p:nvPr/>
          </p:nvSpPr>
          <p:spPr>
            <a:xfrm flipH="false" flipV="false" rot="0">
              <a:off x="13589" y="0"/>
              <a:ext cx="22433280" cy="27051"/>
            </a:xfrm>
            <a:custGeom>
              <a:avLst/>
              <a:gdLst/>
              <a:ahLst/>
              <a:cxnLst/>
              <a:rect r="r" b="b" t="t" l="l"/>
              <a:pathLst>
                <a:path h="27051" w="22433280">
                  <a:moveTo>
                    <a:pt x="0" y="0"/>
                  </a:moveTo>
                  <a:lnTo>
                    <a:pt x="22433280" y="0"/>
                  </a:lnTo>
                  <a:lnTo>
                    <a:pt x="22433280" y="27051"/>
                  </a:lnTo>
                  <a:lnTo>
                    <a:pt x="0" y="27051"/>
                  </a:lnTo>
                  <a:close/>
                </a:path>
              </a:pathLst>
            </a:custGeom>
            <a:solidFill>
              <a:srgbClr val="1A5EAD">
                <a:alpha val="24706"/>
              </a:srgbClr>
            </a:solidFill>
          </p:spPr>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0D1B3E"/>
        </a:solidFill>
      </p:bgPr>
    </p:bg>
    <p:spTree>
      <p:nvGrpSpPr>
        <p:cNvPr id="1" name=""/>
        <p:cNvGrpSpPr/>
        <p:nvPr/>
      </p:nvGrpSpPr>
      <p:grpSpPr>
        <a:xfrm>
          <a:off x="0" y="0"/>
          <a:ext cx="0" cy="0"/>
          <a:chOff x="0" y="0"/>
          <a:chExt cx="0" cy="0"/>
        </a:xfrm>
      </p:grpSpPr>
      <p:sp>
        <p:nvSpPr>
          <p:cNvPr name="TextBox 2" id="2"/>
          <p:cNvSpPr txBox="true"/>
          <p:nvPr/>
        </p:nvSpPr>
        <p:spPr>
          <a:xfrm rot="0">
            <a:off x="1028700" y="838200"/>
            <a:ext cx="13796927" cy="3381375"/>
          </a:xfrm>
          <a:prstGeom prst="rect">
            <a:avLst/>
          </a:prstGeom>
        </p:spPr>
        <p:txBody>
          <a:bodyPr anchor="t" rtlCol="false" tIns="0" lIns="0" bIns="0" rIns="0">
            <a:spAutoFit/>
          </a:bodyPr>
          <a:lstStyle/>
          <a:p>
            <a:pPr algn="ctr">
              <a:lnSpc>
                <a:spcPts val="10559"/>
              </a:lnSpc>
              <a:spcBef>
                <a:spcPct val="0"/>
              </a:spcBef>
            </a:pPr>
            <a:r>
              <a:rPr lang="en-US" b="true" sz="8799">
                <a:solidFill>
                  <a:srgbClr val="FFFFFF"/>
                </a:solidFill>
                <a:latin typeface="Calibri (MS) Bold"/>
                <a:ea typeface="Calibri (MS) Bold"/>
                <a:cs typeface="Calibri (MS) Bold"/>
                <a:sym typeface="Calibri (MS) Bold"/>
              </a:rPr>
              <a:t>Le Co</a:t>
            </a:r>
            <a:r>
              <a:rPr lang="en-US" b="true" sz="8799">
                <a:solidFill>
                  <a:srgbClr val="FFFFFF"/>
                </a:solidFill>
                <a:latin typeface="Calibri (MS) Bold"/>
                <a:ea typeface="Calibri (MS) Bold"/>
                <a:cs typeface="Calibri (MS) Bold"/>
                <a:sym typeface="Calibri (MS) Bold"/>
              </a:rPr>
              <a:t>ntexte et les Données</a:t>
            </a:r>
          </a:p>
          <a:p>
            <a:pPr algn="ctr">
              <a:lnSpc>
                <a:spcPts val="2999"/>
              </a:lnSpc>
              <a:spcBef>
                <a:spcPct val="0"/>
              </a:spcBef>
            </a:pPr>
          </a:p>
          <a:p>
            <a:pPr algn="ctr">
              <a:lnSpc>
                <a:spcPts val="2999"/>
              </a:lnSpc>
              <a:spcBef>
                <a:spcPct val="0"/>
              </a:spcBef>
            </a:pPr>
          </a:p>
          <a:p>
            <a:pPr algn="ctr">
              <a:lnSpc>
                <a:spcPts val="2999"/>
              </a:lnSpc>
              <a:spcBef>
                <a:spcPct val="0"/>
              </a:spcBef>
            </a:pPr>
          </a:p>
          <a:p>
            <a:pPr algn="ctr">
              <a:lnSpc>
                <a:spcPts val="2999"/>
              </a:lnSpc>
              <a:spcBef>
                <a:spcPct val="0"/>
              </a:spcBef>
            </a:pPr>
          </a:p>
          <a:p>
            <a:pPr algn="ctr">
              <a:lnSpc>
                <a:spcPts val="2999"/>
              </a:lnSpc>
              <a:spcBef>
                <a:spcPct val="0"/>
              </a:spcBef>
            </a:pPr>
          </a:p>
        </p:txBody>
      </p:sp>
      <p:sp>
        <p:nvSpPr>
          <p:cNvPr name="TextBox 3" id="3"/>
          <p:cNvSpPr txBox="true"/>
          <p:nvPr/>
        </p:nvSpPr>
        <p:spPr>
          <a:xfrm rot="0">
            <a:off x="1028700" y="2528888"/>
            <a:ext cx="11896487" cy="1304925"/>
          </a:xfrm>
          <a:prstGeom prst="rect">
            <a:avLst/>
          </a:prstGeom>
        </p:spPr>
        <p:txBody>
          <a:bodyPr anchor="t" rtlCol="false" tIns="0" lIns="0" bIns="0" rIns="0">
            <a:spAutoFit/>
          </a:bodyPr>
          <a:lstStyle/>
          <a:p>
            <a:pPr algn="l">
              <a:lnSpc>
                <a:spcPts val="5879"/>
              </a:lnSpc>
              <a:spcBef>
                <a:spcPct val="0"/>
              </a:spcBef>
            </a:pPr>
            <a:r>
              <a:rPr lang="en-US" b="true" sz="4899">
                <a:solidFill>
                  <a:srgbClr val="1A5EAD"/>
                </a:solidFill>
                <a:latin typeface="Calibri (MS) Bold"/>
                <a:ea typeface="Calibri (MS) Bold"/>
                <a:cs typeface="Calibri (MS) Bold"/>
                <a:sym typeface="Calibri (MS) Bold"/>
              </a:rPr>
              <a:t>Contexte</a:t>
            </a:r>
          </a:p>
          <a:p>
            <a:pPr algn="l">
              <a:lnSpc>
                <a:spcPts val="3719"/>
              </a:lnSpc>
              <a:spcBef>
                <a:spcPct val="0"/>
              </a:spcBef>
            </a:pPr>
            <a:r>
              <a:rPr lang="en-US" sz="3099">
                <a:solidFill>
                  <a:srgbClr val="FFFFFF"/>
                </a:solidFill>
                <a:latin typeface="Calibri (MS)"/>
                <a:ea typeface="Calibri (MS)"/>
                <a:cs typeface="Calibri (MS)"/>
                <a:sym typeface="Calibri (MS)"/>
              </a:rPr>
              <a:t>En</a:t>
            </a:r>
            <a:r>
              <a:rPr lang="en-US" sz="3099">
                <a:solidFill>
                  <a:srgbClr val="FFFFFF"/>
                </a:solidFill>
                <a:latin typeface="Calibri (MS)"/>
                <a:ea typeface="Calibri (MS)"/>
                <a:cs typeface="Calibri (MS)"/>
                <a:sym typeface="Calibri (MS)"/>
              </a:rPr>
              <a:t>treprise e-commerce de cadeaux souhaitant mieux analyser sa clientèle.</a:t>
            </a:r>
          </a:p>
        </p:txBody>
      </p:sp>
      <p:sp>
        <p:nvSpPr>
          <p:cNvPr name="TextBox 4" id="4"/>
          <p:cNvSpPr txBox="true"/>
          <p:nvPr/>
        </p:nvSpPr>
        <p:spPr>
          <a:xfrm rot="0">
            <a:off x="1028700" y="4124325"/>
            <a:ext cx="5948243" cy="2752725"/>
          </a:xfrm>
          <a:prstGeom prst="rect">
            <a:avLst/>
          </a:prstGeom>
        </p:spPr>
        <p:txBody>
          <a:bodyPr anchor="t" rtlCol="false" tIns="0" lIns="0" bIns="0" rIns="0">
            <a:spAutoFit/>
          </a:bodyPr>
          <a:lstStyle/>
          <a:p>
            <a:pPr algn="l">
              <a:lnSpc>
                <a:spcPts val="5427"/>
              </a:lnSpc>
            </a:pPr>
            <a:r>
              <a:rPr lang="en-US" sz="4522" b="true">
                <a:solidFill>
                  <a:srgbClr val="1A5EAD"/>
                </a:solidFill>
                <a:latin typeface="Calibri (MS) Bold"/>
                <a:ea typeface="Calibri (MS) Bold"/>
                <a:cs typeface="Calibri (MS) Bold"/>
                <a:sym typeface="Calibri (MS) Bold"/>
              </a:rPr>
              <a:t>Objectfs:</a:t>
            </a:r>
          </a:p>
          <a:p>
            <a:pPr algn="l" marL="617775" indent="-308887" lvl="1">
              <a:lnSpc>
                <a:spcPts val="3433"/>
              </a:lnSpc>
              <a:buFont typeface="Arial"/>
              <a:buChar char="•"/>
            </a:pPr>
            <a:r>
              <a:rPr lang="en-US" sz="2861">
                <a:solidFill>
                  <a:srgbClr val="FFFFFF"/>
                </a:solidFill>
                <a:latin typeface="Calibri (MS)"/>
                <a:ea typeface="Calibri (MS)"/>
                <a:cs typeface="Calibri (MS)"/>
                <a:sym typeface="Calibri (MS)"/>
              </a:rPr>
              <a:t>Messages plus ciblés</a:t>
            </a:r>
          </a:p>
          <a:p>
            <a:pPr algn="l" marL="617775" indent="-308887" lvl="1">
              <a:lnSpc>
                <a:spcPts val="3433"/>
              </a:lnSpc>
              <a:buFont typeface="Arial"/>
              <a:buChar char="•"/>
            </a:pPr>
            <a:r>
              <a:rPr lang="en-US" sz="2861">
                <a:solidFill>
                  <a:srgbClr val="FFFFFF"/>
                </a:solidFill>
                <a:latin typeface="Calibri (MS)"/>
                <a:ea typeface="Calibri (MS)"/>
                <a:cs typeface="Calibri (MS)"/>
                <a:sym typeface="Calibri (MS)"/>
              </a:rPr>
              <a:t>Baisse des départs clients</a:t>
            </a:r>
          </a:p>
          <a:p>
            <a:pPr algn="l" marL="617775" indent="-308887" lvl="1">
              <a:lnSpc>
                <a:spcPts val="3433"/>
              </a:lnSpc>
              <a:buFont typeface="Arial"/>
              <a:buChar char="•"/>
            </a:pPr>
            <a:r>
              <a:rPr lang="en-US" sz="2861">
                <a:solidFill>
                  <a:srgbClr val="FFFFFF"/>
                </a:solidFill>
                <a:latin typeface="Calibri (MS)"/>
                <a:ea typeface="Calibri (MS)"/>
                <a:cs typeface="Calibri (MS)"/>
                <a:sym typeface="Calibri (MS)"/>
              </a:rPr>
              <a:t>Hausse du chiffre d’affaires</a:t>
            </a:r>
          </a:p>
          <a:p>
            <a:pPr algn="l">
              <a:lnSpc>
                <a:spcPts val="5427"/>
              </a:lnSpc>
              <a:spcBef>
                <a:spcPct val="0"/>
              </a:spcBef>
            </a:pPr>
          </a:p>
        </p:txBody>
      </p:sp>
      <p:sp>
        <p:nvSpPr>
          <p:cNvPr name="TextBox 5" id="5"/>
          <p:cNvSpPr txBox="true"/>
          <p:nvPr/>
        </p:nvSpPr>
        <p:spPr>
          <a:xfrm rot="0">
            <a:off x="1028700" y="5652962"/>
            <a:ext cx="5948243" cy="4210050"/>
          </a:xfrm>
          <a:prstGeom prst="rect">
            <a:avLst/>
          </a:prstGeom>
        </p:spPr>
        <p:txBody>
          <a:bodyPr anchor="t" rtlCol="false" tIns="0" lIns="0" bIns="0" rIns="0">
            <a:spAutoFit/>
          </a:bodyPr>
          <a:lstStyle/>
          <a:p>
            <a:pPr algn="l">
              <a:lnSpc>
                <a:spcPts val="5427"/>
              </a:lnSpc>
            </a:pPr>
          </a:p>
          <a:p>
            <a:pPr algn="l">
              <a:lnSpc>
                <a:spcPts val="5427"/>
              </a:lnSpc>
            </a:pPr>
            <a:r>
              <a:rPr lang="en-US" b="true" sz="4522">
                <a:solidFill>
                  <a:srgbClr val="1A5EAD"/>
                </a:solidFill>
                <a:latin typeface="Calibri (MS) Bold"/>
                <a:ea typeface="Calibri (MS) Bold"/>
                <a:cs typeface="Calibri (MS) Bold"/>
                <a:sym typeface="Calibri (MS) Bold"/>
              </a:rPr>
              <a:t>Donné</a:t>
            </a:r>
            <a:r>
              <a:rPr lang="en-US" b="true" sz="4522">
                <a:solidFill>
                  <a:srgbClr val="1A5EAD"/>
                </a:solidFill>
                <a:latin typeface="Calibri (MS) Bold"/>
                <a:ea typeface="Calibri (MS) Bold"/>
                <a:cs typeface="Calibri (MS) Bold"/>
                <a:sym typeface="Calibri (MS) Bold"/>
              </a:rPr>
              <a:t>es </a:t>
            </a:r>
            <a:r>
              <a:rPr lang="en-US" b="true" sz="4522">
                <a:solidFill>
                  <a:srgbClr val="1A5EAD"/>
                </a:solidFill>
                <a:latin typeface="Calibri (MS) Bold"/>
                <a:ea typeface="Calibri (MS) Bold"/>
                <a:cs typeface="Calibri (MS) Bold"/>
                <a:sym typeface="Calibri (MS) Bold"/>
              </a:rPr>
              <a:t>:</a:t>
            </a:r>
          </a:p>
          <a:p>
            <a:pPr algn="l" marL="976471" indent="-488235" lvl="1">
              <a:lnSpc>
                <a:spcPts val="5427"/>
              </a:lnSpc>
              <a:buFont typeface="Arial"/>
              <a:buChar char="•"/>
            </a:pPr>
            <a:r>
              <a:rPr lang="en-US" sz="4522">
                <a:solidFill>
                  <a:srgbClr val="FFFFFF"/>
                </a:solidFill>
                <a:latin typeface="Calibri (MS)"/>
                <a:ea typeface="Calibri (MS)"/>
                <a:cs typeface="Calibri (MS)"/>
                <a:sym typeface="Calibri (MS)"/>
              </a:rPr>
              <a:t>4 372</a:t>
            </a:r>
            <a:r>
              <a:rPr lang="en-US" sz="4522">
                <a:solidFill>
                  <a:srgbClr val="FFFFFF"/>
                </a:solidFill>
                <a:latin typeface="Calibri (MS)"/>
                <a:ea typeface="Calibri (MS)"/>
                <a:cs typeface="Calibri (MS)"/>
                <a:sym typeface="Calibri (MS)"/>
              </a:rPr>
              <a:t> clients</a:t>
            </a:r>
          </a:p>
          <a:p>
            <a:pPr algn="l" marL="976471" indent="-488235" lvl="1">
              <a:lnSpc>
                <a:spcPts val="5427"/>
              </a:lnSpc>
              <a:buFont typeface="Arial"/>
              <a:buChar char="•"/>
            </a:pPr>
            <a:r>
              <a:rPr lang="en-US" sz="4522">
                <a:solidFill>
                  <a:srgbClr val="FFFFFF"/>
                </a:solidFill>
                <a:latin typeface="Calibri (MS)"/>
                <a:ea typeface="Calibri (MS)"/>
                <a:cs typeface="Calibri (MS)"/>
                <a:sym typeface="Calibri (MS)"/>
              </a:rPr>
              <a:t>52 fe</a:t>
            </a:r>
            <a:r>
              <a:rPr lang="en-US" sz="4522">
                <a:solidFill>
                  <a:srgbClr val="FFFFFF"/>
                </a:solidFill>
                <a:latin typeface="Calibri (MS)"/>
                <a:ea typeface="Calibri (MS)"/>
                <a:cs typeface="Calibri (MS)"/>
                <a:sym typeface="Calibri (MS)"/>
              </a:rPr>
              <a:t>a</a:t>
            </a:r>
            <a:r>
              <a:rPr lang="en-US" sz="4522">
                <a:solidFill>
                  <a:srgbClr val="FFFFFF"/>
                </a:solidFill>
                <a:latin typeface="Calibri (MS)"/>
                <a:ea typeface="Calibri (MS)"/>
                <a:cs typeface="Calibri (MS)"/>
                <a:sym typeface="Calibri (MS)"/>
              </a:rPr>
              <a:t>t</a:t>
            </a:r>
            <a:r>
              <a:rPr lang="en-US" sz="4522">
                <a:solidFill>
                  <a:srgbClr val="FFFFFF"/>
                </a:solidFill>
                <a:latin typeface="Calibri (MS)"/>
                <a:ea typeface="Calibri (MS)"/>
                <a:cs typeface="Calibri (MS)"/>
                <a:sym typeface="Calibri (MS)"/>
              </a:rPr>
              <a:t>u</a:t>
            </a:r>
            <a:r>
              <a:rPr lang="en-US" sz="4522">
                <a:solidFill>
                  <a:srgbClr val="FFFFFF"/>
                </a:solidFill>
                <a:latin typeface="Calibri (MS)"/>
                <a:ea typeface="Calibri (MS)"/>
                <a:cs typeface="Calibri (MS)"/>
                <a:sym typeface="Calibri (MS)"/>
              </a:rPr>
              <a:t>re</a:t>
            </a:r>
            <a:r>
              <a:rPr lang="en-US" sz="4522">
                <a:solidFill>
                  <a:srgbClr val="FFFFFF"/>
                </a:solidFill>
                <a:latin typeface="Calibri (MS)"/>
                <a:ea typeface="Calibri (MS)"/>
                <a:cs typeface="Calibri (MS)"/>
                <a:sym typeface="Calibri (MS)"/>
              </a:rPr>
              <a:t>s</a:t>
            </a:r>
          </a:p>
          <a:p>
            <a:pPr algn="l" marL="976471" indent="-488235" lvl="1">
              <a:lnSpc>
                <a:spcPts val="5427"/>
              </a:lnSpc>
              <a:buFont typeface="Arial"/>
              <a:buChar char="•"/>
            </a:pPr>
            <a:r>
              <a:rPr lang="en-US" sz="4522">
                <a:solidFill>
                  <a:srgbClr val="FFFFFF"/>
                </a:solidFill>
                <a:latin typeface="Calibri (MS)"/>
                <a:ea typeface="Calibri (MS)"/>
                <a:cs typeface="Calibri (MS)"/>
                <a:sym typeface="Calibri (MS)"/>
              </a:rPr>
              <a:t>33%</a:t>
            </a:r>
            <a:r>
              <a:rPr lang="en-US" sz="4522">
                <a:solidFill>
                  <a:srgbClr val="FFFFFF"/>
                </a:solidFill>
                <a:latin typeface="Calibri (MS)"/>
                <a:ea typeface="Calibri (MS)"/>
                <a:cs typeface="Calibri (MS)"/>
                <a:sym typeface="Calibri (MS)"/>
              </a:rPr>
              <a:t> ch</a:t>
            </a:r>
            <a:r>
              <a:rPr lang="en-US" sz="4522">
                <a:solidFill>
                  <a:srgbClr val="FFFFFF"/>
                </a:solidFill>
                <a:latin typeface="Calibri (MS)"/>
                <a:ea typeface="Calibri (MS)"/>
                <a:cs typeface="Calibri (MS)"/>
                <a:sym typeface="Calibri (MS)"/>
              </a:rPr>
              <a:t>u</a:t>
            </a:r>
            <a:r>
              <a:rPr lang="en-US" sz="4522">
                <a:solidFill>
                  <a:srgbClr val="FFFFFF"/>
                </a:solidFill>
                <a:latin typeface="Calibri (MS)"/>
                <a:ea typeface="Calibri (MS)"/>
                <a:cs typeface="Calibri (MS)"/>
                <a:sym typeface="Calibri (MS)"/>
              </a:rPr>
              <a:t>r</a:t>
            </a:r>
            <a:r>
              <a:rPr lang="en-US" sz="4522">
                <a:solidFill>
                  <a:srgbClr val="FFFFFF"/>
                </a:solidFill>
                <a:latin typeface="Calibri (MS)"/>
                <a:ea typeface="Calibri (MS)"/>
                <a:cs typeface="Calibri (MS)"/>
                <a:sym typeface="Calibri (MS)"/>
              </a:rPr>
              <a:t>n</a:t>
            </a:r>
          </a:p>
          <a:p>
            <a:pPr algn="l">
              <a:lnSpc>
                <a:spcPts val="5427"/>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1397003"/>
            <a:chOff x="0" y="0"/>
            <a:chExt cx="24417871" cy="1862671"/>
          </a:xfrm>
        </p:grpSpPr>
        <p:sp>
          <p:nvSpPr>
            <p:cNvPr name="Freeform 3" id="3"/>
            <p:cNvSpPr/>
            <p:nvPr/>
          </p:nvSpPr>
          <p:spPr>
            <a:xfrm flipH="false" flipV="false" rot="0">
              <a:off x="16891" y="16891"/>
              <a:ext cx="24383999" cy="1828800"/>
            </a:xfrm>
            <a:custGeom>
              <a:avLst/>
              <a:gdLst/>
              <a:ahLst/>
              <a:cxnLst/>
              <a:rect r="r" b="b" t="t" l="l"/>
              <a:pathLst>
                <a:path h="1828800" w="24383999">
                  <a:moveTo>
                    <a:pt x="0" y="0"/>
                  </a:moveTo>
                  <a:lnTo>
                    <a:pt x="24383999" y="0"/>
                  </a:lnTo>
                  <a:lnTo>
                    <a:pt x="24383999" y="1828800"/>
                  </a:lnTo>
                  <a:lnTo>
                    <a:pt x="0" y="1828800"/>
                  </a:lnTo>
                  <a:close/>
                </a:path>
              </a:pathLst>
            </a:custGeom>
            <a:solidFill>
              <a:srgbClr val="0D1B3E"/>
            </a:solidFill>
          </p:spPr>
        </p:sp>
        <p:sp>
          <p:nvSpPr>
            <p:cNvPr name="Freeform 4" id="4"/>
            <p:cNvSpPr/>
            <p:nvPr/>
          </p:nvSpPr>
          <p:spPr>
            <a:xfrm flipH="false" flipV="false" rot="0">
              <a:off x="0" y="0"/>
              <a:ext cx="24417782" cy="1862582"/>
            </a:xfrm>
            <a:custGeom>
              <a:avLst/>
              <a:gdLst/>
              <a:ahLst/>
              <a:cxnLst/>
              <a:rect r="r" b="b" t="t" l="l"/>
              <a:pathLst>
                <a:path h="1862582" w="24417782">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0D1B3E"/>
            </a:solidFill>
          </p:spPr>
        </p:sp>
      </p:grpSp>
      <p:grpSp>
        <p:nvGrpSpPr>
          <p:cNvPr name="Group 5" id="5"/>
          <p:cNvGrpSpPr/>
          <p:nvPr/>
        </p:nvGrpSpPr>
        <p:grpSpPr>
          <a:xfrm rot="0">
            <a:off x="731520" y="0"/>
            <a:ext cx="16824960" cy="1371600"/>
            <a:chOff x="0" y="0"/>
            <a:chExt cx="22433280" cy="1828800"/>
          </a:xfrm>
        </p:grpSpPr>
        <p:sp>
          <p:nvSpPr>
            <p:cNvPr name="Freeform 6" id="6"/>
            <p:cNvSpPr/>
            <p:nvPr/>
          </p:nvSpPr>
          <p:spPr>
            <a:xfrm flipH="false" flipV="false" rot="0">
              <a:off x="0" y="0"/>
              <a:ext cx="22433280" cy="1828800"/>
            </a:xfrm>
            <a:custGeom>
              <a:avLst/>
              <a:gdLst/>
              <a:ahLst/>
              <a:cxnLst/>
              <a:rect r="r" b="b" t="t" l="l"/>
              <a:pathLst>
                <a:path h="1828800" w="22433280">
                  <a:moveTo>
                    <a:pt x="0" y="0"/>
                  </a:moveTo>
                  <a:lnTo>
                    <a:pt x="22433280" y="0"/>
                  </a:lnTo>
                  <a:lnTo>
                    <a:pt x="22433280" y="1828800"/>
                  </a:lnTo>
                  <a:lnTo>
                    <a:pt x="0" y="1828800"/>
                  </a:lnTo>
                  <a:close/>
                </a:path>
              </a:pathLst>
            </a:custGeom>
            <a:blipFill>
              <a:blip r:embed="rId3">
                <a:alphaModFix amt="0"/>
              </a:blip>
              <a:stretch>
                <a:fillRect l="0" t="-189016" r="0" b="-189016"/>
              </a:stretch>
            </a:blipFill>
          </p:spPr>
        </p:sp>
        <p:sp>
          <p:nvSpPr>
            <p:cNvPr name="TextBox 7" id="7"/>
            <p:cNvSpPr txBox="true"/>
            <p:nvPr/>
          </p:nvSpPr>
          <p:spPr>
            <a:xfrm>
              <a:off x="0" y="-76200"/>
              <a:ext cx="22433280" cy="190500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Architecture du Pipeline ML</a:t>
              </a:r>
            </a:p>
          </p:txBody>
        </p:sp>
      </p:grpSp>
      <p:grpSp>
        <p:nvGrpSpPr>
          <p:cNvPr name="Group 8" id="8"/>
          <p:cNvGrpSpPr/>
          <p:nvPr/>
        </p:nvGrpSpPr>
        <p:grpSpPr>
          <a:xfrm rot="0">
            <a:off x="444503" y="2273303"/>
            <a:ext cx="2549147" cy="2768603"/>
            <a:chOff x="0" y="0"/>
            <a:chExt cx="3398863" cy="3691471"/>
          </a:xfrm>
        </p:grpSpPr>
        <p:sp>
          <p:nvSpPr>
            <p:cNvPr name="Freeform 9" id="9"/>
            <p:cNvSpPr/>
            <p:nvPr/>
          </p:nvSpPr>
          <p:spPr>
            <a:xfrm flipH="false" flipV="false" rot="0">
              <a:off x="16891" y="16891"/>
              <a:ext cx="3364992" cy="3657600"/>
            </a:xfrm>
            <a:custGeom>
              <a:avLst/>
              <a:gdLst/>
              <a:ahLst/>
              <a:cxnLst/>
              <a:rect r="r" b="b" t="t" l="l"/>
              <a:pathLst>
                <a:path h="3657600" w="3364992">
                  <a:moveTo>
                    <a:pt x="0" y="0"/>
                  </a:moveTo>
                  <a:lnTo>
                    <a:pt x="3364992" y="0"/>
                  </a:lnTo>
                  <a:lnTo>
                    <a:pt x="3364992" y="3657600"/>
                  </a:lnTo>
                  <a:lnTo>
                    <a:pt x="0" y="3657600"/>
                  </a:lnTo>
                  <a:close/>
                </a:path>
              </a:pathLst>
            </a:custGeom>
            <a:solidFill>
              <a:srgbClr val="64748B"/>
            </a:solidFill>
          </p:spPr>
        </p:sp>
        <p:sp>
          <p:nvSpPr>
            <p:cNvPr name="Freeform 10" id="10"/>
            <p:cNvSpPr/>
            <p:nvPr/>
          </p:nvSpPr>
          <p:spPr>
            <a:xfrm flipH="false" flipV="false" rot="0">
              <a:off x="0" y="0"/>
              <a:ext cx="3398774" cy="3691382"/>
            </a:xfrm>
            <a:custGeom>
              <a:avLst/>
              <a:gdLst/>
              <a:ahLst/>
              <a:cxnLst/>
              <a:rect r="r" b="b" t="t" l="l"/>
              <a:pathLst>
                <a:path h="3691382" w="3398774">
                  <a:moveTo>
                    <a:pt x="16891" y="0"/>
                  </a:moveTo>
                  <a:lnTo>
                    <a:pt x="3381883" y="0"/>
                  </a:lnTo>
                  <a:cubicBezTo>
                    <a:pt x="3391281" y="0"/>
                    <a:pt x="3398774" y="7620"/>
                    <a:pt x="3398774" y="16891"/>
                  </a:cubicBezTo>
                  <a:lnTo>
                    <a:pt x="3398774" y="3674491"/>
                  </a:lnTo>
                  <a:cubicBezTo>
                    <a:pt x="3398774" y="3683889"/>
                    <a:pt x="3391154" y="3691382"/>
                    <a:pt x="3381883" y="3691382"/>
                  </a:cubicBezTo>
                  <a:lnTo>
                    <a:pt x="16891" y="3691382"/>
                  </a:lnTo>
                  <a:cubicBezTo>
                    <a:pt x="7493" y="3691382"/>
                    <a:pt x="0" y="3683762"/>
                    <a:pt x="0" y="3674491"/>
                  </a:cubicBezTo>
                  <a:lnTo>
                    <a:pt x="0" y="16891"/>
                  </a:lnTo>
                  <a:cubicBezTo>
                    <a:pt x="0" y="7620"/>
                    <a:pt x="7620" y="0"/>
                    <a:pt x="16891" y="0"/>
                  </a:cubicBezTo>
                  <a:moveTo>
                    <a:pt x="16891" y="33909"/>
                  </a:moveTo>
                  <a:lnTo>
                    <a:pt x="16891" y="16891"/>
                  </a:lnTo>
                  <a:lnTo>
                    <a:pt x="33909" y="16891"/>
                  </a:lnTo>
                  <a:lnTo>
                    <a:pt x="33909" y="3674491"/>
                  </a:lnTo>
                  <a:lnTo>
                    <a:pt x="16891" y="3674491"/>
                  </a:lnTo>
                  <a:lnTo>
                    <a:pt x="16891" y="3657600"/>
                  </a:lnTo>
                  <a:lnTo>
                    <a:pt x="3381883" y="3657600"/>
                  </a:lnTo>
                  <a:lnTo>
                    <a:pt x="3381883" y="3674491"/>
                  </a:lnTo>
                  <a:lnTo>
                    <a:pt x="3364992" y="3674491"/>
                  </a:lnTo>
                  <a:lnTo>
                    <a:pt x="3364992" y="16891"/>
                  </a:lnTo>
                  <a:lnTo>
                    <a:pt x="3381883" y="16891"/>
                  </a:lnTo>
                  <a:lnTo>
                    <a:pt x="3381883" y="33909"/>
                  </a:lnTo>
                  <a:lnTo>
                    <a:pt x="16891" y="33909"/>
                  </a:lnTo>
                  <a:close/>
                </a:path>
              </a:pathLst>
            </a:custGeom>
            <a:solidFill>
              <a:srgbClr val="64748B"/>
            </a:solidFill>
          </p:spPr>
        </p:sp>
      </p:grpSp>
      <p:grpSp>
        <p:nvGrpSpPr>
          <p:cNvPr name="Group 11" id="11"/>
          <p:cNvGrpSpPr/>
          <p:nvPr/>
        </p:nvGrpSpPr>
        <p:grpSpPr>
          <a:xfrm rot="0">
            <a:off x="457200" y="2615184"/>
            <a:ext cx="2523744" cy="1188720"/>
            <a:chOff x="0" y="0"/>
            <a:chExt cx="3364992" cy="1584960"/>
          </a:xfrm>
        </p:grpSpPr>
        <p:sp>
          <p:nvSpPr>
            <p:cNvPr name="Freeform 12" id="12"/>
            <p:cNvSpPr/>
            <p:nvPr/>
          </p:nvSpPr>
          <p:spPr>
            <a:xfrm flipH="false" flipV="false" rot="0">
              <a:off x="0" y="0"/>
              <a:ext cx="3364992" cy="1584960"/>
            </a:xfrm>
            <a:custGeom>
              <a:avLst/>
              <a:gdLst/>
              <a:ahLst/>
              <a:cxnLst/>
              <a:rect r="r" b="b" t="t" l="l"/>
              <a:pathLst>
                <a:path h="1584960" w="3364992">
                  <a:moveTo>
                    <a:pt x="0" y="0"/>
                  </a:moveTo>
                  <a:lnTo>
                    <a:pt x="3364992" y="0"/>
                  </a:lnTo>
                  <a:lnTo>
                    <a:pt x="3364992" y="1584960"/>
                  </a:lnTo>
                  <a:lnTo>
                    <a:pt x="0" y="1584960"/>
                  </a:lnTo>
                  <a:close/>
                </a:path>
              </a:pathLst>
            </a:custGeom>
            <a:blipFill>
              <a:blip r:embed="rId3">
                <a:alphaModFix amt="0"/>
              </a:blip>
              <a:stretch>
                <a:fillRect l="-10432" t="0" r="-10432" b="0"/>
              </a:stretch>
            </a:blipFill>
          </p:spPr>
        </p:sp>
        <p:sp>
          <p:nvSpPr>
            <p:cNvPr name="TextBox 13" id="13"/>
            <p:cNvSpPr txBox="true"/>
            <p:nvPr/>
          </p:nvSpPr>
          <p:spPr>
            <a:xfrm>
              <a:off x="0" y="-47625"/>
              <a:ext cx="3364992" cy="1632585"/>
            </a:xfrm>
            <a:prstGeom prst="rect">
              <a:avLst/>
            </a:prstGeom>
          </p:spPr>
          <p:txBody>
            <a:bodyPr anchor="ctr" rtlCol="false" tIns="0" lIns="0" bIns="0" rIns="0"/>
            <a:lstStyle/>
            <a:p>
              <a:pPr algn="ctr">
                <a:lnSpc>
                  <a:spcPts val="2999"/>
                </a:lnSpc>
              </a:pPr>
              <a:r>
                <a:rPr lang="en-US" sz="2499" b="true">
                  <a:solidFill>
                    <a:srgbClr val="FFFFFF"/>
                  </a:solidFill>
                  <a:latin typeface="Calibri (MS) Bold"/>
                  <a:ea typeface="Calibri (MS) Bold"/>
                  <a:cs typeface="Calibri (MS) Bold"/>
                  <a:sym typeface="Calibri (MS) Bold"/>
                </a:rPr>
                <a:t>Données</a:t>
              </a:r>
            </a:p>
            <a:p>
              <a:pPr algn="ctr">
                <a:lnSpc>
                  <a:spcPts val="2999"/>
                </a:lnSpc>
              </a:pPr>
              <a:r>
                <a:rPr lang="en-US" sz="2499" b="true">
                  <a:solidFill>
                    <a:srgbClr val="FFFFFF"/>
                  </a:solidFill>
                  <a:latin typeface="Calibri (MS) Bold"/>
                  <a:ea typeface="Calibri (MS) Bold"/>
                  <a:cs typeface="Calibri (MS) Bold"/>
                  <a:sym typeface="Calibri (MS) Bold"/>
                </a:rPr>
                <a:t>Brutes</a:t>
              </a:r>
            </a:p>
          </p:txBody>
        </p:sp>
      </p:grpSp>
      <p:grpSp>
        <p:nvGrpSpPr>
          <p:cNvPr name="Group 14" id="14"/>
          <p:cNvGrpSpPr/>
          <p:nvPr/>
        </p:nvGrpSpPr>
        <p:grpSpPr>
          <a:xfrm rot="0">
            <a:off x="725167" y="3834127"/>
            <a:ext cx="1987801" cy="12697"/>
            <a:chOff x="0" y="0"/>
            <a:chExt cx="2650401" cy="16929"/>
          </a:xfrm>
        </p:grpSpPr>
        <p:sp>
          <p:nvSpPr>
            <p:cNvPr name="Freeform 15" id="15"/>
            <p:cNvSpPr/>
            <p:nvPr/>
          </p:nvSpPr>
          <p:spPr>
            <a:xfrm flipH="false" flipV="false" rot="0">
              <a:off x="8509" y="0"/>
              <a:ext cx="2633472" cy="16891"/>
            </a:xfrm>
            <a:custGeom>
              <a:avLst/>
              <a:gdLst/>
              <a:ahLst/>
              <a:cxnLst/>
              <a:rect r="r" b="b" t="t" l="l"/>
              <a:pathLst>
                <a:path h="16891" w="2633472">
                  <a:moveTo>
                    <a:pt x="0" y="0"/>
                  </a:moveTo>
                  <a:lnTo>
                    <a:pt x="2633472" y="0"/>
                  </a:lnTo>
                  <a:lnTo>
                    <a:pt x="2633472" y="16891"/>
                  </a:lnTo>
                  <a:lnTo>
                    <a:pt x="0" y="16891"/>
                  </a:lnTo>
                  <a:close/>
                </a:path>
              </a:pathLst>
            </a:custGeom>
            <a:solidFill>
              <a:srgbClr val="FFFFFF">
                <a:alpha val="24706"/>
              </a:srgbClr>
            </a:solidFill>
          </p:spPr>
        </p:sp>
      </p:grpSp>
      <p:grpSp>
        <p:nvGrpSpPr>
          <p:cNvPr name="Group 16" id="16"/>
          <p:cNvGrpSpPr/>
          <p:nvPr/>
        </p:nvGrpSpPr>
        <p:grpSpPr>
          <a:xfrm rot="0">
            <a:off x="457200" y="3931920"/>
            <a:ext cx="2523744" cy="1005840"/>
            <a:chOff x="0" y="0"/>
            <a:chExt cx="3364992" cy="1341120"/>
          </a:xfrm>
        </p:grpSpPr>
        <p:sp>
          <p:nvSpPr>
            <p:cNvPr name="Freeform 17" id="17"/>
            <p:cNvSpPr/>
            <p:nvPr/>
          </p:nvSpPr>
          <p:spPr>
            <a:xfrm flipH="false" flipV="false" rot="0">
              <a:off x="0" y="0"/>
              <a:ext cx="3364992" cy="1341120"/>
            </a:xfrm>
            <a:custGeom>
              <a:avLst/>
              <a:gdLst/>
              <a:ahLst/>
              <a:cxnLst/>
              <a:rect r="r" b="b" t="t" l="l"/>
              <a:pathLst>
                <a:path h="1341120" w="3364992">
                  <a:moveTo>
                    <a:pt x="0" y="0"/>
                  </a:moveTo>
                  <a:lnTo>
                    <a:pt x="3364992" y="0"/>
                  </a:lnTo>
                  <a:lnTo>
                    <a:pt x="3364992" y="1341120"/>
                  </a:lnTo>
                  <a:lnTo>
                    <a:pt x="0" y="1341120"/>
                  </a:lnTo>
                  <a:close/>
                </a:path>
              </a:pathLst>
            </a:custGeom>
            <a:blipFill>
              <a:blip r:embed="rId3">
                <a:alphaModFix amt="0"/>
              </a:blip>
              <a:stretch>
                <a:fillRect l="-1135" t="0" r="-1135" b="0"/>
              </a:stretch>
            </a:blipFill>
          </p:spPr>
        </p:sp>
        <p:sp>
          <p:nvSpPr>
            <p:cNvPr name="TextBox 18" id="18"/>
            <p:cNvSpPr txBox="true"/>
            <p:nvPr/>
          </p:nvSpPr>
          <p:spPr>
            <a:xfrm>
              <a:off x="0" y="-85725"/>
              <a:ext cx="3364992" cy="1426845"/>
            </a:xfrm>
            <a:prstGeom prst="rect">
              <a:avLst/>
            </a:prstGeom>
          </p:spPr>
          <p:txBody>
            <a:bodyPr anchor="ctr" rtlCol="false" tIns="0" lIns="0" bIns="0" rIns="0"/>
            <a:lstStyle/>
            <a:p>
              <a:pPr algn="ctr">
                <a:lnSpc>
                  <a:spcPts val="2736"/>
                </a:lnSpc>
              </a:pPr>
              <a:r>
                <a:rPr lang="en-US" sz="1900">
                  <a:solidFill>
                    <a:srgbClr val="FFFFFF"/>
                  </a:solidFill>
                  <a:latin typeface="Calibri (MS)"/>
                  <a:ea typeface="Calibri (MS)"/>
                  <a:cs typeface="Calibri (MS)"/>
                  <a:sym typeface="Calibri (MS)"/>
                </a:rPr>
                <a:t>52 features</a:t>
              </a:r>
            </a:p>
            <a:p>
              <a:pPr algn="ctr">
                <a:lnSpc>
                  <a:spcPts val="2736"/>
                </a:lnSpc>
              </a:pPr>
              <a:r>
                <a:rPr lang="en-US" sz="1900">
                  <a:solidFill>
                    <a:srgbClr val="FFFFFF"/>
                  </a:solidFill>
                  <a:latin typeface="Calibri (MS)"/>
                  <a:ea typeface="Calibri (MS)"/>
                  <a:cs typeface="Calibri (MS)"/>
                  <a:sym typeface="Calibri (MS)"/>
                </a:rPr>
                <a:t>4328 clients</a:t>
              </a:r>
            </a:p>
          </p:txBody>
        </p:sp>
      </p:grpSp>
      <p:grpSp>
        <p:nvGrpSpPr>
          <p:cNvPr name="Group 19" id="19"/>
          <p:cNvGrpSpPr/>
          <p:nvPr/>
        </p:nvGrpSpPr>
        <p:grpSpPr>
          <a:xfrm rot="0">
            <a:off x="2974848" y="3642360"/>
            <a:ext cx="231648" cy="30480"/>
            <a:chOff x="0" y="0"/>
            <a:chExt cx="308864" cy="40640"/>
          </a:xfrm>
        </p:grpSpPr>
        <p:sp>
          <p:nvSpPr>
            <p:cNvPr name="Freeform 20" id="20"/>
            <p:cNvSpPr/>
            <p:nvPr/>
          </p:nvSpPr>
          <p:spPr>
            <a:xfrm flipH="false" flipV="false" rot="0">
              <a:off x="20320" y="0"/>
              <a:ext cx="268224" cy="40640"/>
            </a:xfrm>
            <a:custGeom>
              <a:avLst/>
              <a:gdLst/>
              <a:ahLst/>
              <a:cxnLst/>
              <a:rect r="r" b="b" t="t" l="l"/>
              <a:pathLst>
                <a:path h="40640" w="268224">
                  <a:moveTo>
                    <a:pt x="0" y="0"/>
                  </a:moveTo>
                  <a:lnTo>
                    <a:pt x="268224" y="0"/>
                  </a:lnTo>
                  <a:lnTo>
                    <a:pt x="268224" y="40640"/>
                  </a:lnTo>
                  <a:lnTo>
                    <a:pt x="0" y="40640"/>
                  </a:lnTo>
                  <a:close/>
                </a:path>
              </a:pathLst>
            </a:custGeom>
            <a:solidFill>
              <a:srgbClr val="64748B"/>
            </a:solidFill>
          </p:spPr>
        </p:sp>
      </p:grpSp>
      <p:grpSp>
        <p:nvGrpSpPr>
          <p:cNvPr name="Group 21" id="21"/>
          <p:cNvGrpSpPr/>
          <p:nvPr/>
        </p:nvGrpSpPr>
        <p:grpSpPr>
          <a:xfrm rot="0">
            <a:off x="3077975" y="2273303"/>
            <a:ext cx="2549147" cy="2768603"/>
            <a:chOff x="0" y="0"/>
            <a:chExt cx="3398863" cy="3691471"/>
          </a:xfrm>
        </p:grpSpPr>
        <p:sp>
          <p:nvSpPr>
            <p:cNvPr name="Freeform 22" id="22"/>
            <p:cNvSpPr/>
            <p:nvPr/>
          </p:nvSpPr>
          <p:spPr>
            <a:xfrm flipH="false" flipV="false" rot="0">
              <a:off x="16891" y="16891"/>
              <a:ext cx="3364992" cy="3657600"/>
            </a:xfrm>
            <a:custGeom>
              <a:avLst/>
              <a:gdLst/>
              <a:ahLst/>
              <a:cxnLst/>
              <a:rect r="r" b="b" t="t" l="l"/>
              <a:pathLst>
                <a:path h="3657600" w="3364992">
                  <a:moveTo>
                    <a:pt x="0" y="0"/>
                  </a:moveTo>
                  <a:lnTo>
                    <a:pt x="3364992" y="0"/>
                  </a:lnTo>
                  <a:lnTo>
                    <a:pt x="3364992" y="3657600"/>
                  </a:lnTo>
                  <a:lnTo>
                    <a:pt x="0" y="3657600"/>
                  </a:lnTo>
                  <a:close/>
                </a:path>
              </a:pathLst>
            </a:custGeom>
            <a:solidFill>
              <a:srgbClr val="1A5EAD"/>
            </a:solidFill>
          </p:spPr>
        </p:sp>
        <p:sp>
          <p:nvSpPr>
            <p:cNvPr name="Freeform 23" id="23"/>
            <p:cNvSpPr/>
            <p:nvPr/>
          </p:nvSpPr>
          <p:spPr>
            <a:xfrm flipH="false" flipV="false" rot="0">
              <a:off x="0" y="0"/>
              <a:ext cx="3398774" cy="3691382"/>
            </a:xfrm>
            <a:custGeom>
              <a:avLst/>
              <a:gdLst/>
              <a:ahLst/>
              <a:cxnLst/>
              <a:rect r="r" b="b" t="t" l="l"/>
              <a:pathLst>
                <a:path h="3691382" w="3398774">
                  <a:moveTo>
                    <a:pt x="16891" y="0"/>
                  </a:moveTo>
                  <a:lnTo>
                    <a:pt x="3381883" y="0"/>
                  </a:lnTo>
                  <a:cubicBezTo>
                    <a:pt x="3391281" y="0"/>
                    <a:pt x="3398774" y="7620"/>
                    <a:pt x="3398774" y="16891"/>
                  </a:cubicBezTo>
                  <a:lnTo>
                    <a:pt x="3398774" y="3674491"/>
                  </a:lnTo>
                  <a:cubicBezTo>
                    <a:pt x="3398774" y="3683889"/>
                    <a:pt x="3391154" y="3691382"/>
                    <a:pt x="3381883" y="3691382"/>
                  </a:cubicBezTo>
                  <a:lnTo>
                    <a:pt x="16891" y="3691382"/>
                  </a:lnTo>
                  <a:cubicBezTo>
                    <a:pt x="7493" y="3691382"/>
                    <a:pt x="0" y="3683762"/>
                    <a:pt x="0" y="3674491"/>
                  </a:cubicBezTo>
                  <a:lnTo>
                    <a:pt x="0" y="16891"/>
                  </a:lnTo>
                  <a:cubicBezTo>
                    <a:pt x="0" y="7620"/>
                    <a:pt x="7620" y="0"/>
                    <a:pt x="16891" y="0"/>
                  </a:cubicBezTo>
                  <a:moveTo>
                    <a:pt x="16891" y="33909"/>
                  </a:moveTo>
                  <a:lnTo>
                    <a:pt x="16891" y="16891"/>
                  </a:lnTo>
                  <a:lnTo>
                    <a:pt x="33909" y="16891"/>
                  </a:lnTo>
                  <a:lnTo>
                    <a:pt x="33909" y="3674491"/>
                  </a:lnTo>
                  <a:lnTo>
                    <a:pt x="16891" y="3674491"/>
                  </a:lnTo>
                  <a:lnTo>
                    <a:pt x="16891" y="3657600"/>
                  </a:lnTo>
                  <a:lnTo>
                    <a:pt x="3381883" y="3657600"/>
                  </a:lnTo>
                  <a:lnTo>
                    <a:pt x="3381883" y="3674491"/>
                  </a:lnTo>
                  <a:lnTo>
                    <a:pt x="3364992" y="3674491"/>
                  </a:lnTo>
                  <a:lnTo>
                    <a:pt x="3364992" y="16891"/>
                  </a:lnTo>
                  <a:lnTo>
                    <a:pt x="3381883" y="16891"/>
                  </a:lnTo>
                  <a:lnTo>
                    <a:pt x="3381883" y="33909"/>
                  </a:lnTo>
                  <a:lnTo>
                    <a:pt x="16891" y="33909"/>
                  </a:lnTo>
                  <a:close/>
                </a:path>
              </a:pathLst>
            </a:custGeom>
            <a:solidFill>
              <a:srgbClr val="1A5EAD"/>
            </a:solidFill>
          </p:spPr>
        </p:sp>
      </p:grpSp>
      <p:grpSp>
        <p:nvGrpSpPr>
          <p:cNvPr name="Group 24" id="24"/>
          <p:cNvGrpSpPr/>
          <p:nvPr/>
        </p:nvGrpSpPr>
        <p:grpSpPr>
          <a:xfrm rot="0">
            <a:off x="3090672" y="2615184"/>
            <a:ext cx="2523744" cy="1188720"/>
            <a:chOff x="0" y="0"/>
            <a:chExt cx="3364992" cy="1584960"/>
          </a:xfrm>
        </p:grpSpPr>
        <p:sp>
          <p:nvSpPr>
            <p:cNvPr name="Freeform 25" id="25"/>
            <p:cNvSpPr/>
            <p:nvPr/>
          </p:nvSpPr>
          <p:spPr>
            <a:xfrm flipH="false" flipV="false" rot="0">
              <a:off x="0" y="0"/>
              <a:ext cx="3364992" cy="1584960"/>
            </a:xfrm>
            <a:custGeom>
              <a:avLst/>
              <a:gdLst/>
              <a:ahLst/>
              <a:cxnLst/>
              <a:rect r="r" b="b" t="t" l="l"/>
              <a:pathLst>
                <a:path h="1584960" w="3364992">
                  <a:moveTo>
                    <a:pt x="0" y="0"/>
                  </a:moveTo>
                  <a:lnTo>
                    <a:pt x="3364992" y="0"/>
                  </a:lnTo>
                  <a:lnTo>
                    <a:pt x="3364992" y="1584960"/>
                  </a:lnTo>
                  <a:lnTo>
                    <a:pt x="0" y="1584960"/>
                  </a:lnTo>
                  <a:close/>
                </a:path>
              </a:pathLst>
            </a:custGeom>
            <a:blipFill>
              <a:blip r:embed="rId3">
                <a:alphaModFix amt="0"/>
              </a:blip>
              <a:stretch>
                <a:fillRect l="-10432" t="0" r="-10432" b="0"/>
              </a:stretch>
            </a:blipFill>
          </p:spPr>
        </p:sp>
        <p:sp>
          <p:nvSpPr>
            <p:cNvPr name="TextBox 26" id="26"/>
            <p:cNvSpPr txBox="true"/>
            <p:nvPr/>
          </p:nvSpPr>
          <p:spPr>
            <a:xfrm>
              <a:off x="0" y="-47625"/>
              <a:ext cx="3364992" cy="1632585"/>
            </a:xfrm>
            <a:prstGeom prst="rect">
              <a:avLst/>
            </a:prstGeom>
          </p:spPr>
          <p:txBody>
            <a:bodyPr anchor="ctr" rtlCol="false" tIns="0" lIns="0" bIns="0" rIns="0"/>
            <a:lstStyle/>
            <a:p>
              <a:pPr algn="ctr">
                <a:lnSpc>
                  <a:spcPts val="2999"/>
                </a:lnSpc>
              </a:pPr>
              <a:r>
                <a:rPr lang="en-US" sz="2499" b="true">
                  <a:solidFill>
                    <a:srgbClr val="FFFFFF"/>
                  </a:solidFill>
                  <a:latin typeface="Calibri (MS) Bold"/>
                  <a:ea typeface="Calibri (MS) Bold"/>
                  <a:cs typeface="Calibri (MS) Bold"/>
                  <a:sym typeface="Calibri (MS) Bold"/>
                </a:rPr>
                <a:t>Preprocessing</a:t>
              </a:r>
            </a:p>
          </p:txBody>
        </p:sp>
      </p:grpSp>
      <p:grpSp>
        <p:nvGrpSpPr>
          <p:cNvPr name="Group 27" id="27"/>
          <p:cNvGrpSpPr/>
          <p:nvPr/>
        </p:nvGrpSpPr>
        <p:grpSpPr>
          <a:xfrm rot="0">
            <a:off x="3358639" y="3834127"/>
            <a:ext cx="1987801" cy="12697"/>
            <a:chOff x="0" y="0"/>
            <a:chExt cx="2650401" cy="16929"/>
          </a:xfrm>
        </p:grpSpPr>
        <p:sp>
          <p:nvSpPr>
            <p:cNvPr name="Freeform 28" id="28"/>
            <p:cNvSpPr/>
            <p:nvPr/>
          </p:nvSpPr>
          <p:spPr>
            <a:xfrm flipH="false" flipV="false" rot="0">
              <a:off x="8509" y="0"/>
              <a:ext cx="2633472" cy="16891"/>
            </a:xfrm>
            <a:custGeom>
              <a:avLst/>
              <a:gdLst/>
              <a:ahLst/>
              <a:cxnLst/>
              <a:rect r="r" b="b" t="t" l="l"/>
              <a:pathLst>
                <a:path h="16891" w="2633472">
                  <a:moveTo>
                    <a:pt x="0" y="0"/>
                  </a:moveTo>
                  <a:lnTo>
                    <a:pt x="2633472" y="0"/>
                  </a:lnTo>
                  <a:lnTo>
                    <a:pt x="2633472" y="16891"/>
                  </a:lnTo>
                  <a:lnTo>
                    <a:pt x="0" y="16891"/>
                  </a:lnTo>
                  <a:close/>
                </a:path>
              </a:pathLst>
            </a:custGeom>
            <a:solidFill>
              <a:srgbClr val="FFFFFF">
                <a:alpha val="24706"/>
              </a:srgbClr>
            </a:solidFill>
          </p:spPr>
        </p:sp>
      </p:grpSp>
      <p:grpSp>
        <p:nvGrpSpPr>
          <p:cNvPr name="Group 29" id="29"/>
          <p:cNvGrpSpPr/>
          <p:nvPr/>
        </p:nvGrpSpPr>
        <p:grpSpPr>
          <a:xfrm rot="0">
            <a:off x="3090672" y="3931920"/>
            <a:ext cx="2523744" cy="1005840"/>
            <a:chOff x="0" y="0"/>
            <a:chExt cx="3364992" cy="1341120"/>
          </a:xfrm>
        </p:grpSpPr>
        <p:sp>
          <p:nvSpPr>
            <p:cNvPr name="Freeform 30" id="30"/>
            <p:cNvSpPr/>
            <p:nvPr/>
          </p:nvSpPr>
          <p:spPr>
            <a:xfrm flipH="false" flipV="false" rot="0">
              <a:off x="0" y="0"/>
              <a:ext cx="3364992" cy="1341120"/>
            </a:xfrm>
            <a:custGeom>
              <a:avLst/>
              <a:gdLst/>
              <a:ahLst/>
              <a:cxnLst/>
              <a:rect r="r" b="b" t="t" l="l"/>
              <a:pathLst>
                <a:path h="1341120" w="3364992">
                  <a:moveTo>
                    <a:pt x="0" y="0"/>
                  </a:moveTo>
                  <a:lnTo>
                    <a:pt x="3364992" y="0"/>
                  </a:lnTo>
                  <a:lnTo>
                    <a:pt x="3364992" y="1341120"/>
                  </a:lnTo>
                  <a:lnTo>
                    <a:pt x="0" y="1341120"/>
                  </a:lnTo>
                  <a:close/>
                </a:path>
              </a:pathLst>
            </a:custGeom>
            <a:blipFill>
              <a:blip r:embed="rId3">
                <a:alphaModFix amt="0"/>
              </a:blip>
              <a:stretch>
                <a:fillRect l="-1135" t="0" r="-1135" b="0"/>
              </a:stretch>
            </a:blipFill>
          </p:spPr>
        </p:sp>
        <p:sp>
          <p:nvSpPr>
            <p:cNvPr name="TextBox 31" id="31"/>
            <p:cNvSpPr txBox="true"/>
            <p:nvPr/>
          </p:nvSpPr>
          <p:spPr>
            <a:xfrm>
              <a:off x="0" y="-85725"/>
              <a:ext cx="3364992" cy="1426845"/>
            </a:xfrm>
            <a:prstGeom prst="rect">
              <a:avLst/>
            </a:prstGeom>
          </p:spPr>
          <p:txBody>
            <a:bodyPr anchor="ctr" rtlCol="false" tIns="0" lIns="0" bIns="0" rIns="0"/>
            <a:lstStyle/>
            <a:p>
              <a:pPr algn="ctr">
                <a:lnSpc>
                  <a:spcPts val="2736"/>
                </a:lnSpc>
              </a:pPr>
              <a:r>
                <a:rPr lang="en-US" sz="1900">
                  <a:solidFill>
                    <a:srgbClr val="FFFFFF"/>
                  </a:solidFill>
                  <a:latin typeface="Calibri (MS)"/>
                  <a:ea typeface="Calibri (MS)"/>
                  <a:cs typeface="Calibri (MS)"/>
                  <a:sym typeface="Calibri (MS)"/>
                </a:rPr>
                <a:t>Nettoyage</a:t>
              </a:r>
            </a:p>
            <a:p>
              <a:pPr algn="ctr">
                <a:lnSpc>
                  <a:spcPts val="2736"/>
                </a:lnSpc>
              </a:pPr>
              <a:r>
                <a:rPr lang="en-US" sz="1900">
                  <a:solidFill>
                    <a:srgbClr val="FFFFFF"/>
                  </a:solidFill>
                  <a:latin typeface="Calibri (MS)"/>
                  <a:ea typeface="Calibri (MS)"/>
                  <a:cs typeface="Calibri (MS)"/>
                  <a:sym typeface="Calibri (MS)"/>
                </a:rPr>
                <a:t>Encodage</a:t>
              </a:r>
            </a:p>
            <a:p>
              <a:pPr algn="ctr">
                <a:lnSpc>
                  <a:spcPts val="2736"/>
                </a:lnSpc>
              </a:pPr>
              <a:r>
                <a:rPr lang="en-US" sz="1900">
                  <a:solidFill>
                    <a:srgbClr val="FFFFFF"/>
                  </a:solidFill>
                  <a:latin typeface="Calibri (MS)"/>
                  <a:ea typeface="Calibri (MS)"/>
                  <a:cs typeface="Calibri (MS)"/>
                  <a:sym typeface="Calibri (MS)"/>
                </a:rPr>
                <a:t>Imputation</a:t>
              </a:r>
            </a:p>
          </p:txBody>
        </p:sp>
      </p:grpSp>
      <p:grpSp>
        <p:nvGrpSpPr>
          <p:cNvPr name="Group 32" id="32"/>
          <p:cNvGrpSpPr/>
          <p:nvPr/>
        </p:nvGrpSpPr>
        <p:grpSpPr>
          <a:xfrm rot="0">
            <a:off x="5608320" y="3642360"/>
            <a:ext cx="231648" cy="30480"/>
            <a:chOff x="0" y="0"/>
            <a:chExt cx="308864" cy="40640"/>
          </a:xfrm>
        </p:grpSpPr>
        <p:sp>
          <p:nvSpPr>
            <p:cNvPr name="Freeform 33" id="33"/>
            <p:cNvSpPr/>
            <p:nvPr/>
          </p:nvSpPr>
          <p:spPr>
            <a:xfrm flipH="false" flipV="false" rot="0">
              <a:off x="20320" y="0"/>
              <a:ext cx="268224" cy="40640"/>
            </a:xfrm>
            <a:custGeom>
              <a:avLst/>
              <a:gdLst/>
              <a:ahLst/>
              <a:cxnLst/>
              <a:rect r="r" b="b" t="t" l="l"/>
              <a:pathLst>
                <a:path h="40640" w="268224">
                  <a:moveTo>
                    <a:pt x="0" y="0"/>
                  </a:moveTo>
                  <a:lnTo>
                    <a:pt x="268224" y="0"/>
                  </a:lnTo>
                  <a:lnTo>
                    <a:pt x="268224" y="40640"/>
                  </a:lnTo>
                  <a:lnTo>
                    <a:pt x="0" y="40640"/>
                  </a:lnTo>
                  <a:close/>
                </a:path>
              </a:pathLst>
            </a:custGeom>
            <a:solidFill>
              <a:srgbClr val="64748B"/>
            </a:solidFill>
          </p:spPr>
        </p:sp>
      </p:grpSp>
      <p:grpSp>
        <p:nvGrpSpPr>
          <p:cNvPr name="Group 34" id="34"/>
          <p:cNvGrpSpPr/>
          <p:nvPr/>
        </p:nvGrpSpPr>
        <p:grpSpPr>
          <a:xfrm rot="0">
            <a:off x="5711447" y="2273303"/>
            <a:ext cx="2549147" cy="2768603"/>
            <a:chOff x="0" y="0"/>
            <a:chExt cx="3398863" cy="3691471"/>
          </a:xfrm>
        </p:grpSpPr>
        <p:sp>
          <p:nvSpPr>
            <p:cNvPr name="Freeform 35" id="35"/>
            <p:cNvSpPr/>
            <p:nvPr/>
          </p:nvSpPr>
          <p:spPr>
            <a:xfrm flipH="false" flipV="false" rot="0">
              <a:off x="16891" y="16891"/>
              <a:ext cx="3364992" cy="3657600"/>
            </a:xfrm>
            <a:custGeom>
              <a:avLst/>
              <a:gdLst/>
              <a:ahLst/>
              <a:cxnLst/>
              <a:rect r="r" b="b" t="t" l="l"/>
              <a:pathLst>
                <a:path h="3657600" w="3364992">
                  <a:moveTo>
                    <a:pt x="0" y="0"/>
                  </a:moveTo>
                  <a:lnTo>
                    <a:pt x="3364992" y="0"/>
                  </a:lnTo>
                  <a:lnTo>
                    <a:pt x="3364992" y="3657600"/>
                  </a:lnTo>
                  <a:lnTo>
                    <a:pt x="0" y="3657600"/>
                  </a:lnTo>
                  <a:close/>
                </a:path>
              </a:pathLst>
            </a:custGeom>
            <a:solidFill>
              <a:srgbClr val="0D9E8A"/>
            </a:solidFill>
          </p:spPr>
        </p:sp>
        <p:sp>
          <p:nvSpPr>
            <p:cNvPr name="Freeform 36" id="36"/>
            <p:cNvSpPr/>
            <p:nvPr/>
          </p:nvSpPr>
          <p:spPr>
            <a:xfrm flipH="false" flipV="false" rot="0">
              <a:off x="0" y="0"/>
              <a:ext cx="3398774" cy="3691382"/>
            </a:xfrm>
            <a:custGeom>
              <a:avLst/>
              <a:gdLst/>
              <a:ahLst/>
              <a:cxnLst/>
              <a:rect r="r" b="b" t="t" l="l"/>
              <a:pathLst>
                <a:path h="3691382" w="3398774">
                  <a:moveTo>
                    <a:pt x="16891" y="0"/>
                  </a:moveTo>
                  <a:lnTo>
                    <a:pt x="3381883" y="0"/>
                  </a:lnTo>
                  <a:cubicBezTo>
                    <a:pt x="3391281" y="0"/>
                    <a:pt x="3398774" y="7620"/>
                    <a:pt x="3398774" y="16891"/>
                  </a:cubicBezTo>
                  <a:lnTo>
                    <a:pt x="3398774" y="3674491"/>
                  </a:lnTo>
                  <a:cubicBezTo>
                    <a:pt x="3398774" y="3683889"/>
                    <a:pt x="3391154" y="3691382"/>
                    <a:pt x="3381883" y="3691382"/>
                  </a:cubicBezTo>
                  <a:lnTo>
                    <a:pt x="16891" y="3691382"/>
                  </a:lnTo>
                  <a:cubicBezTo>
                    <a:pt x="7493" y="3691382"/>
                    <a:pt x="0" y="3683762"/>
                    <a:pt x="0" y="3674491"/>
                  </a:cubicBezTo>
                  <a:lnTo>
                    <a:pt x="0" y="16891"/>
                  </a:lnTo>
                  <a:cubicBezTo>
                    <a:pt x="0" y="7620"/>
                    <a:pt x="7620" y="0"/>
                    <a:pt x="16891" y="0"/>
                  </a:cubicBezTo>
                  <a:moveTo>
                    <a:pt x="16891" y="33909"/>
                  </a:moveTo>
                  <a:lnTo>
                    <a:pt x="16891" y="16891"/>
                  </a:lnTo>
                  <a:lnTo>
                    <a:pt x="33909" y="16891"/>
                  </a:lnTo>
                  <a:lnTo>
                    <a:pt x="33909" y="3674491"/>
                  </a:lnTo>
                  <a:lnTo>
                    <a:pt x="16891" y="3674491"/>
                  </a:lnTo>
                  <a:lnTo>
                    <a:pt x="16891" y="3657600"/>
                  </a:lnTo>
                  <a:lnTo>
                    <a:pt x="3381883" y="3657600"/>
                  </a:lnTo>
                  <a:lnTo>
                    <a:pt x="3381883" y="3674491"/>
                  </a:lnTo>
                  <a:lnTo>
                    <a:pt x="3364992" y="3674491"/>
                  </a:lnTo>
                  <a:lnTo>
                    <a:pt x="3364992" y="16891"/>
                  </a:lnTo>
                  <a:lnTo>
                    <a:pt x="3381883" y="16891"/>
                  </a:lnTo>
                  <a:lnTo>
                    <a:pt x="3381883" y="33909"/>
                  </a:lnTo>
                  <a:lnTo>
                    <a:pt x="16891" y="33909"/>
                  </a:lnTo>
                  <a:close/>
                </a:path>
              </a:pathLst>
            </a:custGeom>
            <a:solidFill>
              <a:srgbClr val="0D9E8A"/>
            </a:solidFill>
          </p:spPr>
        </p:sp>
      </p:grpSp>
      <p:grpSp>
        <p:nvGrpSpPr>
          <p:cNvPr name="Group 37" id="37"/>
          <p:cNvGrpSpPr/>
          <p:nvPr/>
        </p:nvGrpSpPr>
        <p:grpSpPr>
          <a:xfrm rot="0">
            <a:off x="5724144" y="2615184"/>
            <a:ext cx="2523744" cy="1188720"/>
            <a:chOff x="0" y="0"/>
            <a:chExt cx="3364992" cy="1584960"/>
          </a:xfrm>
        </p:grpSpPr>
        <p:sp>
          <p:nvSpPr>
            <p:cNvPr name="Freeform 38" id="38"/>
            <p:cNvSpPr/>
            <p:nvPr/>
          </p:nvSpPr>
          <p:spPr>
            <a:xfrm flipH="false" flipV="false" rot="0">
              <a:off x="0" y="0"/>
              <a:ext cx="3364992" cy="1584960"/>
            </a:xfrm>
            <a:custGeom>
              <a:avLst/>
              <a:gdLst/>
              <a:ahLst/>
              <a:cxnLst/>
              <a:rect r="r" b="b" t="t" l="l"/>
              <a:pathLst>
                <a:path h="1584960" w="3364992">
                  <a:moveTo>
                    <a:pt x="0" y="0"/>
                  </a:moveTo>
                  <a:lnTo>
                    <a:pt x="3364992" y="0"/>
                  </a:lnTo>
                  <a:lnTo>
                    <a:pt x="3364992" y="1584960"/>
                  </a:lnTo>
                  <a:lnTo>
                    <a:pt x="0" y="1584960"/>
                  </a:lnTo>
                  <a:close/>
                </a:path>
              </a:pathLst>
            </a:custGeom>
            <a:blipFill>
              <a:blip r:embed="rId3">
                <a:alphaModFix amt="0"/>
              </a:blip>
              <a:stretch>
                <a:fillRect l="-10432" t="0" r="-10432" b="0"/>
              </a:stretch>
            </a:blipFill>
          </p:spPr>
        </p:sp>
        <p:sp>
          <p:nvSpPr>
            <p:cNvPr name="TextBox 39" id="39"/>
            <p:cNvSpPr txBox="true"/>
            <p:nvPr/>
          </p:nvSpPr>
          <p:spPr>
            <a:xfrm>
              <a:off x="0" y="-47625"/>
              <a:ext cx="3364992" cy="1632585"/>
            </a:xfrm>
            <a:prstGeom prst="rect">
              <a:avLst/>
            </a:prstGeom>
          </p:spPr>
          <p:txBody>
            <a:bodyPr anchor="ctr" rtlCol="false" tIns="0" lIns="0" bIns="0" rIns="0"/>
            <a:lstStyle/>
            <a:p>
              <a:pPr algn="ctr">
                <a:lnSpc>
                  <a:spcPts val="2999"/>
                </a:lnSpc>
              </a:pPr>
              <a:r>
                <a:rPr lang="en-US" sz="2499" b="true">
                  <a:solidFill>
                    <a:srgbClr val="FFFFFF"/>
                  </a:solidFill>
                  <a:latin typeface="Calibri (MS) Bold"/>
                  <a:ea typeface="Calibri (MS) Bold"/>
                  <a:cs typeface="Calibri (MS) Bold"/>
                  <a:sym typeface="Calibri (MS) Bold"/>
                </a:rPr>
                <a:t>Clustering</a:t>
              </a:r>
            </a:p>
            <a:p>
              <a:pPr algn="ctr">
                <a:lnSpc>
                  <a:spcPts val="2999"/>
                </a:lnSpc>
              </a:pPr>
              <a:r>
                <a:rPr lang="en-US" sz="2499" b="true">
                  <a:solidFill>
                    <a:srgbClr val="FFFFFF"/>
                  </a:solidFill>
                  <a:latin typeface="Calibri (MS) Bold"/>
                  <a:ea typeface="Calibri (MS) Bold"/>
                  <a:cs typeface="Calibri (MS) Bold"/>
                  <a:sym typeface="Calibri (MS) Bold"/>
                </a:rPr>
                <a:t>RFM</a:t>
              </a:r>
            </a:p>
          </p:txBody>
        </p:sp>
      </p:grpSp>
      <p:grpSp>
        <p:nvGrpSpPr>
          <p:cNvPr name="Group 40" id="40"/>
          <p:cNvGrpSpPr/>
          <p:nvPr/>
        </p:nvGrpSpPr>
        <p:grpSpPr>
          <a:xfrm rot="0">
            <a:off x="5992111" y="3834127"/>
            <a:ext cx="1987801" cy="12697"/>
            <a:chOff x="0" y="0"/>
            <a:chExt cx="2650401" cy="16929"/>
          </a:xfrm>
        </p:grpSpPr>
        <p:sp>
          <p:nvSpPr>
            <p:cNvPr name="Freeform 41" id="41"/>
            <p:cNvSpPr/>
            <p:nvPr/>
          </p:nvSpPr>
          <p:spPr>
            <a:xfrm flipH="false" flipV="false" rot="0">
              <a:off x="8509" y="0"/>
              <a:ext cx="2633472" cy="16891"/>
            </a:xfrm>
            <a:custGeom>
              <a:avLst/>
              <a:gdLst/>
              <a:ahLst/>
              <a:cxnLst/>
              <a:rect r="r" b="b" t="t" l="l"/>
              <a:pathLst>
                <a:path h="16891" w="2633472">
                  <a:moveTo>
                    <a:pt x="0" y="0"/>
                  </a:moveTo>
                  <a:lnTo>
                    <a:pt x="2633472" y="0"/>
                  </a:lnTo>
                  <a:lnTo>
                    <a:pt x="2633472" y="16891"/>
                  </a:lnTo>
                  <a:lnTo>
                    <a:pt x="0" y="16891"/>
                  </a:lnTo>
                  <a:close/>
                </a:path>
              </a:pathLst>
            </a:custGeom>
            <a:solidFill>
              <a:srgbClr val="FFFFFF">
                <a:alpha val="24706"/>
              </a:srgbClr>
            </a:solidFill>
          </p:spPr>
        </p:sp>
      </p:grpSp>
      <p:grpSp>
        <p:nvGrpSpPr>
          <p:cNvPr name="Group 42" id="42"/>
          <p:cNvGrpSpPr/>
          <p:nvPr/>
        </p:nvGrpSpPr>
        <p:grpSpPr>
          <a:xfrm rot="0">
            <a:off x="5724144" y="3931920"/>
            <a:ext cx="2523744" cy="1005840"/>
            <a:chOff x="0" y="0"/>
            <a:chExt cx="3364992" cy="1341120"/>
          </a:xfrm>
        </p:grpSpPr>
        <p:sp>
          <p:nvSpPr>
            <p:cNvPr name="Freeform 43" id="43"/>
            <p:cNvSpPr/>
            <p:nvPr/>
          </p:nvSpPr>
          <p:spPr>
            <a:xfrm flipH="false" flipV="false" rot="0">
              <a:off x="0" y="0"/>
              <a:ext cx="3364992" cy="1341120"/>
            </a:xfrm>
            <a:custGeom>
              <a:avLst/>
              <a:gdLst/>
              <a:ahLst/>
              <a:cxnLst/>
              <a:rect r="r" b="b" t="t" l="l"/>
              <a:pathLst>
                <a:path h="1341120" w="3364992">
                  <a:moveTo>
                    <a:pt x="0" y="0"/>
                  </a:moveTo>
                  <a:lnTo>
                    <a:pt x="3364992" y="0"/>
                  </a:lnTo>
                  <a:lnTo>
                    <a:pt x="3364992" y="1341120"/>
                  </a:lnTo>
                  <a:lnTo>
                    <a:pt x="0" y="1341120"/>
                  </a:lnTo>
                  <a:close/>
                </a:path>
              </a:pathLst>
            </a:custGeom>
            <a:blipFill>
              <a:blip r:embed="rId3">
                <a:alphaModFix amt="0"/>
              </a:blip>
              <a:stretch>
                <a:fillRect l="-1135" t="0" r="-1135" b="0"/>
              </a:stretch>
            </a:blipFill>
          </p:spPr>
        </p:sp>
        <p:sp>
          <p:nvSpPr>
            <p:cNvPr name="TextBox 44" id="44"/>
            <p:cNvSpPr txBox="true"/>
            <p:nvPr/>
          </p:nvSpPr>
          <p:spPr>
            <a:xfrm>
              <a:off x="0" y="-85725"/>
              <a:ext cx="3364992" cy="1426845"/>
            </a:xfrm>
            <a:prstGeom prst="rect">
              <a:avLst/>
            </a:prstGeom>
          </p:spPr>
          <p:txBody>
            <a:bodyPr anchor="ctr" rtlCol="false" tIns="0" lIns="0" bIns="0" rIns="0"/>
            <a:lstStyle/>
            <a:p>
              <a:pPr algn="ctr">
                <a:lnSpc>
                  <a:spcPts val="2736"/>
                </a:lnSpc>
              </a:pPr>
              <a:r>
                <a:rPr lang="en-US" sz="1900">
                  <a:solidFill>
                    <a:srgbClr val="FFFFFF"/>
                  </a:solidFill>
                  <a:latin typeface="Calibri (MS)"/>
                  <a:ea typeface="Calibri (MS)"/>
                  <a:cs typeface="Calibri (MS)"/>
                  <a:sym typeface="Calibri (MS)"/>
                </a:rPr>
                <a:t>K-Means k=4</a:t>
              </a:r>
            </a:p>
            <a:p>
              <a:pPr algn="ctr">
                <a:lnSpc>
                  <a:spcPts val="2736"/>
                </a:lnSpc>
              </a:pPr>
              <a:r>
                <a:rPr lang="en-US" sz="1900">
                  <a:solidFill>
                    <a:srgbClr val="FFFFFF"/>
                  </a:solidFill>
                  <a:latin typeface="Calibri (MS)"/>
                  <a:ea typeface="Calibri (MS)"/>
                  <a:cs typeface="Calibri (MS)"/>
                  <a:sym typeface="Calibri (MS)"/>
                </a:rPr>
                <a:t>4 segments</a:t>
              </a:r>
            </a:p>
          </p:txBody>
        </p:sp>
      </p:grpSp>
      <p:grpSp>
        <p:nvGrpSpPr>
          <p:cNvPr name="Group 45" id="45"/>
          <p:cNvGrpSpPr/>
          <p:nvPr/>
        </p:nvGrpSpPr>
        <p:grpSpPr>
          <a:xfrm rot="0">
            <a:off x="8241792" y="3642360"/>
            <a:ext cx="231648" cy="30480"/>
            <a:chOff x="0" y="0"/>
            <a:chExt cx="308864" cy="40640"/>
          </a:xfrm>
        </p:grpSpPr>
        <p:sp>
          <p:nvSpPr>
            <p:cNvPr name="Freeform 46" id="46"/>
            <p:cNvSpPr/>
            <p:nvPr/>
          </p:nvSpPr>
          <p:spPr>
            <a:xfrm flipH="false" flipV="false" rot="0">
              <a:off x="20320" y="0"/>
              <a:ext cx="268224" cy="40640"/>
            </a:xfrm>
            <a:custGeom>
              <a:avLst/>
              <a:gdLst/>
              <a:ahLst/>
              <a:cxnLst/>
              <a:rect r="r" b="b" t="t" l="l"/>
              <a:pathLst>
                <a:path h="40640" w="268224">
                  <a:moveTo>
                    <a:pt x="0" y="0"/>
                  </a:moveTo>
                  <a:lnTo>
                    <a:pt x="268224" y="0"/>
                  </a:lnTo>
                  <a:lnTo>
                    <a:pt x="268224" y="40640"/>
                  </a:lnTo>
                  <a:lnTo>
                    <a:pt x="0" y="40640"/>
                  </a:lnTo>
                  <a:close/>
                </a:path>
              </a:pathLst>
            </a:custGeom>
            <a:solidFill>
              <a:srgbClr val="64748B"/>
            </a:solidFill>
          </p:spPr>
        </p:sp>
      </p:grpSp>
      <p:grpSp>
        <p:nvGrpSpPr>
          <p:cNvPr name="Group 47" id="47"/>
          <p:cNvGrpSpPr/>
          <p:nvPr/>
        </p:nvGrpSpPr>
        <p:grpSpPr>
          <a:xfrm rot="0">
            <a:off x="8344919" y="2273303"/>
            <a:ext cx="2549147" cy="2768603"/>
            <a:chOff x="0" y="0"/>
            <a:chExt cx="3398863" cy="3691471"/>
          </a:xfrm>
        </p:grpSpPr>
        <p:sp>
          <p:nvSpPr>
            <p:cNvPr name="Freeform 48" id="48"/>
            <p:cNvSpPr/>
            <p:nvPr/>
          </p:nvSpPr>
          <p:spPr>
            <a:xfrm flipH="false" flipV="false" rot="0">
              <a:off x="16891" y="16891"/>
              <a:ext cx="3364992" cy="3657600"/>
            </a:xfrm>
            <a:custGeom>
              <a:avLst/>
              <a:gdLst/>
              <a:ahLst/>
              <a:cxnLst/>
              <a:rect r="r" b="b" t="t" l="l"/>
              <a:pathLst>
                <a:path h="3657600" w="3364992">
                  <a:moveTo>
                    <a:pt x="0" y="0"/>
                  </a:moveTo>
                  <a:lnTo>
                    <a:pt x="3364992" y="0"/>
                  </a:lnTo>
                  <a:lnTo>
                    <a:pt x="3364992" y="3657600"/>
                  </a:lnTo>
                  <a:lnTo>
                    <a:pt x="0" y="3657600"/>
                  </a:lnTo>
                  <a:close/>
                </a:path>
              </a:pathLst>
            </a:custGeom>
            <a:solidFill>
              <a:srgbClr val="7C3AED"/>
            </a:solidFill>
          </p:spPr>
        </p:sp>
        <p:sp>
          <p:nvSpPr>
            <p:cNvPr name="Freeform 49" id="49"/>
            <p:cNvSpPr/>
            <p:nvPr/>
          </p:nvSpPr>
          <p:spPr>
            <a:xfrm flipH="false" flipV="false" rot="0">
              <a:off x="0" y="0"/>
              <a:ext cx="3398774" cy="3691382"/>
            </a:xfrm>
            <a:custGeom>
              <a:avLst/>
              <a:gdLst/>
              <a:ahLst/>
              <a:cxnLst/>
              <a:rect r="r" b="b" t="t" l="l"/>
              <a:pathLst>
                <a:path h="3691382" w="3398774">
                  <a:moveTo>
                    <a:pt x="16891" y="0"/>
                  </a:moveTo>
                  <a:lnTo>
                    <a:pt x="3381883" y="0"/>
                  </a:lnTo>
                  <a:cubicBezTo>
                    <a:pt x="3391281" y="0"/>
                    <a:pt x="3398774" y="7620"/>
                    <a:pt x="3398774" y="16891"/>
                  </a:cubicBezTo>
                  <a:lnTo>
                    <a:pt x="3398774" y="3674491"/>
                  </a:lnTo>
                  <a:cubicBezTo>
                    <a:pt x="3398774" y="3683889"/>
                    <a:pt x="3391154" y="3691382"/>
                    <a:pt x="3381883" y="3691382"/>
                  </a:cubicBezTo>
                  <a:lnTo>
                    <a:pt x="16891" y="3691382"/>
                  </a:lnTo>
                  <a:cubicBezTo>
                    <a:pt x="7493" y="3691382"/>
                    <a:pt x="0" y="3683762"/>
                    <a:pt x="0" y="3674491"/>
                  </a:cubicBezTo>
                  <a:lnTo>
                    <a:pt x="0" y="16891"/>
                  </a:lnTo>
                  <a:cubicBezTo>
                    <a:pt x="0" y="7620"/>
                    <a:pt x="7620" y="0"/>
                    <a:pt x="16891" y="0"/>
                  </a:cubicBezTo>
                  <a:moveTo>
                    <a:pt x="16891" y="33909"/>
                  </a:moveTo>
                  <a:lnTo>
                    <a:pt x="16891" y="16891"/>
                  </a:lnTo>
                  <a:lnTo>
                    <a:pt x="33909" y="16891"/>
                  </a:lnTo>
                  <a:lnTo>
                    <a:pt x="33909" y="3674491"/>
                  </a:lnTo>
                  <a:lnTo>
                    <a:pt x="16891" y="3674491"/>
                  </a:lnTo>
                  <a:lnTo>
                    <a:pt x="16891" y="3657600"/>
                  </a:lnTo>
                  <a:lnTo>
                    <a:pt x="3381883" y="3657600"/>
                  </a:lnTo>
                  <a:lnTo>
                    <a:pt x="3381883" y="3674491"/>
                  </a:lnTo>
                  <a:lnTo>
                    <a:pt x="3364992" y="3674491"/>
                  </a:lnTo>
                  <a:lnTo>
                    <a:pt x="3364992" y="16891"/>
                  </a:lnTo>
                  <a:lnTo>
                    <a:pt x="3381883" y="16891"/>
                  </a:lnTo>
                  <a:lnTo>
                    <a:pt x="3381883" y="33909"/>
                  </a:lnTo>
                  <a:lnTo>
                    <a:pt x="16891" y="33909"/>
                  </a:lnTo>
                  <a:close/>
                </a:path>
              </a:pathLst>
            </a:custGeom>
            <a:solidFill>
              <a:srgbClr val="7C3AED"/>
            </a:solidFill>
          </p:spPr>
        </p:sp>
      </p:grpSp>
      <p:grpSp>
        <p:nvGrpSpPr>
          <p:cNvPr name="Group 50" id="50"/>
          <p:cNvGrpSpPr/>
          <p:nvPr/>
        </p:nvGrpSpPr>
        <p:grpSpPr>
          <a:xfrm rot="0">
            <a:off x="8357616" y="2615184"/>
            <a:ext cx="2523744" cy="1188720"/>
            <a:chOff x="0" y="0"/>
            <a:chExt cx="3364992" cy="1584960"/>
          </a:xfrm>
        </p:grpSpPr>
        <p:sp>
          <p:nvSpPr>
            <p:cNvPr name="Freeform 51" id="51"/>
            <p:cNvSpPr/>
            <p:nvPr/>
          </p:nvSpPr>
          <p:spPr>
            <a:xfrm flipH="false" flipV="false" rot="0">
              <a:off x="0" y="0"/>
              <a:ext cx="3364992" cy="1584960"/>
            </a:xfrm>
            <a:custGeom>
              <a:avLst/>
              <a:gdLst/>
              <a:ahLst/>
              <a:cxnLst/>
              <a:rect r="r" b="b" t="t" l="l"/>
              <a:pathLst>
                <a:path h="1584960" w="3364992">
                  <a:moveTo>
                    <a:pt x="0" y="0"/>
                  </a:moveTo>
                  <a:lnTo>
                    <a:pt x="3364992" y="0"/>
                  </a:lnTo>
                  <a:lnTo>
                    <a:pt x="3364992" y="1584960"/>
                  </a:lnTo>
                  <a:lnTo>
                    <a:pt x="0" y="1584960"/>
                  </a:lnTo>
                  <a:close/>
                </a:path>
              </a:pathLst>
            </a:custGeom>
            <a:blipFill>
              <a:blip r:embed="rId3">
                <a:alphaModFix amt="0"/>
              </a:blip>
              <a:stretch>
                <a:fillRect l="-10432" t="0" r="-10432" b="0"/>
              </a:stretch>
            </a:blipFill>
          </p:spPr>
        </p:sp>
        <p:sp>
          <p:nvSpPr>
            <p:cNvPr name="TextBox 52" id="52"/>
            <p:cNvSpPr txBox="true"/>
            <p:nvPr/>
          </p:nvSpPr>
          <p:spPr>
            <a:xfrm>
              <a:off x="0" y="-47625"/>
              <a:ext cx="3364992" cy="1632585"/>
            </a:xfrm>
            <a:prstGeom prst="rect">
              <a:avLst/>
            </a:prstGeom>
          </p:spPr>
          <p:txBody>
            <a:bodyPr anchor="ctr" rtlCol="false" tIns="0" lIns="0" bIns="0" rIns="0"/>
            <a:lstStyle/>
            <a:p>
              <a:pPr algn="ctr">
                <a:lnSpc>
                  <a:spcPts val="2999"/>
                </a:lnSpc>
              </a:pPr>
              <a:r>
                <a:rPr lang="en-US" sz="2499" b="true">
                  <a:solidFill>
                    <a:srgbClr val="FFFFFF"/>
                  </a:solidFill>
                  <a:latin typeface="Calibri (MS) Bold"/>
                  <a:ea typeface="Calibri (MS) Bold"/>
                  <a:cs typeface="Calibri (MS) Bold"/>
                  <a:sym typeface="Calibri (MS) Bold"/>
                </a:rPr>
                <a:t>Classification</a:t>
              </a:r>
            </a:p>
            <a:p>
              <a:pPr algn="ctr">
                <a:lnSpc>
                  <a:spcPts val="2999"/>
                </a:lnSpc>
              </a:pPr>
              <a:r>
                <a:rPr lang="en-US" sz="2499" b="true">
                  <a:solidFill>
                    <a:srgbClr val="FFFFFF"/>
                  </a:solidFill>
                  <a:latin typeface="Calibri (MS) Bold"/>
                  <a:ea typeface="Calibri (MS) Bold"/>
                  <a:cs typeface="Calibri (MS) Bold"/>
                  <a:sym typeface="Calibri (MS) Bold"/>
                </a:rPr>
                <a:t>Churn</a:t>
              </a:r>
            </a:p>
          </p:txBody>
        </p:sp>
      </p:grpSp>
      <p:grpSp>
        <p:nvGrpSpPr>
          <p:cNvPr name="Group 53" id="53"/>
          <p:cNvGrpSpPr/>
          <p:nvPr/>
        </p:nvGrpSpPr>
        <p:grpSpPr>
          <a:xfrm rot="0">
            <a:off x="8625583" y="3834127"/>
            <a:ext cx="1987801" cy="12697"/>
            <a:chOff x="0" y="0"/>
            <a:chExt cx="2650401" cy="16929"/>
          </a:xfrm>
        </p:grpSpPr>
        <p:sp>
          <p:nvSpPr>
            <p:cNvPr name="Freeform 54" id="54"/>
            <p:cNvSpPr/>
            <p:nvPr/>
          </p:nvSpPr>
          <p:spPr>
            <a:xfrm flipH="false" flipV="false" rot="0">
              <a:off x="8509" y="0"/>
              <a:ext cx="2633472" cy="16891"/>
            </a:xfrm>
            <a:custGeom>
              <a:avLst/>
              <a:gdLst/>
              <a:ahLst/>
              <a:cxnLst/>
              <a:rect r="r" b="b" t="t" l="l"/>
              <a:pathLst>
                <a:path h="16891" w="2633472">
                  <a:moveTo>
                    <a:pt x="0" y="0"/>
                  </a:moveTo>
                  <a:lnTo>
                    <a:pt x="2633472" y="0"/>
                  </a:lnTo>
                  <a:lnTo>
                    <a:pt x="2633472" y="16891"/>
                  </a:lnTo>
                  <a:lnTo>
                    <a:pt x="0" y="16891"/>
                  </a:lnTo>
                  <a:close/>
                </a:path>
              </a:pathLst>
            </a:custGeom>
            <a:solidFill>
              <a:srgbClr val="FFFFFF">
                <a:alpha val="24706"/>
              </a:srgbClr>
            </a:solidFill>
          </p:spPr>
        </p:sp>
      </p:grpSp>
      <p:grpSp>
        <p:nvGrpSpPr>
          <p:cNvPr name="Group 55" id="55"/>
          <p:cNvGrpSpPr/>
          <p:nvPr/>
        </p:nvGrpSpPr>
        <p:grpSpPr>
          <a:xfrm rot="0">
            <a:off x="8357616" y="3931920"/>
            <a:ext cx="2523744" cy="1005840"/>
            <a:chOff x="0" y="0"/>
            <a:chExt cx="3364992" cy="1341120"/>
          </a:xfrm>
        </p:grpSpPr>
        <p:sp>
          <p:nvSpPr>
            <p:cNvPr name="Freeform 56" id="56"/>
            <p:cNvSpPr/>
            <p:nvPr/>
          </p:nvSpPr>
          <p:spPr>
            <a:xfrm flipH="false" flipV="false" rot="0">
              <a:off x="0" y="0"/>
              <a:ext cx="3364992" cy="1341120"/>
            </a:xfrm>
            <a:custGeom>
              <a:avLst/>
              <a:gdLst/>
              <a:ahLst/>
              <a:cxnLst/>
              <a:rect r="r" b="b" t="t" l="l"/>
              <a:pathLst>
                <a:path h="1341120" w="3364992">
                  <a:moveTo>
                    <a:pt x="0" y="0"/>
                  </a:moveTo>
                  <a:lnTo>
                    <a:pt x="3364992" y="0"/>
                  </a:lnTo>
                  <a:lnTo>
                    <a:pt x="3364992" y="1341120"/>
                  </a:lnTo>
                  <a:lnTo>
                    <a:pt x="0" y="1341120"/>
                  </a:lnTo>
                  <a:close/>
                </a:path>
              </a:pathLst>
            </a:custGeom>
            <a:blipFill>
              <a:blip r:embed="rId3">
                <a:alphaModFix amt="0"/>
              </a:blip>
              <a:stretch>
                <a:fillRect l="-1135" t="0" r="-1135" b="0"/>
              </a:stretch>
            </a:blipFill>
          </p:spPr>
        </p:sp>
        <p:sp>
          <p:nvSpPr>
            <p:cNvPr name="TextBox 57" id="57"/>
            <p:cNvSpPr txBox="true"/>
            <p:nvPr/>
          </p:nvSpPr>
          <p:spPr>
            <a:xfrm>
              <a:off x="0" y="-85725"/>
              <a:ext cx="3364992" cy="1426845"/>
            </a:xfrm>
            <a:prstGeom prst="rect">
              <a:avLst/>
            </a:prstGeom>
          </p:spPr>
          <p:txBody>
            <a:bodyPr anchor="ctr" rtlCol="false" tIns="0" lIns="0" bIns="0" rIns="0"/>
            <a:lstStyle/>
            <a:p>
              <a:pPr algn="ctr">
                <a:lnSpc>
                  <a:spcPts val="2736"/>
                </a:lnSpc>
              </a:pPr>
              <a:r>
                <a:rPr lang="en-US" sz="1900">
                  <a:solidFill>
                    <a:srgbClr val="FFFFFF"/>
                  </a:solidFill>
                  <a:latin typeface="Calibri (MS)"/>
                  <a:ea typeface="Calibri (MS)"/>
                  <a:cs typeface="Calibri (MS)"/>
                  <a:sym typeface="Calibri (MS)"/>
                </a:rPr>
                <a:t>Random Forest</a:t>
              </a:r>
            </a:p>
            <a:p>
              <a:pPr algn="ctr">
                <a:lnSpc>
                  <a:spcPts val="2736"/>
                </a:lnSpc>
              </a:pPr>
              <a:r>
                <a:rPr lang="en-US" sz="1900">
                  <a:solidFill>
                    <a:srgbClr val="FFFFFF"/>
                  </a:solidFill>
                  <a:latin typeface="Calibri (MS)"/>
                  <a:ea typeface="Calibri (MS)"/>
                  <a:cs typeface="Calibri (MS)"/>
                  <a:sym typeface="Calibri (MS)"/>
                </a:rPr>
                <a:t>AUC=0.976</a:t>
              </a:r>
            </a:p>
          </p:txBody>
        </p:sp>
      </p:grpSp>
      <p:grpSp>
        <p:nvGrpSpPr>
          <p:cNvPr name="Group 58" id="58"/>
          <p:cNvGrpSpPr/>
          <p:nvPr/>
        </p:nvGrpSpPr>
        <p:grpSpPr>
          <a:xfrm rot="0">
            <a:off x="10875264" y="3642360"/>
            <a:ext cx="231648" cy="30480"/>
            <a:chOff x="0" y="0"/>
            <a:chExt cx="308864" cy="40640"/>
          </a:xfrm>
        </p:grpSpPr>
        <p:sp>
          <p:nvSpPr>
            <p:cNvPr name="Freeform 59" id="59"/>
            <p:cNvSpPr/>
            <p:nvPr/>
          </p:nvSpPr>
          <p:spPr>
            <a:xfrm flipH="false" flipV="false" rot="0">
              <a:off x="20320" y="0"/>
              <a:ext cx="268224" cy="40640"/>
            </a:xfrm>
            <a:custGeom>
              <a:avLst/>
              <a:gdLst/>
              <a:ahLst/>
              <a:cxnLst/>
              <a:rect r="r" b="b" t="t" l="l"/>
              <a:pathLst>
                <a:path h="40640" w="268224">
                  <a:moveTo>
                    <a:pt x="0" y="0"/>
                  </a:moveTo>
                  <a:lnTo>
                    <a:pt x="268224" y="0"/>
                  </a:lnTo>
                  <a:lnTo>
                    <a:pt x="268224" y="40640"/>
                  </a:lnTo>
                  <a:lnTo>
                    <a:pt x="0" y="40640"/>
                  </a:lnTo>
                  <a:close/>
                </a:path>
              </a:pathLst>
            </a:custGeom>
            <a:solidFill>
              <a:srgbClr val="64748B"/>
            </a:solidFill>
          </p:spPr>
        </p:sp>
      </p:grpSp>
      <p:grpSp>
        <p:nvGrpSpPr>
          <p:cNvPr name="Group 60" id="60"/>
          <p:cNvGrpSpPr/>
          <p:nvPr/>
        </p:nvGrpSpPr>
        <p:grpSpPr>
          <a:xfrm rot="0">
            <a:off x="10978391" y="2273303"/>
            <a:ext cx="2549147" cy="2768603"/>
            <a:chOff x="0" y="0"/>
            <a:chExt cx="3398863" cy="3691471"/>
          </a:xfrm>
        </p:grpSpPr>
        <p:sp>
          <p:nvSpPr>
            <p:cNvPr name="Freeform 61" id="61"/>
            <p:cNvSpPr/>
            <p:nvPr/>
          </p:nvSpPr>
          <p:spPr>
            <a:xfrm flipH="false" flipV="false" rot="0">
              <a:off x="16891" y="16891"/>
              <a:ext cx="3364992" cy="3657600"/>
            </a:xfrm>
            <a:custGeom>
              <a:avLst/>
              <a:gdLst/>
              <a:ahLst/>
              <a:cxnLst/>
              <a:rect r="r" b="b" t="t" l="l"/>
              <a:pathLst>
                <a:path h="3657600" w="3364992">
                  <a:moveTo>
                    <a:pt x="0" y="0"/>
                  </a:moveTo>
                  <a:lnTo>
                    <a:pt x="3364992" y="0"/>
                  </a:lnTo>
                  <a:lnTo>
                    <a:pt x="3364992" y="3657600"/>
                  </a:lnTo>
                  <a:lnTo>
                    <a:pt x="0" y="3657600"/>
                  </a:lnTo>
                  <a:close/>
                </a:path>
              </a:pathLst>
            </a:custGeom>
            <a:solidFill>
              <a:srgbClr val="D97706"/>
            </a:solidFill>
          </p:spPr>
        </p:sp>
        <p:sp>
          <p:nvSpPr>
            <p:cNvPr name="Freeform 62" id="62"/>
            <p:cNvSpPr/>
            <p:nvPr/>
          </p:nvSpPr>
          <p:spPr>
            <a:xfrm flipH="false" flipV="false" rot="0">
              <a:off x="0" y="0"/>
              <a:ext cx="3398774" cy="3691382"/>
            </a:xfrm>
            <a:custGeom>
              <a:avLst/>
              <a:gdLst/>
              <a:ahLst/>
              <a:cxnLst/>
              <a:rect r="r" b="b" t="t" l="l"/>
              <a:pathLst>
                <a:path h="3691382" w="3398774">
                  <a:moveTo>
                    <a:pt x="16891" y="0"/>
                  </a:moveTo>
                  <a:lnTo>
                    <a:pt x="3381883" y="0"/>
                  </a:lnTo>
                  <a:cubicBezTo>
                    <a:pt x="3391281" y="0"/>
                    <a:pt x="3398774" y="7620"/>
                    <a:pt x="3398774" y="16891"/>
                  </a:cubicBezTo>
                  <a:lnTo>
                    <a:pt x="3398774" y="3674491"/>
                  </a:lnTo>
                  <a:cubicBezTo>
                    <a:pt x="3398774" y="3683889"/>
                    <a:pt x="3391154" y="3691382"/>
                    <a:pt x="3381883" y="3691382"/>
                  </a:cubicBezTo>
                  <a:lnTo>
                    <a:pt x="16891" y="3691382"/>
                  </a:lnTo>
                  <a:cubicBezTo>
                    <a:pt x="7493" y="3691382"/>
                    <a:pt x="0" y="3683762"/>
                    <a:pt x="0" y="3674491"/>
                  </a:cubicBezTo>
                  <a:lnTo>
                    <a:pt x="0" y="16891"/>
                  </a:lnTo>
                  <a:cubicBezTo>
                    <a:pt x="0" y="7620"/>
                    <a:pt x="7620" y="0"/>
                    <a:pt x="16891" y="0"/>
                  </a:cubicBezTo>
                  <a:moveTo>
                    <a:pt x="16891" y="33909"/>
                  </a:moveTo>
                  <a:lnTo>
                    <a:pt x="16891" y="16891"/>
                  </a:lnTo>
                  <a:lnTo>
                    <a:pt x="33909" y="16891"/>
                  </a:lnTo>
                  <a:lnTo>
                    <a:pt x="33909" y="3674491"/>
                  </a:lnTo>
                  <a:lnTo>
                    <a:pt x="16891" y="3674491"/>
                  </a:lnTo>
                  <a:lnTo>
                    <a:pt x="16891" y="3657600"/>
                  </a:lnTo>
                  <a:lnTo>
                    <a:pt x="3381883" y="3657600"/>
                  </a:lnTo>
                  <a:lnTo>
                    <a:pt x="3381883" y="3674491"/>
                  </a:lnTo>
                  <a:lnTo>
                    <a:pt x="3364992" y="3674491"/>
                  </a:lnTo>
                  <a:lnTo>
                    <a:pt x="3364992" y="16891"/>
                  </a:lnTo>
                  <a:lnTo>
                    <a:pt x="3381883" y="16891"/>
                  </a:lnTo>
                  <a:lnTo>
                    <a:pt x="3381883" y="33909"/>
                  </a:lnTo>
                  <a:lnTo>
                    <a:pt x="16891" y="33909"/>
                  </a:lnTo>
                  <a:close/>
                </a:path>
              </a:pathLst>
            </a:custGeom>
            <a:solidFill>
              <a:srgbClr val="D97706"/>
            </a:solidFill>
          </p:spPr>
        </p:sp>
      </p:grpSp>
      <p:grpSp>
        <p:nvGrpSpPr>
          <p:cNvPr name="Group 63" id="63"/>
          <p:cNvGrpSpPr/>
          <p:nvPr/>
        </p:nvGrpSpPr>
        <p:grpSpPr>
          <a:xfrm rot="0">
            <a:off x="10991088" y="2615184"/>
            <a:ext cx="2523744" cy="1188720"/>
            <a:chOff x="0" y="0"/>
            <a:chExt cx="3364992" cy="1584960"/>
          </a:xfrm>
        </p:grpSpPr>
        <p:sp>
          <p:nvSpPr>
            <p:cNvPr name="Freeform 64" id="64"/>
            <p:cNvSpPr/>
            <p:nvPr/>
          </p:nvSpPr>
          <p:spPr>
            <a:xfrm flipH="false" flipV="false" rot="0">
              <a:off x="0" y="0"/>
              <a:ext cx="3364992" cy="1584960"/>
            </a:xfrm>
            <a:custGeom>
              <a:avLst/>
              <a:gdLst/>
              <a:ahLst/>
              <a:cxnLst/>
              <a:rect r="r" b="b" t="t" l="l"/>
              <a:pathLst>
                <a:path h="1584960" w="3364992">
                  <a:moveTo>
                    <a:pt x="0" y="0"/>
                  </a:moveTo>
                  <a:lnTo>
                    <a:pt x="3364992" y="0"/>
                  </a:lnTo>
                  <a:lnTo>
                    <a:pt x="3364992" y="1584960"/>
                  </a:lnTo>
                  <a:lnTo>
                    <a:pt x="0" y="1584960"/>
                  </a:lnTo>
                  <a:close/>
                </a:path>
              </a:pathLst>
            </a:custGeom>
            <a:blipFill>
              <a:blip r:embed="rId3">
                <a:alphaModFix amt="0"/>
              </a:blip>
              <a:stretch>
                <a:fillRect l="-10432" t="0" r="-10432" b="0"/>
              </a:stretch>
            </a:blipFill>
          </p:spPr>
        </p:sp>
        <p:sp>
          <p:nvSpPr>
            <p:cNvPr name="TextBox 65" id="65"/>
            <p:cNvSpPr txBox="true"/>
            <p:nvPr/>
          </p:nvSpPr>
          <p:spPr>
            <a:xfrm>
              <a:off x="0" y="-47625"/>
              <a:ext cx="3364992" cy="1632585"/>
            </a:xfrm>
            <a:prstGeom prst="rect">
              <a:avLst/>
            </a:prstGeom>
          </p:spPr>
          <p:txBody>
            <a:bodyPr anchor="ctr" rtlCol="false" tIns="0" lIns="0" bIns="0" rIns="0"/>
            <a:lstStyle/>
            <a:p>
              <a:pPr algn="ctr">
                <a:lnSpc>
                  <a:spcPts val="2999"/>
                </a:lnSpc>
              </a:pPr>
              <a:r>
                <a:rPr lang="en-US" sz="2499" b="true">
                  <a:solidFill>
                    <a:srgbClr val="FFFFFF"/>
                  </a:solidFill>
                  <a:latin typeface="Calibri (MS) Bold"/>
                  <a:ea typeface="Calibri (MS) Bold"/>
                  <a:cs typeface="Calibri (MS) Bold"/>
                  <a:sym typeface="Calibri (MS) Bold"/>
                </a:rPr>
                <a:t>Régression</a:t>
              </a:r>
            </a:p>
            <a:p>
              <a:pPr algn="ctr">
                <a:lnSpc>
                  <a:spcPts val="2999"/>
                </a:lnSpc>
              </a:pPr>
              <a:r>
                <a:rPr lang="en-US" sz="2499" b="true">
                  <a:solidFill>
                    <a:srgbClr val="FFFFFF"/>
                  </a:solidFill>
                  <a:latin typeface="Calibri (MS) Bold"/>
                  <a:ea typeface="Calibri (MS) Bold"/>
                  <a:cs typeface="Calibri (MS) Bold"/>
                  <a:sym typeface="Calibri (MS) Bold"/>
                </a:rPr>
                <a:t>Monetary</a:t>
              </a:r>
            </a:p>
          </p:txBody>
        </p:sp>
      </p:grpSp>
      <p:grpSp>
        <p:nvGrpSpPr>
          <p:cNvPr name="Group 66" id="66"/>
          <p:cNvGrpSpPr/>
          <p:nvPr/>
        </p:nvGrpSpPr>
        <p:grpSpPr>
          <a:xfrm rot="0">
            <a:off x="11259055" y="3834127"/>
            <a:ext cx="1987801" cy="12697"/>
            <a:chOff x="0" y="0"/>
            <a:chExt cx="2650401" cy="16929"/>
          </a:xfrm>
        </p:grpSpPr>
        <p:sp>
          <p:nvSpPr>
            <p:cNvPr name="Freeform 67" id="67"/>
            <p:cNvSpPr/>
            <p:nvPr/>
          </p:nvSpPr>
          <p:spPr>
            <a:xfrm flipH="false" flipV="false" rot="0">
              <a:off x="8509" y="0"/>
              <a:ext cx="2633472" cy="16891"/>
            </a:xfrm>
            <a:custGeom>
              <a:avLst/>
              <a:gdLst/>
              <a:ahLst/>
              <a:cxnLst/>
              <a:rect r="r" b="b" t="t" l="l"/>
              <a:pathLst>
                <a:path h="16891" w="2633472">
                  <a:moveTo>
                    <a:pt x="0" y="0"/>
                  </a:moveTo>
                  <a:lnTo>
                    <a:pt x="2633472" y="0"/>
                  </a:lnTo>
                  <a:lnTo>
                    <a:pt x="2633472" y="16891"/>
                  </a:lnTo>
                  <a:lnTo>
                    <a:pt x="0" y="16891"/>
                  </a:lnTo>
                  <a:close/>
                </a:path>
              </a:pathLst>
            </a:custGeom>
            <a:solidFill>
              <a:srgbClr val="FFFFFF">
                <a:alpha val="24706"/>
              </a:srgbClr>
            </a:solidFill>
          </p:spPr>
        </p:sp>
      </p:grpSp>
      <p:grpSp>
        <p:nvGrpSpPr>
          <p:cNvPr name="Group 68" id="68"/>
          <p:cNvGrpSpPr/>
          <p:nvPr/>
        </p:nvGrpSpPr>
        <p:grpSpPr>
          <a:xfrm rot="0">
            <a:off x="10991088" y="3931920"/>
            <a:ext cx="2523744" cy="1005840"/>
            <a:chOff x="0" y="0"/>
            <a:chExt cx="3364992" cy="1341120"/>
          </a:xfrm>
        </p:grpSpPr>
        <p:sp>
          <p:nvSpPr>
            <p:cNvPr name="Freeform 69" id="69"/>
            <p:cNvSpPr/>
            <p:nvPr/>
          </p:nvSpPr>
          <p:spPr>
            <a:xfrm flipH="false" flipV="false" rot="0">
              <a:off x="0" y="0"/>
              <a:ext cx="3364992" cy="1341120"/>
            </a:xfrm>
            <a:custGeom>
              <a:avLst/>
              <a:gdLst/>
              <a:ahLst/>
              <a:cxnLst/>
              <a:rect r="r" b="b" t="t" l="l"/>
              <a:pathLst>
                <a:path h="1341120" w="3364992">
                  <a:moveTo>
                    <a:pt x="0" y="0"/>
                  </a:moveTo>
                  <a:lnTo>
                    <a:pt x="3364992" y="0"/>
                  </a:lnTo>
                  <a:lnTo>
                    <a:pt x="3364992" y="1341120"/>
                  </a:lnTo>
                  <a:lnTo>
                    <a:pt x="0" y="1341120"/>
                  </a:lnTo>
                  <a:close/>
                </a:path>
              </a:pathLst>
            </a:custGeom>
            <a:blipFill>
              <a:blip r:embed="rId3">
                <a:alphaModFix amt="0"/>
              </a:blip>
              <a:stretch>
                <a:fillRect l="-1135" t="0" r="-1135" b="0"/>
              </a:stretch>
            </a:blipFill>
          </p:spPr>
        </p:sp>
        <p:sp>
          <p:nvSpPr>
            <p:cNvPr name="TextBox 70" id="70"/>
            <p:cNvSpPr txBox="true"/>
            <p:nvPr/>
          </p:nvSpPr>
          <p:spPr>
            <a:xfrm>
              <a:off x="0" y="-85725"/>
              <a:ext cx="3364992" cy="1426845"/>
            </a:xfrm>
            <a:prstGeom prst="rect">
              <a:avLst/>
            </a:prstGeom>
          </p:spPr>
          <p:txBody>
            <a:bodyPr anchor="ctr" rtlCol="false" tIns="0" lIns="0" bIns="0" rIns="0"/>
            <a:lstStyle/>
            <a:p>
              <a:pPr algn="ctr">
                <a:lnSpc>
                  <a:spcPts val="2736"/>
                </a:lnSpc>
              </a:pPr>
              <a:r>
                <a:rPr lang="en-US" sz="1900">
                  <a:solidFill>
                    <a:srgbClr val="FFFFFF"/>
                  </a:solidFill>
                  <a:latin typeface="Calibri (MS)"/>
                  <a:ea typeface="Calibri (MS)"/>
                  <a:cs typeface="Calibri (MS)"/>
                  <a:sym typeface="Calibri (MS)"/>
                </a:rPr>
                <a:t>XGBoost</a:t>
              </a:r>
            </a:p>
            <a:p>
              <a:pPr algn="ctr">
                <a:lnSpc>
                  <a:spcPts val="2736"/>
                </a:lnSpc>
              </a:pPr>
              <a:r>
                <a:rPr lang="en-US" sz="1900">
                  <a:solidFill>
                    <a:srgbClr val="FFFFFF"/>
                  </a:solidFill>
                  <a:latin typeface="Calibri (MS)"/>
                  <a:ea typeface="Calibri (MS)"/>
                  <a:cs typeface="Calibri (MS)"/>
                  <a:sym typeface="Calibri (MS)"/>
                </a:rPr>
                <a:t>MAPE=0.9%</a:t>
              </a:r>
            </a:p>
          </p:txBody>
        </p:sp>
      </p:grpSp>
      <p:grpSp>
        <p:nvGrpSpPr>
          <p:cNvPr name="Group 71" id="71"/>
          <p:cNvGrpSpPr/>
          <p:nvPr/>
        </p:nvGrpSpPr>
        <p:grpSpPr>
          <a:xfrm rot="0">
            <a:off x="13508736" y="3642360"/>
            <a:ext cx="231648" cy="30480"/>
            <a:chOff x="0" y="0"/>
            <a:chExt cx="308864" cy="40640"/>
          </a:xfrm>
        </p:grpSpPr>
        <p:sp>
          <p:nvSpPr>
            <p:cNvPr name="Freeform 72" id="72"/>
            <p:cNvSpPr/>
            <p:nvPr/>
          </p:nvSpPr>
          <p:spPr>
            <a:xfrm flipH="false" flipV="false" rot="0">
              <a:off x="20320" y="0"/>
              <a:ext cx="268224" cy="40640"/>
            </a:xfrm>
            <a:custGeom>
              <a:avLst/>
              <a:gdLst/>
              <a:ahLst/>
              <a:cxnLst/>
              <a:rect r="r" b="b" t="t" l="l"/>
              <a:pathLst>
                <a:path h="40640" w="268224">
                  <a:moveTo>
                    <a:pt x="0" y="0"/>
                  </a:moveTo>
                  <a:lnTo>
                    <a:pt x="268224" y="0"/>
                  </a:lnTo>
                  <a:lnTo>
                    <a:pt x="268224" y="40640"/>
                  </a:lnTo>
                  <a:lnTo>
                    <a:pt x="0" y="40640"/>
                  </a:lnTo>
                  <a:close/>
                </a:path>
              </a:pathLst>
            </a:custGeom>
            <a:solidFill>
              <a:srgbClr val="64748B"/>
            </a:solidFill>
          </p:spPr>
        </p:sp>
      </p:grpSp>
      <p:grpSp>
        <p:nvGrpSpPr>
          <p:cNvPr name="Group 73" id="73"/>
          <p:cNvGrpSpPr/>
          <p:nvPr/>
        </p:nvGrpSpPr>
        <p:grpSpPr>
          <a:xfrm rot="0">
            <a:off x="13892527" y="3834127"/>
            <a:ext cx="1987801" cy="12697"/>
            <a:chOff x="0" y="0"/>
            <a:chExt cx="2650401" cy="16929"/>
          </a:xfrm>
        </p:grpSpPr>
        <p:sp>
          <p:nvSpPr>
            <p:cNvPr name="Freeform 74" id="74"/>
            <p:cNvSpPr/>
            <p:nvPr/>
          </p:nvSpPr>
          <p:spPr>
            <a:xfrm flipH="false" flipV="false" rot="0">
              <a:off x="8509" y="0"/>
              <a:ext cx="2633472" cy="16891"/>
            </a:xfrm>
            <a:custGeom>
              <a:avLst/>
              <a:gdLst/>
              <a:ahLst/>
              <a:cxnLst/>
              <a:rect r="r" b="b" t="t" l="l"/>
              <a:pathLst>
                <a:path h="16891" w="2633472">
                  <a:moveTo>
                    <a:pt x="0" y="0"/>
                  </a:moveTo>
                  <a:lnTo>
                    <a:pt x="2633472" y="0"/>
                  </a:lnTo>
                  <a:lnTo>
                    <a:pt x="2633472" y="16891"/>
                  </a:lnTo>
                  <a:lnTo>
                    <a:pt x="0" y="16891"/>
                  </a:lnTo>
                  <a:close/>
                </a:path>
              </a:pathLst>
            </a:custGeom>
            <a:solidFill>
              <a:srgbClr val="FFFFFF">
                <a:alpha val="24706"/>
              </a:srgbClr>
            </a:solidFill>
          </p:spPr>
        </p:sp>
      </p:grpSp>
      <p:grpSp>
        <p:nvGrpSpPr>
          <p:cNvPr name="Group 75" id="75"/>
          <p:cNvGrpSpPr/>
          <p:nvPr/>
        </p:nvGrpSpPr>
        <p:grpSpPr>
          <a:xfrm rot="0">
            <a:off x="731520" y="9052560"/>
            <a:ext cx="16824960" cy="822960"/>
            <a:chOff x="0" y="0"/>
            <a:chExt cx="22433280" cy="1097280"/>
          </a:xfrm>
        </p:grpSpPr>
        <p:sp>
          <p:nvSpPr>
            <p:cNvPr name="Freeform 76" id="76"/>
            <p:cNvSpPr/>
            <p:nvPr/>
          </p:nvSpPr>
          <p:spPr>
            <a:xfrm flipH="false" flipV="false" rot="0">
              <a:off x="0" y="0"/>
              <a:ext cx="22433280" cy="1097280"/>
            </a:xfrm>
            <a:custGeom>
              <a:avLst/>
              <a:gdLst/>
              <a:ahLst/>
              <a:cxnLst/>
              <a:rect r="r" b="b" t="t" l="l"/>
              <a:pathLst>
                <a:path h="1097280" w="22433280">
                  <a:moveTo>
                    <a:pt x="0" y="0"/>
                  </a:moveTo>
                  <a:lnTo>
                    <a:pt x="22433280" y="0"/>
                  </a:lnTo>
                  <a:lnTo>
                    <a:pt x="22433280" y="1097280"/>
                  </a:lnTo>
                  <a:lnTo>
                    <a:pt x="0" y="1097280"/>
                  </a:lnTo>
                  <a:close/>
                </a:path>
              </a:pathLst>
            </a:custGeom>
            <a:blipFill>
              <a:blip r:embed="rId3">
                <a:alphaModFix amt="0"/>
              </a:blip>
              <a:stretch>
                <a:fillRect l="0" t="-348360" r="0" b="-348360"/>
              </a:stretch>
            </a:blipFill>
          </p:spPr>
        </p:sp>
        <p:sp>
          <p:nvSpPr>
            <p:cNvPr name="TextBox 77" id="77"/>
            <p:cNvSpPr txBox="true"/>
            <p:nvPr/>
          </p:nvSpPr>
          <p:spPr>
            <a:xfrm>
              <a:off x="0" y="-38100"/>
              <a:ext cx="22433280" cy="1135380"/>
            </a:xfrm>
            <a:prstGeom prst="rect">
              <a:avLst/>
            </a:prstGeom>
          </p:spPr>
          <p:txBody>
            <a:bodyPr anchor="ctr" rtlCol="false" tIns="0" lIns="0" bIns="0" rIns="0"/>
            <a:lstStyle/>
            <a:p>
              <a:pPr algn="l">
                <a:lnSpc>
                  <a:spcPts val="2400"/>
                </a:lnSpc>
              </a:pPr>
              <a:r>
                <a:rPr lang="en-US" sz="2000" i="true">
                  <a:solidFill>
                    <a:srgbClr val="64748B"/>
                  </a:solidFill>
                  <a:latin typeface="Calibri (MS) Italics"/>
                  <a:ea typeface="Calibri (MS) Italics"/>
                  <a:cs typeface="Calibri (MS) Italics"/>
                  <a:sym typeface="Calibri (MS) Italics"/>
                </a:rPr>
                <a:t>Les artefacts (modèles .pkl) sont sauvegardés automatiquement dans models/ après chaque exécution.</a:t>
              </a:r>
            </a:p>
          </p:txBody>
        </p:sp>
      </p:grpSp>
      <p:grpSp>
        <p:nvGrpSpPr>
          <p:cNvPr name="Group 78" id="78"/>
          <p:cNvGrpSpPr/>
          <p:nvPr/>
        </p:nvGrpSpPr>
        <p:grpSpPr>
          <a:xfrm rot="0">
            <a:off x="13826109" y="2288538"/>
            <a:ext cx="2549147" cy="2768603"/>
            <a:chOff x="0" y="0"/>
            <a:chExt cx="3398863" cy="3691471"/>
          </a:xfrm>
        </p:grpSpPr>
        <p:sp>
          <p:nvSpPr>
            <p:cNvPr name="Freeform 79" id="79"/>
            <p:cNvSpPr/>
            <p:nvPr/>
          </p:nvSpPr>
          <p:spPr>
            <a:xfrm flipH="false" flipV="false" rot="0">
              <a:off x="16891" y="16891"/>
              <a:ext cx="3364992" cy="3657600"/>
            </a:xfrm>
            <a:custGeom>
              <a:avLst/>
              <a:gdLst/>
              <a:ahLst/>
              <a:cxnLst/>
              <a:rect r="r" b="b" t="t" l="l"/>
              <a:pathLst>
                <a:path h="3657600" w="3364992">
                  <a:moveTo>
                    <a:pt x="0" y="0"/>
                  </a:moveTo>
                  <a:lnTo>
                    <a:pt x="3364992" y="0"/>
                  </a:lnTo>
                  <a:lnTo>
                    <a:pt x="3364992" y="3657600"/>
                  </a:lnTo>
                  <a:lnTo>
                    <a:pt x="0" y="3657600"/>
                  </a:lnTo>
                  <a:close/>
                </a:path>
              </a:pathLst>
            </a:custGeom>
            <a:solidFill>
              <a:srgbClr val="CB6CE6"/>
            </a:solidFill>
          </p:spPr>
        </p:sp>
        <p:sp>
          <p:nvSpPr>
            <p:cNvPr name="Freeform 80" id="80"/>
            <p:cNvSpPr/>
            <p:nvPr/>
          </p:nvSpPr>
          <p:spPr>
            <a:xfrm flipH="false" flipV="false" rot="0">
              <a:off x="0" y="0"/>
              <a:ext cx="3398774" cy="3691382"/>
            </a:xfrm>
            <a:custGeom>
              <a:avLst/>
              <a:gdLst/>
              <a:ahLst/>
              <a:cxnLst/>
              <a:rect r="r" b="b" t="t" l="l"/>
              <a:pathLst>
                <a:path h="3691382" w="3398774">
                  <a:moveTo>
                    <a:pt x="16891" y="0"/>
                  </a:moveTo>
                  <a:lnTo>
                    <a:pt x="3381883" y="0"/>
                  </a:lnTo>
                  <a:cubicBezTo>
                    <a:pt x="3391281" y="0"/>
                    <a:pt x="3398774" y="7620"/>
                    <a:pt x="3398774" y="16891"/>
                  </a:cubicBezTo>
                  <a:lnTo>
                    <a:pt x="3398774" y="3674491"/>
                  </a:lnTo>
                  <a:cubicBezTo>
                    <a:pt x="3398774" y="3683889"/>
                    <a:pt x="3391154" y="3691382"/>
                    <a:pt x="3381883" y="3691382"/>
                  </a:cubicBezTo>
                  <a:lnTo>
                    <a:pt x="16891" y="3691382"/>
                  </a:lnTo>
                  <a:cubicBezTo>
                    <a:pt x="7493" y="3691382"/>
                    <a:pt x="0" y="3683762"/>
                    <a:pt x="0" y="3674491"/>
                  </a:cubicBezTo>
                  <a:lnTo>
                    <a:pt x="0" y="16891"/>
                  </a:lnTo>
                  <a:cubicBezTo>
                    <a:pt x="0" y="7620"/>
                    <a:pt x="7620" y="0"/>
                    <a:pt x="16891" y="0"/>
                  </a:cubicBezTo>
                  <a:moveTo>
                    <a:pt x="16891" y="33909"/>
                  </a:moveTo>
                  <a:lnTo>
                    <a:pt x="16891" y="16891"/>
                  </a:lnTo>
                  <a:lnTo>
                    <a:pt x="33909" y="16891"/>
                  </a:lnTo>
                  <a:lnTo>
                    <a:pt x="33909" y="3674491"/>
                  </a:lnTo>
                  <a:lnTo>
                    <a:pt x="16891" y="3674491"/>
                  </a:lnTo>
                  <a:lnTo>
                    <a:pt x="16891" y="3657600"/>
                  </a:lnTo>
                  <a:lnTo>
                    <a:pt x="3381883" y="3657600"/>
                  </a:lnTo>
                  <a:lnTo>
                    <a:pt x="3381883" y="3674491"/>
                  </a:lnTo>
                  <a:lnTo>
                    <a:pt x="3364992" y="3674491"/>
                  </a:lnTo>
                  <a:lnTo>
                    <a:pt x="3364992" y="16891"/>
                  </a:lnTo>
                  <a:lnTo>
                    <a:pt x="3381883" y="16891"/>
                  </a:lnTo>
                  <a:lnTo>
                    <a:pt x="3381883" y="33909"/>
                  </a:lnTo>
                  <a:lnTo>
                    <a:pt x="16891" y="33909"/>
                  </a:lnTo>
                  <a:close/>
                </a:path>
              </a:pathLst>
            </a:custGeom>
            <a:solidFill>
              <a:srgbClr val="D97706"/>
            </a:solidFill>
          </p:spPr>
        </p:sp>
      </p:grpSp>
      <p:grpSp>
        <p:nvGrpSpPr>
          <p:cNvPr name="Group 81" id="81"/>
          <p:cNvGrpSpPr/>
          <p:nvPr/>
        </p:nvGrpSpPr>
        <p:grpSpPr>
          <a:xfrm rot="0">
            <a:off x="13854684" y="2651755"/>
            <a:ext cx="2523744" cy="1188720"/>
            <a:chOff x="0" y="0"/>
            <a:chExt cx="3364992" cy="1584960"/>
          </a:xfrm>
        </p:grpSpPr>
        <p:sp>
          <p:nvSpPr>
            <p:cNvPr name="Freeform 82" id="82"/>
            <p:cNvSpPr/>
            <p:nvPr/>
          </p:nvSpPr>
          <p:spPr>
            <a:xfrm flipH="false" flipV="false" rot="0">
              <a:off x="0" y="0"/>
              <a:ext cx="3364992" cy="1584960"/>
            </a:xfrm>
            <a:custGeom>
              <a:avLst/>
              <a:gdLst/>
              <a:ahLst/>
              <a:cxnLst/>
              <a:rect r="r" b="b" t="t" l="l"/>
              <a:pathLst>
                <a:path h="1584960" w="3364992">
                  <a:moveTo>
                    <a:pt x="0" y="0"/>
                  </a:moveTo>
                  <a:lnTo>
                    <a:pt x="3364992" y="0"/>
                  </a:lnTo>
                  <a:lnTo>
                    <a:pt x="3364992" y="1584960"/>
                  </a:lnTo>
                  <a:lnTo>
                    <a:pt x="0" y="1584960"/>
                  </a:lnTo>
                  <a:close/>
                </a:path>
              </a:pathLst>
            </a:custGeom>
            <a:blipFill>
              <a:blip r:embed="rId3">
                <a:alphaModFix amt="0"/>
              </a:blip>
              <a:stretch>
                <a:fillRect l="-10432" t="0" r="-10432" b="0"/>
              </a:stretch>
            </a:blipFill>
          </p:spPr>
        </p:sp>
        <p:sp>
          <p:nvSpPr>
            <p:cNvPr name="TextBox 83" id="83"/>
            <p:cNvSpPr txBox="true"/>
            <p:nvPr/>
          </p:nvSpPr>
          <p:spPr>
            <a:xfrm>
              <a:off x="0" y="-47625"/>
              <a:ext cx="3364992" cy="1632585"/>
            </a:xfrm>
            <a:prstGeom prst="rect">
              <a:avLst/>
            </a:prstGeom>
          </p:spPr>
          <p:txBody>
            <a:bodyPr anchor="ctr" rtlCol="false" tIns="0" lIns="0" bIns="0" rIns="0"/>
            <a:lstStyle/>
            <a:p>
              <a:pPr algn="ctr">
                <a:lnSpc>
                  <a:spcPts val="2999"/>
                </a:lnSpc>
              </a:pPr>
              <a:r>
                <a:rPr lang="en-US" sz="2499" b="true">
                  <a:solidFill>
                    <a:srgbClr val="FFFFFF"/>
                  </a:solidFill>
                  <a:latin typeface="Calibri (MS) Bold"/>
                  <a:ea typeface="Calibri (MS) Bold"/>
                  <a:cs typeface="Calibri (MS) Bold"/>
                  <a:sym typeface="Calibri (MS) Bold"/>
                </a:rPr>
                <a:t>déploiement</a:t>
              </a:r>
            </a:p>
          </p:txBody>
        </p:sp>
      </p:grpSp>
      <p:grpSp>
        <p:nvGrpSpPr>
          <p:cNvPr name="Group 84" id="84"/>
          <p:cNvGrpSpPr/>
          <p:nvPr/>
        </p:nvGrpSpPr>
        <p:grpSpPr>
          <a:xfrm rot="0">
            <a:off x="13892527" y="4051302"/>
            <a:ext cx="2523744" cy="1005840"/>
            <a:chOff x="0" y="0"/>
            <a:chExt cx="3364992" cy="1341120"/>
          </a:xfrm>
        </p:grpSpPr>
        <p:sp>
          <p:nvSpPr>
            <p:cNvPr name="Freeform 85" id="85"/>
            <p:cNvSpPr/>
            <p:nvPr/>
          </p:nvSpPr>
          <p:spPr>
            <a:xfrm flipH="false" flipV="false" rot="0">
              <a:off x="0" y="0"/>
              <a:ext cx="3364992" cy="1341120"/>
            </a:xfrm>
            <a:custGeom>
              <a:avLst/>
              <a:gdLst/>
              <a:ahLst/>
              <a:cxnLst/>
              <a:rect r="r" b="b" t="t" l="l"/>
              <a:pathLst>
                <a:path h="1341120" w="3364992">
                  <a:moveTo>
                    <a:pt x="0" y="0"/>
                  </a:moveTo>
                  <a:lnTo>
                    <a:pt x="3364992" y="0"/>
                  </a:lnTo>
                  <a:lnTo>
                    <a:pt x="3364992" y="1341120"/>
                  </a:lnTo>
                  <a:lnTo>
                    <a:pt x="0" y="1341120"/>
                  </a:lnTo>
                  <a:close/>
                </a:path>
              </a:pathLst>
            </a:custGeom>
            <a:blipFill>
              <a:blip r:embed="rId3">
                <a:alphaModFix amt="0"/>
              </a:blip>
              <a:stretch>
                <a:fillRect l="-1135" t="0" r="-1135" b="0"/>
              </a:stretch>
            </a:blipFill>
          </p:spPr>
        </p:sp>
        <p:sp>
          <p:nvSpPr>
            <p:cNvPr name="TextBox 86" id="86"/>
            <p:cNvSpPr txBox="true"/>
            <p:nvPr/>
          </p:nvSpPr>
          <p:spPr>
            <a:xfrm>
              <a:off x="0" y="-85725"/>
              <a:ext cx="3364992" cy="1426845"/>
            </a:xfrm>
            <a:prstGeom prst="rect">
              <a:avLst/>
            </a:prstGeom>
          </p:spPr>
          <p:txBody>
            <a:bodyPr anchor="ctr" rtlCol="false" tIns="0" lIns="0" bIns="0" rIns="0"/>
            <a:lstStyle/>
            <a:p>
              <a:pPr algn="ctr">
                <a:lnSpc>
                  <a:spcPts val="2736"/>
                </a:lnSpc>
              </a:pPr>
              <a:r>
                <a:rPr lang="en-US" sz="1900">
                  <a:solidFill>
                    <a:srgbClr val="FFFFFF"/>
                  </a:solidFill>
                  <a:latin typeface="Calibri (MS)"/>
                  <a:ea typeface="Calibri (MS)"/>
                  <a:cs typeface="Calibri (MS)"/>
                  <a:sym typeface="Calibri (MS)"/>
                </a:rPr>
                <a:t>Flask</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1397003"/>
            <a:chOff x="0" y="0"/>
            <a:chExt cx="24417871" cy="1862671"/>
          </a:xfrm>
        </p:grpSpPr>
        <p:sp>
          <p:nvSpPr>
            <p:cNvPr name="Freeform 3" id="3"/>
            <p:cNvSpPr/>
            <p:nvPr/>
          </p:nvSpPr>
          <p:spPr>
            <a:xfrm flipH="false" flipV="false" rot="0">
              <a:off x="16891" y="16891"/>
              <a:ext cx="24383999" cy="1828800"/>
            </a:xfrm>
            <a:custGeom>
              <a:avLst/>
              <a:gdLst/>
              <a:ahLst/>
              <a:cxnLst/>
              <a:rect r="r" b="b" t="t" l="l"/>
              <a:pathLst>
                <a:path h="1828800" w="24383999">
                  <a:moveTo>
                    <a:pt x="0" y="0"/>
                  </a:moveTo>
                  <a:lnTo>
                    <a:pt x="24383999" y="0"/>
                  </a:lnTo>
                  <a:lnTo>
                    <a:pt x="24383999" y="1828800"/>
                  </a:lnTo>
                  <a:lnTo>
                    <a:pt x="0" y="1828800"/>
                  </a:lnTo>
                  <a:close/>
                </a:path>
              </a:pathLst>
            </a:custGeom>
            <a:solidFill>
              <a:srgbClr val="1A5EAD"/>
            </a:solidFill>
          </p:spPr>
        </p:sp>
        <p:sp>
          <p:nvSpPr>
            <p:cNvPr name="Freeform 4" id="4"/>
            <p:cNvSpPr/>
            <p:nvPr/>
          </p:nvSpPr>
          <p:spPr>
            <a:xfrm flipH="false" flipV="false" rot="0">
              <a:off x="0" y="0"/>
              <a:ext cx="24417782" cy="1862582"/>
            </a:xfrm>
            <a:custGeom>
              <a:avLst/>
              <a:gdLst/>
              <a:ahLst/>
              <a:cxnLst/>
              <a:rect r="r" b="b" t="t" l="l"/>
              <a:pathLst>
                <a:path h="1862582" w="24417782">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1A5EAD"/>
            </a:solidFill>
          </p:spPr>
        </p:sp>
      </p:grpSp>
      <p:grpSp>
        <p:nvGrpSpPr>
          <p:cNvPr name="Group 5" id="5"/>
          <p:cNvGrpSpPr/>
          <p:nvPr/>
        </p:nvGrpSpPr>
        <p:grpSpPr>
          <a:xfrm rot="0">
            <a:off x="731520" y="0"/>
            <a:ext cx="16824960" cy="1371600"/>
            <a:chOff x="0" y="0"/>
            <a:chExt cx="22433280" cy="1828800"/>
          </a:xfrm>
        </p:grpSpPr>
        <p:sp>
          <p:nvSpPr>
            <p:cNvPr name="Freeform 6" id="6"/>
            <p:cNvSpPr/>
            <p:nvPr/>
          </p:nvSpPr>
          <p:spPr>
            <a:xfrm flipH="false" flipV="false" rot="0">
              <a:off x="0" y="0"/>
              <a:ext cx="22433280" cy="1828800"/>
            </a:xfrm>
            <a:custGeom>
              <a:avLst/>
              <a:gdLst/>
              <a:ahLst/>
              <a:cxnLst/>
              <a:rect r="r" b="b" t="t" l="l"/>
              <a:pathLst>
                <a:path h="1828800" w="22433280">
                  <a:moveTo>
                    <a:pt x="0" y="0"/>
                  </a:moveTo>
                  <a:lnTo>
                    <a:pt x="22433280" y="0"/>
                  </a:lnTo>
                  <a:lnTo>
                    <a:pt x="22433280" y="1828800"/>
                  </a:lnTo>
                  <a:lnTo>
                    <a:pt x="0" y="1828800"/>
                  </a:lnTo>
                  <a:close/>
                </a:path>
              </a:pathLst>
            </a:custGeom>
            <a:blipFill>
              <a:blip r:embed="rId3">
                <a:alphaModFix amt="0"/>
              </a:blip>
              <a:stretch>
                <a:fillRect l="0" t="-189016" r="0" b="-189016"/>
              </a:stretch>
            </a:blipFill>
          </p:spPr>
        </p:sp>
        <p:sp>
          <p:nvSpPr>
            <p:cNvPr name="TextBox 7" id="7"/>
            <p:cNvSpPr txBox="true"/>
            <p:nvPr/>
          </p:nvSpPr>
          <p:spPr>
            <a:xfrm>
              <a:off x="0" y="-76200"/>
              <a:ext cx="22433280" cy="190500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Preprocessing — Étapes Clés</a:t>
              </a:r>
            </a:p>
          </p:txBody>
        </p:sp>
      </p:grpSp>
      <p:grpSp>
        <p:nvGrpSpPr>
          <p:cNvPr name="Group 8" id="8"/>
          <p:cNvGrpSpPr/>
          <p:nvPr/>
        </p:nvGrpSpPr>
        <p:grpSpPr>
          <a:xfrm rot="0">
            <a:off x="535943" y="1816103"/>
            <a:ext cx="8608057" cy="4435631"/>
            <a:chOff x="0" y="0"/>
            <a:chExt cx="11477409" cy="5914175"/>
          </a:xfrm>
        </p:grpSpPr>
        <p:sp>
          <p:nvSpPr>
            <p:cNvPr name="Freeform 9" id="9"/>
            <p:cNvSpPr/>
            <p:nvPr/>
          </p:nvSpPr>
          <p:spPr>
            <a:xfrm flipH="false" flipV="false" rot="0">
              <a:off x="17232" y="22586"/>
              <a:ext cx="11442856" cy="5868884"/>
            </a:xfrm>
            <a:custGeom>
              <a:avLst/>
              <a:gdLst/>
              <a:ahLst/>
              <a:cxnLst/>
              <a:rect r="r" b="b" t="t" l="l"/>
              <a:pathLst>
                <a:path h="5868884" w="11442856">
                  <a:moveTo>
                    <a:pt x="0" y="0"/>
                  </a:moveTo>
                  <a:lnTo>
                    <a:pt x="11442855" y="0"/>
                  </a:lnTo>
                  <a:lnTo>
                    <a:pt x="11442855" y="5868884"/>
                  </a:lnTo>
                  <a:lnTo>
                    <a:pt x="0" y="5868884"/>
                  </a:lnTo>
                  <a:close/>
                </a:path>
              </a:pathLst>
            </a:custGeom>
            <a:solidFill>
              <a:srgbClr val="F1F5F9"/>
            </a:solidFill>
          </p:spPr>
        </p:sp>
        <p:sp>
          <p:nvSpPr>
            <p:cNvPr name="Freeform 10" id="10"/>
            <p:cNvSpPr/>
            <p:nvPr/>
          </p:nvSpPr>
          <p:spPr>
            <a:xfrm flipH="false" flipV="false" rot="0">
              <a:off x="0" y="0"/>
              <a:ext cx="11477318" cy="5914056"/>
            </a:xfrm>
            <a:custGeom>
              <a:avLst/>
              <a:gdLst/>
              <a:ahLst/>
              <a:cxnLst/>
              <a:rect r="r" b="b" t="t" l="l"/>
              <a:pathLst>
                <a:path h="5914056" w="11477318">
                  <a:moveTo>
                    <a:pt x="17232" y="0"/>
                  </a:moveTo>
                  <a:lnTo>
                    <a:pt x="11460087" y="0"/>
                  </a:lnTo>
                  <a:cubicBezTo>
                    <a:pt x="11469674" y="0"/>
                    <a:pt x="11477318" y="10189"/>
                    <a:pt x="11477318" y="22586"/>
                  </a:cubicBezTo>
                  <a:lnTo>
                    <a:pt x="11477318" y="5891470"/>
                  </a:lnTo>
                  <a:cubicBezTo>
                    <a:pt x="11477318" y="5904037"/>
                    <a:pt x="11469545" y="5914056"/>
                    <a:pt x="11460087" y="5914056"/>
                  </a:cubicBezTo>
                  <a:lnTo>
                    <a:pt x="17232" y="5914056"/>
                  </a:lnTo>
                  <a:cubicBezTo>
                    <a:pt x="7644" y="5914056"/>
                    <a:pt x="0" y="5903867"/>
                    <a:pt x="0" y="5891470"/>
                  </a:cubicBezTo>
                  <a:lnTo>
                    <a:pt x="0" y="22586"/>
                  </a:lnTo>
                  <a:cubicBezTo>
                    <a:pt x="0" y="10189"/>
                    <a:pt x="7774" y="0"/>
                    <a:pt x="17232" y="0"/>
                  </a:cubicBezTo>
                  <a:moveTo>
                    <a:pt x="17232" y="45341"/>
                  </a:moveTo>
                  <a:lnTo>
                    <a:pt x="17232" y="22586"/>
                  </a:lnTo>
                  <a:lnTo>
                    <a:pt x="34593" y="22586"/>
                  </a:lnTo>
                  <a:lnTo>
                    <a:pt x="34593" y="5891470"/>
                  </a:lnTo>
                  <a:lnTo>
                    <a:pt x="17232" y="5891470"/>
                  </a:lnTo>
                  <a:lnTo>
                    <a:pt x="17232" y="5868884"/>
                  </a:lnTo>
                  <a:lnTo>
                    <a:pt x="11460087" y="5868884"/>
                  </a:lnTo>
                  <a:lnTo>
                    <a:pt x="11460087" y="5891470"/>
                  </a:lnTo>
                  <a:lnTo>
                    <a:pt x="11442855" y="5891470"/>
                  </a:lnTo>
                  <a:lnTo>
                    <a:pt x="11442855" y="22586"/>
                  </a:lnTo>
                  <a:lnTo>
                    <a:pt x="11460087" y="22586"/>
                  </a:lnTo>
                  <a:lnTo>
                    <a:pt x="11460087" y="45341"/>
                  </a:lnTo>
                  <a:lnTo>
                    <a:pt x="17232" y="45341"/>
                  </a:lnTo>
                  <a:close/>
                </a:path>
              </a:pathLst>
            </a:custGeom>
            <a:solidFill>
              <a:srgbClr val="EBF3FF"/>
            </a:solidFill>
          </p:spPr>
        </p:sp>
      </p:grpSp>
      <p:grpSp>
        <p:nvGrpSpPr>
          <p:cNvPr name="Group 11" id="11"/>
          <p:cNvGrpSpPr/>
          <p:nvPr/>
        </p:nvGrpSpPr>
        <p:grpSpPr>
          <a:xfrm rot="0">
            <a:off x="535943" y="1816103"/>
            <a:ext cx="939803" cy="4435631"/>
            <a:chOff x="0" y="0"/>
            <a:chExt cx="1253071" cy="5914175"/>
          </a:xfrm>
        </p:grpSpPr>
        <p:sp>
          <p:nvSpPr>
            <p:cNvPr name="Freeform 12" id="12"/>
            <p:cNvSpPr/>
            <p:nvPr/>
          </p:nvSpPr>
          <p:spPr>
            <a:xfrm flipH="false" flipV="false" rot="0">
              <a:off x="16891" y="22586"/>
              <a:ext cx="1219200" cy="5868884"/>
            </a:xfrm>
            <a:custGeom>
              <a:avLst/>
              <a:gdLst/>
              <a:ahLst/>
              <a:cxnLst/>
              <a:rect r="r" b="b" t="t" l="l"/>
              <a:pathLst>
                <a:path h="5868884" w="1219200">
                  <a:moveTo>
                    <a:pt x="0" y="0"/>
                  </a:moveTo>
                  <a:lnTo>
                    <a:pt x="1219200" y="0"/>
                  </a:lnTo>
                  <a:lnTo>
                    <a:pt x="1219200" y="5868884"/>
                  </a:lnTo>
                  <a:lnTo>
                    <a:pt x="0" y="5868884"/>
                  </a:lnTo>
                  <a:close/>
                </a:path>
              </a:pathLst>
            </a:custGeom>
            <a:solidFill>
              <a:srgbClr val="1A5EAD"/>
            </a:solidFill>
          </p:spPr>
        </p:sp>
        <p:sp>
          <p:nvSpPr>
            <p:cNvPr name="Freeform 13" id="13"/>
            <p:cNvSpPr/>
            <p:nvPr/>
          </p:nvSpPr>
          <p:spPr>
            <a:xfrm flipH="false" flipV="false" rot="0">
              <a:off x="0" y="0"/>
              <a:ext cx="1252982" cy="5914056"/>
            </a:xfrm>
            <a:custGeom>
              <a:avLst/>
              <a:gdLst/>
              <a:ahLst/>
              <a:cxnLst/>
              <a:rect r="r" b="b" t="t" l="l"/>
              <a:pathLst>
                <a:path h="5914056" w="1252982">
                  <a:moveTo>
                    <a:pt x="16891" y="0"/>
                  </a:moveTo>
                  <a:lnTo>
                    <a:pt x="1236091" y="0"/>
                  </a:lnTo>
                  <a:cubicBezTo>
                    <a:pt x="1245489" y="0"/>
                    <a:pt x="1252982" y="10189"/>
                    <a:pt x="1252982" y="22586"/>
                  </a:cubicBezTo>
                  <a:lnTo>
                    <a:pt x="1252982" y="5891470"/>
                  </a:lnTo>
                  <a:cubicBezTo>
                    <a:pt x="1252982" y="5904037"/>
                    <a:pt x="1245362" y="5914056"/>
                    <a:pt x="1236091" y="5914056"/>
                  </a:cubicBezTo>
                  <a:lnTo>
                    <a:pt x="16891" y="5914056"/>
                  </a:lnTo>
                  <a:cubicBezTo>
                    <a:pt x="7493" y="5914056"/>
                    <a:pt x="0" y="5903867"/>
                    <a:pt x="0" y="5891470"/>
                  </a:cubicBezTo>
                  <a:lnTo>
                    <a:pt x="0" y="22586"/>
                  </a:lnTo>
                  <a:cubicBezTo>
                    <a:pt x="0" y="10189"/>
                    <a:pt x="7620" y="0"/>
                    <a:pt x="16891" y="0"/>
                  </a:cubicBezTo>
                  <a:moveTo>
                    <a:pt x="16891" y="45341"/>
                  </a:moveTo>
                  <a:lnTo>
                    <a:pt x="16891" y="22586"/>
                  </a:lnTo>
                  <a:lnTo>
                    <a:pt x="33909" y="22586"/>
                  </a:lnTo>
                  <a:lnTo>
                    <a:pt x="33909" y="5891470"/>
                  </a:lnTo>
                  <a:lnTo>
                    <a:pt x="16891" y="5891470"/>
                  </a:lnTo>
                  <a:lnTo>
                    <a:pt x="16891" y="5868884"/>
                  </a:lnTo>
                  <a:lnTo>
                    <a:pt x="1236091" y="5868884"/>
                  </a:lnTo>
                  <a:lnTo>
                    <a:pt x="1236091" y="5891470"/>
                  </a:lnTo>
                  <a:lnTo>
                    <a:pt x="1219200" y="5891470"/>
                  </a:lnTo>
                  <a:lnTo>
                    <a:pt x="1219200" y="22586"/>
                  </a:lnTo>
                  <a:lnTo>
                    <a:pt x="1236091" y="22586"/>
                  </a:lnTo>
                  <a:lnTo>
                    <a:pt x="1236091" y="45341"/>
                  </a:lnTo>
                  <a:lnTo>
                    <a:pt x="16891" y="45341"/>
                  </a:lnTo>
                  <a:close/>
                </a:path>
              </a:pathLst>
            </a:custGeom>
            <a:solidFill>
              <a:srgbClr val="1A5EAD"/>
            </a:solidFill>
          </p:spPr>
        </p:sp>
      </p:grpSp>
      <p:grpSp>
        <p:nvGrpSpPr>
          <p:cNvPr name="Group 14" id="14"/>
          <p:cNvGrpSpPr/>
          <p:nvPr/>
        </p:nvGrpSpPr>
        <p:grpSpPr>
          <a:xfrm rot="0">
            <a:off x="1609344" y="2103120"/>
            <a:ext cx="7132320" cy="822960"/>
            <a:chOff x="0" y="0"/>
            <a:chExt cx="9509760" cy="1097280"/>
          </a:xfrm>
        </p:grpSpPr>
        <p:sp>
          <p:nvSpPr>
            <p:cNvPr name="Freeform 15" id="15"/>
            <p:cNvSpPr/>
            <p:nvPr/>
          </p:nvSpPr>
          <p:spPr>
            <a:xfrm flipH="false" flipV="false" rot="0">
              <a:off x="0" y="0"/>
              <a:ext cx="9509760" cy="1097280"/>
            </a:xfrm>
            <a:custGeom>
              <a:avLst/>
              <a:gdLst/>
              <a:ahLst/>
              <a:cxnLst/>
              <a:rect r="r" b="b" t="t" l="l"/>
              <a:pathLst>
                <a:path h="1097280" w="9509760">
                  <a:moveTo>
                    <a:pt x="0" y="0"/>
                  </a:moveTo>
                  <a:lnTo>
                    <a:pt x="9509760" y="0"/>
                  </a:lnTo>
                  <a:lnTo>
                    <a:pt x="9509760" y="1097280"/>
                  </a:lnTo>
                  <a:lnTo>
                    <a:pt x="0" y="1097280"/>
                  </a:lnTo>
                  <a:close/>
                </a:path>
              </a:pathLst>
            </a:custGeom>
            <a:blipFill>
              <a:blip r:embed="rId3">
                <a:alphaModFix amt="0"/>
              </a:blip>
              <a:stretch>
                <a:fillRect l="0" t="-118870" r="0" b="-118870"/>
              </a:stretch>
            </a:blipFill>
          </p:spPr>
        </p:sp>
        <p:sp>
          <p:nvSpPr>
            <p:cNvPr name="TextBox 16" id="16"/>
            <p:cNvSpPr txBox="true"/>
            <p:nvPr/>
          </p:nvSpPr>
          <p:spPr>
            <a:xfrm>
              <a:off x="0" y="-38100"/>
              <a:ext cx="9509760" cy="1135380"/>
            </a:xfrm>
            <a:prstGeom prst="rect">
              <a:avLst/>
            </a:prstGeom>
          </p:spPr>
          <p:txBody>
            <a:bodyPr anchor="ctr" rtlCol="false" tIns="0" lIns="0" bIns="0" rIns="0"/>
            <a:lstStyle/>
            <a:p>
              <a:pPr algn="l">
                <a:lnSpc>
                  <a:spcPts val="2879"/>
                </a:lnSpc>
              </a:pPr>
              <a:r>
                <a:rPr lang="en-US" sz="2400" b="true">
                  <a:solidFill>
                    <a:srgbClr val="0D1B3E"/>
                  </a:solidFill>
                  <a:latin typeface="Calibri (MS) Bold"/>
                  <a:ea typeface="Calibri (MS) Bold"/>
                  <a:cs typeface="Calibri (MS) Bold"/>
                  <a:sym typeface="Calibri (MS) Bold"/>
                </a:rPr>
                <a:t>problèmes de données</a:t>
              </a:r>
            </a:p>
          </p:txBody>
        </p:sp>
      </p:grpSp>
      <p:grpSp>
        <p:nvGrpSpPr>
          <p:cNvPr name="Group 17" id="17"/>
          <p:cNvGrpSpPr/>
          <p:nvPr/>
        </p:nvGrpSpPr>
        <p:grpSpPr>
          <a:xfrm rot="0">
            <a:off x="1609344" y="2851196"/>
            <a:ext cx="7132320" cy="3000964"/>
            <a:chOff x="0" y="0"/>
            <a:chExt cx="9509760" cy="4001286"/>
          </a:xfrm>
        </p:grpSpPr>
        <p:sp>
          <p:nvSpPr>
            <p:cNvPr name="Freeform 18" id="18"/>
            <p:cNvSpPr/>
            <p:nvPr/>
          </p:nvSpPr>
          <p:spPr>
            <a:xfrm flipH="false" flipV="false" rot="0">
              <a:off x="0" y="0"/>
              <a:ext cx="9509760" cy="4001286"/>
            </a:xfrm>
            <a:custGeom>
              <a:avLst/>
              <a:gdLst/>
              <a:ahLst/>
              <a:cxnLst/>
              <a:rect r="r" b="b" t="t" l="l"/>
              <a:pathLst>
                <a:path h="4001286" w="9509760">
                  <a:moveTo>
                    <a:pt x="0" y="0"/>
                  </a:moveTo>
                  <a:lnTo>
                    <a:pt x="9509760" y="0"/>
                  </a:lnTo>
                  <a:lnTo>
                    <a:pt x="9509760" y="4001286"/>
                  </a:lnTo>
                  <a:lnTo>
                    <a:pt x="0" y="4001286"/>
                  </a:lnTo>
                  <a:close/>
                </a:path>
              </a:pathLst>
            </a:custGeom>
            <a:blipFill>
              <a:blip r:embed="rId3">
                <a:alphaModFix amt="0"/>
              </a:blip>
              <a:stretch>
                <a:fillRect l="0" t="-12792" r="0" b="20173"/>
              </a:stretch>
            </a:blipFill>
          </p:spPr>
        </p:sp>
        <p:sp>
          <p:nvSpPr>
            <p:cNvPr name="TextBox 19" id="19"/>
            <p:cNvSpPr txBox="true"/>
            <p:nvPr/>
          </p:nvSpPr>
          <p:spPr>
            <a:xfrm>
              <a:off x="0" y="-171450"/>
              <a:ext cx="9509760" cy="4172736"/>
            </a:xfrm>
            <a:prstGeom prst="rect">
              <a:avLst/>
            </a:prstGeom>
          </p:spPr>
          <p:txBody>
            <a:bodyPr anchor="ctr" rtlCol="false" tIns="0" lIns="0" bIns="0" rIns="0"/>
            <a:lstStyle/>
            <a:p>
              <a:pPr algn="l">
                <a:lnSpc>
                  <a:spcPts val="4031"/>
                </a:lnSpc>
              </a:pPr>
              <a:r>
                <a:rPr lang="en-US" sz="2399" b="true">
                  <a:solidFill>
                    <a:srgbClr val="64748B"/>
                  </a:solidFill>
                  <a:latin typeface="Calibri (MS) Bold"/>
                  <a:ea typeface="Calibri (MS) Bold"/>
                  <a:cs typeface="Calibri (MS) Bold"/>
                  <a:sym typeface="Calibri (MS) Bold"/>
                </a:rPr>
                <a:t>Valeurs manquantes (ex: Age,AvgDaysBetweenPurchases)</a:t>
              </a:r>
            </a:p>
            <a:p>
              <a:pPr algn="l">
                <a:lnSpc>
                  <a:spcPts val="4031"/>
                </a:lnSpc>
              </a:pPr>
              <a:r>
                <a:rPr lang="en-US" sz="2399" b="true">
                  <a:solidFill>
                    <a:srgbClr val="64748B"/>
                  </a:solidFill>
                  <a:latin typeface="Calibri (MS) Bold"/>
                  <a:ea typeface="Calibri (MS) Bold"/>
                  <a:cs typeface="Calibri (MS) Bold"/>
                  <a:sym typeface="Calibri (MS) Bold"/>
                </a:rPr>
                <a:t> Valeurs aberrantes (SupportTickets, Satisfaction) </a:t>
              </a:r>
            </a:p>
            <a:p>
              <a:pPr algn="l">
                <a:lnSpc>
                  <a:spcPts val="4031"/>
                </a:lnSpc>
              </a:pPr>
              <a:r>
                <a:rPr lang="en-US" sz="2399" b="true">
                  <a:solidFill>
                    <a:srgbClr val="64748B"/>
                  </a:solidFill>
                  <a:latin typeface="Calibri (MS) Bold"/>
                  <a:ea typeface="Calibri (MS) Bold"/>
                  <a:cs typeface="Calibri (MS) Bold"/>
                  <a:sym typeface="Calibri (MS) Bold"/>
                </a:rPr>
                <a:t>Formats inconsistants (dates) </a:t>
              </a:r>
            </a:p>
            <a:p>
              <a:pPr algn="l">
                <a:lnSpc>
                  <a:spcPts val="4031"/>
                </a:lnSpc>
              </a:pPr>
              <a:r>
                <a:rPr lang="en-US" sz="2399" b="true">
                  <a:solidFill>
                    <a:srgbClr val="64748B"/>
                  </a:solidFill>
                  <a:latin typeface="Calibri (MS) Bold"/>
                  <a:ea typeface="Calibri (MS) Bold"/>
                  <a:cs typeface="Calibri (MS) Bold"/>
                  <a:sym typeface="Calibri (MS) Bold"/>
                </a:rPr>
                <a:t>Features inutiles (Newsletter) </a:t>
              </a:r>
            </a:p>
            <a:p>
              <a:pPr algn="l">
                <a:lnSpc>
                  <a:spcPts val="4031"/>
                </a:lnSpc>
              </a:pPr>
              <a:r>
                <a:rPr lang="en-US" sz="2399" b="true">
                  <a:solidFill>
                    <a:srgbClr val="64748B"/>
                  </a:solidFill>
                  <a:latin typeface="Calibri (MS) Bold"/>
                  <a:ea typeface="Calibri (MS) Bold"/>
                  <a:cs typeface="Calibri (MS) Bold"/>
                  <a:sym typeface="Calibri (MS) Bold"/>
                </a:rPr>
                <a:t>Déséquilibre des classes (churn )</a:t>
              </a:r>
            </a:p>
          </p:txBody>
        </p:sp>
      </p:grpSp>
      <p:grpSp>
        <p:nvGrpSpPr>
          <p:cNvPr name="Group 20" id="20"/>
          <p:cNvGrpSpPr/>
          <p:nvPr/>
        </p:nvGrpSpPr>
        <p:grpSpPr>
          <a:xfrm rot="0">
            <a:off x="6019517" y="6263640"/>
            <a:ext cx="8437883" cy="3317243"/>
            <a:chOff x="0" y="0"/>
            <a:chExt cx="11250511" cy="4422991"/>
          </a:xfrm>
        </p:grpSpPr>
        <p:sp>
          <p:nvSpPr>
            <p:cNvPr name="Freeform 21" id="21"/>
            <p:cNvSpPr/>
            <p:nvPr/>
          </p:nvSpPr>
          <p:spPr>
            <a:xfrm flipH="false" flipV="false" rot="0">
              <a:off x="16891" y="16891"/>
              <a:ext cx="11216640" cy="4389120"/>
            </a:xfrm>
            <a:custGeom>
              <a:avLst/>
              <a:gdLst/>
              <a:ahLst/>
              <a:cxnLst/>
              <a:rect r="r" b="b" t="t" l="l"/>
              <a:pathLst>
                <a:path h="4389120" w="11216640">
                  <a:moveTo>
                    <a:pt x="0" y="0"/>
                  </a:moveTo>
                  <a:lnTo>
                    <a:pt x="11216640" y="0"/>
                  </a:lnTo>
                  <a:lnTo>
                    <a:pt x="11216640" y="4389120"/>
                  </a:lnTo>
                  <a:lnTo>
                    <a:pt x="0" y="4389120"/>
                  </a:lnTo>
                  <a:close/>
                </a:path>
              </a:pathLst>
            </a:custGeom>
            <a:solidFill>
              <a:srgbClr val="F1F5F9"/>
            </a:solidFill>
          </p:spPr>
        </p:sp>
        <p:sp>
          <p:nvSpPr>
            <p:cNvPr name="Freeform 22" id="22"/>
            <p:cNvSpPr/>
            <p:nvPr/>
          </p:nvSpPr>
          <p:spPr>
            <a:xfrm flipH="false" flipV="false" rot="0">
              <a:off x="0" y="0"/>
              <a:ext cx="11250422" cy="4422902"/>
            </a:xfrm>
            <a:custGeom>
              <a:avLst/>
              <a:gdLst/>
              <a:ahLst/>
              <a:cxnLst/>
              <a:rect r="r" b="b" t="t" l="l"/>
              <a:pathLst>
                <a:path h="4422902" w="11250422">
                  <a:moveTo>
                    <a:pt x="16891" y="0"/>
                  </a:moveTo>
                  <a:lnTo>
                    <a:pt x="11233531" y="0"/>
                  </a:lnTo>
                  <a:cubicBezTo>
                    <a:pt x="11242929" y="0"/>
                    <a:pt x="11250422" y="7620"/>
                    <a:pt x="11250422" y="16891"/>
                  </a:cubicBezTo>
                  <a:lnTo>
                    <a:pt x="11250422" y="4406011"/>
                  </a:lnTo>
                  <a:cubicBezTo>
                    <a:pt x="11250422" y="4415409"/>
                    <a:pt x="11242802" y="4422902"/>
                    <a:pt x="11233531" y="4422902"/>
                  </a:cubicBezTo>
                  <a:lnTo>
                    <a:pt x="16891" y="4422902"/>
                  </a:lnTo>
                  <a:cubicBezTo>
                    <a:pt x="7493" y="4422902"/>
                    <a:pt x="0" y="4415282"/>
                    <a:pt x="0" y="4406011"/>
                  </a:cubicBezTo>
                  <a:lnTo>
                    <a:pt x="0" y="16891"/>
                  </a:lnTo>
                  <a:cubicBezTo>
                    <a:pt x="0" y="7620"/>
                    <a:pt x="7620" y="0"/>
                    <a:pt x="16891" y="0"/>
                  </a:cubicBezTo>
                  <a:moveTo>
                    <a:pt x="16891" y="33909"/>
                  </a:moveTo>
                  <a:lnTo>
                    <a:pt x="16891" y="16891"/>
                  </a:lnTo>
                  <a:lnTo>
                    <a:pt x="33909" y="16891"/>
                  </a:lnTo>
                  <a:lnTo>
                    <a:pt x="33909" y="4406011"/>
                  </a:lnTo>
                  <a:lnTo>
                    <a:pt x="16891" y="4406011"/>
                  </a:lnTo>
                  <a:lnTo>
                    <a:pt x="16891" y="4389120"/>
                  </a:lnTo>
                  <a:lnTo>
                    <a:pt x="11233531" y="4389120"/>
                  </a:lnTo>
                  <a:lnTo>
                    <a:pt x="11233531" y="4406011"/>
                  </a:lnTo>
                  <a:lnTo>
                    <a:pt x="11216640" y="4406011"/>
                  </a:lnTo>
                  <a:lnTo>
                    <a:pt x="11216640" y="16891"/>
                  </a:lnTo>
                  <a:lnTo>
                    <a:pt x="11233531" y="16891"/>
                  </a:lnTo>
                  <a:lnTo>
                    <a:pt x="11233531" y="33909"/>
                  </a:lnTo>
                  <a:lnTo>
                    <a:pt x="16891" y="33909"/>
                  </a:lnTo>
                  <a:close/>
                </a:path>
              </a:pathLst>
            </a:custGeom>
            <a:solidFill>
              <a:srgbClr val="EBF3FF"/>
            </a:solidFill>
          </p:spPr>
        </p:sp>
      </p:grpSp>
      <p:grpSp>
        <p:nvGrpSpPr>
          <p:cNvPr name="Group 23" id="23"/>
          <p:cNvGrpSpPr/>
          <p:nvPr/>
        </p:nvGrpSpPr>
        <p:grpSpPr>
          <a:xfrm rot="0">
            <a:off x="5079713" y="6251734"/>
            <a:ext cx="939803" cy="3317243"/>
            <a:chOff x="0" y="0"/>
            <a:chExt cx="1253071" cy="4422991"/>
          </a:xfrm>
        </p:grpSpPr>
        <p:sp>
          <p:nvSpPr>
            <p:cNvPr name="Freeform 24" id="24"/>
            <p:cNvSpPr/>
            <p:nvPr/>
          </p:nvSpPr>
          <p:spPr>
            <a:xfrm flipH="false" flipV="false" rot="0">
              <a:off x="16891" y="16891"/>
              <a:ext cx="1219200" cy="4389120"/>
            </a:xfrm>
            <a:custGeom>
              <a:avLst/>
              <a:gdLst/>
              <a:ahLst/>
              <a:cxnLst/>
              <a:rect r="r" b="b" t="t" l="l"/>
              <a:pathLst>
                <a:path h="4389120" w="1219200">
                  <a:moveTo>
                    <a:pt x="0" y="0"/>
                  </a:moveTo>
                  <a:lnTo>
                    <a:pt x="1219200" y="0"/>
                  </a:lnTo>
                  <a:lnTo>
                    <a:pt x="1219200" y="4389120"/>
                  </a:lnTo>
                  <a:lnTo>
                    <a:pt x="0" y="4389120"/>
                  </a:lnTo>
                  <a:close/>
                </a:path>
              </a:pathLst>
            </a:custGeom>
            <a:solidFill>
              <a:srgbClr val="1A5EAD"/>
            </a:solidFill>
          </p:spPr>
        </p:sp>
        <p:sp>
          <p:nvSpPr>
            <p:cNvPr name="Freeform 25" id="25"/>
            <p:cNvSpPr/>
            <p:nvPr/>
          </p:nvSpPr>
          <p:spPr>
            <a:xfrm flipH="false" flipV="false" rot="0">
              <a:off x="0" y="0"/>
              <a:ext cx="1252982" cy="4422902"/>
            </a:xfrm>
            <a:custGeom>
              <a:avLst/>
              <a:gdLst/>
              <a:ahLst/>
              <a:cxnLst/>
              <a:rect r="r" b="b" t="t" l="l"/>
              <a:pathLst>
                <a:path h="4422902" w="1252982">
                  <a:moveTo>
                    <a:pt x="16891" y="0"/>
                  </a:moveTo>
                  <a:lnTo>
                    <a:pt x="1236091" y="0"/>
                  </a:lnTo>
                  <a:cubicBezTo>
                    <a:pt x="1245489" y="0"/>
                    <a:pt x="1252982" y="7620"/>
                    <a:pt x="1252982" y="16891"/>
                  </a:cubicBezTo>
                  <a:lnTo>
                    <a:pt x="1252982" y="4406011"/>
                  </a:lnTo>
                  <a:cubicBezTo>
                    <a:pt x="1252982" y="4415409"/>
                    <a:pt x="1245362" y="4422902"/>
                    <a:pt x="1236091" y="4422902"/>
                  </a:cubicBezTo>
                  <a:lnTo>
                    <a:pt x="16891" y="4422902"/>
                  </a:lnTo>
                  <a:cubicBezTo>
                    <a:pt x="7493" y="4422902"/>
                    <a:pt x="0" y="4415282"/>
                    <a:pt x="0" y="4406011"/>
                  </a:cubicBezTo>
                  <a:lnTo>
                    <a:pt x="0" y="16891"/>
                  </a:lnTo>
                  <a:cubicBezTo>
                    <a:pt x="0" y="7620"/>
                    <a:pt x="7620" y="0"/>
                    <a:pt x="16891" y="0"/>
                  </a:cubicBezTo>
                  <a:moveTo>
                    <a:pt x="16891" y="33909"/>
                  </a:moveTo>
                  <a:lnTo>
                    <a:pt x="16891" y="16891"/>
                  </a:lnTo>
                  <a:lnTo>
                    <a:pt x="33909" y="16891"/>
                  </a:lnTo>
                  <a:lnTo>
                    <a:pt x="33909" y="4406011"/>
                  </a:lnTo>
                  <a:lnTo>
                    <a:pt x="16891" y="4406011"/>
                  </a:lnTo>
                  <a:lnTo>
                    <a:pt x="16891" y="4389120"/>
                  </a:lnTo>
                  <a:lnTo>
                    <a:pt x="1236091" y="4389120"/>
                  </a:lnTo>
                  <a:lnTo>
                    <a:pt x="1236091" y="4406011"/>
                  </a:lnTo>
                  <a:lnTo>
                    <a:pt x="1219200" y="4406011"/>
                  </a:lnTo>
                  <a:lnTo>
                    <a:pt x="1219200" y="16891"/>
                  </a:lnTo>
                  <a:lnTo>
                    <a:pt x="1236091" y="16891"/>
                  </a:lnTo>
                  <a:lnTo>
                    <a:pt x="1236091" y="33909"/>
                  </a:lnTo>
                  <a:lnTo>
                    <a:pt x="16891" y="33909"/>
                  </a:lnTo>
                  <a:close/>
                </a:path>
              </a:pathLst>
            </a:custGeom>
            <a:solidFill>
              <a:srgbClr val="1A5EAD"/>
            </a:solidFill>
          </p:spPr>
        </p:sp>
      </p:grpSp>
      <p:grpSp>
        <p:nvGrpSpPr>
          <p:cNvPr name="Group 26" id="26"/>
          <p:cNvGrpSpPr/>
          <p:nvPr/>
        </p:nvGrpSpPr>
        <p:grpSpPr>
          <a:xfrm rot="0">
            <a:off x="5105117" y="6280785"/>
            <a:ext cx="914400" cy="3291840"/>
            <a:chOff x="0" y="0"/>
            <a:chExt cx="1219200" cy="4389120"/>
          </a:xfrm>
        </p:grpSpPr>
        <p:sp>
          <p:nvSpPr>
            <p:cNvPr name="Freeform 27" id="27"/>
            <p:cNvSpPr/>
            <p:nvPr/>
          </p:nvSpPr>
          <p:spPr>
            <a:xfrm flipH="false" flipV="false" rot="0">
              <a:off x="0" y="0"/>
              <a:ext cx="1219200" cy="4389120"/>
            </a:xfrm>
            <a:custGeom>
              <a:avLst/>
              <a:gdLst/>
              <a:ahLst/>
              <a:cxnLst/>
              <a:rect r="r" b="b" t="t" l="l"/>
              <a:pathLst>
                <a:path h="4389120" w="1219200">
                  <a:moveTo>
                    <a:pt x="0" y="0"/>
                  </a:moveTo>
                  <a:lnTo>
                    <a:pt x="1219200" y="0"/>
                  </a:lnTo>
                  <a:lnTo>
                    <a:pt x="1219200" y="4389120"/>
                  </a:lnTo>
                  <a:lnTo>
                    <a:pt x="0" y="4389120"/>
                  </a:lnTo>
                  <a:close/>
                </a:path>
              </a:pathLst>
            </a:custGeom>
            <a:blipFill>
              <a:blip r:embed="rId3">
                <a:alphaModFix amt="0"/>
              </a:blip>
              <a:stretch>
                <a:fillRect l="-411892" t="0" r="-411892" b="0"/>
              </a:stretch>
            </a:blipFill>
          </p:spPr>
        </p:sp>
        <p:sp>
          <p:nvSpPr>
            <p:cNvPr name="TextBox 28" id="28"/>
            <p:cNvSpPr txBox="true"/>
            <p:nvPr/>
          </p:nvSpPr>
          <p:spPr>
            <a:xfrm>
              <a:off x="0" y="-57150"/>
              <a:ext cx="1219200" cy="4446270"/>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01</a:t>
              </a:r>
            </a:p>
          </p:txBody>
        </p:sp>
      </p:grpSp>
      <p:grpSp>
        <p:nvGrpSpPr>
          <p:cNvPr name="Group 29" id="29"/>
          <p:cNvGrpSpPr/>
          <p:nvPr/>
        </p:nvGrpSpPr>
        <p:grpSpPr>
          <a:xfrm rot="0">
            <a:off x="6301474" y="6400805"/>
            <a:ext cx="7132320" cy="822960"/>
            <a:chOff x="0" y="0"/>
            <a:chExt cx="9509760" cy="1097280"/>
          </a:xfrm>
        </p:grpSpPr>
        <p:sp>
          <p:nvSpPr>
            <p:cNvPr name="Freeform 30" id="30"/>
            <p:cNvSpPr/>
            <p:nvPr/>
          </p:nvSpPr>
          <p:spPr>
            <a:xfrm flipH="false" flipV="false" rot="0">
              <a:off x="0" y="0"/>
              <a:ext cx="9509760" cy="1097280"/>
            </a:xfrm>
            <a:custGeom>
              <a:avLst/>
              <a:gdLst/>
              <a:ahLst/>
              <a:cxnLst/>
              <a:rect r="r" b="b" t="t" l="l"/>
              <a:pathLst>
                <a:path h="1097280" w="9509760">
                  <a:moveTo>
                    <a:pt x="0" y="0"/>
                  </a:moveTo>
                  <a:lnTo>
                    <a:pt x="9509760" y="0"/>
                  </a:lnTo>
                  <a:lnTo>
                    <a:pt x="9509760" y="1097280"/>
                  </a:lnTo>
                  <a:lnTo>
                    <a:pt x="0" y="1097280"/>
                  </a:lnTo>
                  <a:close/>
                </a:path>
              </a:pathLst>
            </a:custGeom>
            <a:blipFill>
              <a:blip r:embed="rId3">
                <a:alphaModFix amt="0"/>
              </a:blip>
              <a:stretch>
                <a:fillRect l="0" t="-118870" r="0" b="-118870"/>
              </a:stretch>
            </a:blipFill>
          </p:spPr>
        </p:sp>
        <p:sp>
          <p:nvSpPr>
            <p:cNvPr name="TextBox 31" id="31"/>
            <p:cNvSpPr txBox="true"/>
            <p:nvPr/>
          </p:nvSpPr>
          <p:spPr>
            <a:xfrm>
              <a:off x="0" y="-38100"/>
              <a:ext cx="9509760" cy="1135380"/>
            </a:xfrm>
            <a:prstGeom prst="rect">
              <a:avLst/>
            </a:prstGeom>
          </p:spPr>
          <p:txBody>
            <a:bodyPr anchor="ctr" rtlCol="false" tIns="0" lIns="0" bIns="0" rIns="0"/>
            <a:lstStyle/>
            <a:p>
              <a:pPr algn="l">
                <a:lnSpc>
                  <a:spcPts val="2879"/>
                </a:lnSpc>
              </a:pPr>
              <a:r>
                <a:rPr lang="en-US" sz="2400" b="true">
                  <a:solidFill>
                    <a:srgbClr val="0D1B3E"/>
                  </a:solidFill>
                  <a:latin typeface="Calibri (MS) Bold"/>
                  <a:ea typeface="Calibri (MS) Bold"/>
                  <a:cs typeface="Calibri (MS) Bold"/>
                  <a:sym typeface="Calibri (MS) Bold"/>
                </a:rPr>
                <a:t>Nettoyage de données </a:t>
              </a:r>
            </a:p>
          </p:txBody>
        </p:sp>
      </p:grpSp>
      <p:grpSp>
        <p:nvGrpSpPr>
          <p:cNvPr name="Group 32" id="32"/>
          <p:cNvGrpSpPr/>
          <p:nvPr/>
        </p:nvGrpSpPr>
        <p:grpSpPr>
          <a:xfrm rot="0">
            <a:off x="6019517" y="7389495"/>
            <a:ext cx="7132320" cy="2179482"/>
            <a:chOff x="0" y="0"/>
            <a:chExt cx="9509760" cy="2905976"/>
          </a:xfrm>
        </p:grpSpPr>
        <p:sp>
          <p:nvSpPr>
            <p:cNvPr name="Freeform 33" id="33"/>
            <p:cNvSpPr/>
            <p:nvPr/>
          </p:nvSpPr>
          <p:spPr>
            <a:xfrm flipH="false" flipV="false" rot="0">
              <a:off x="0" y="0"/>
              <a:ext cx="9509760" cy="2905976"/>
            </a:xfrm>
            <a:custGeom>
              <a:avLst/>
              <a:gdLst/>
              <a:ahLst/>
              <a:cxnLst/>
              <a:rect r="r" b="b" t="t" l="l"/>
              <a:pathLst>
                <a:path h="2905976" w="9509760">
                  <a:moveTo>
                    <a:pt x="0" y="0"/>
                  </a:moveTo>
                  <a:lnTo>
                    <a:pt x="9509760" y="0"/>
                  </a:lnTo>
                  <a:lnTo>
                    <a:pt x="9509760" y="2905976"/>
                  </a:lnTo>
                  <a:lnTo>
                    <a:pt x="0" y="2905976"/>
                  </a:lnTo>
                  <a:close/>
                </a:path>
              </a:pathLst>
            </a:custGeom>
            <a:blipFill>
              <a:blip r:embed="rId3">
                <a:alphaModFix amt="0"/>
              </a:blip>
              <a:stretch>
                <a:fillRect l="0" t="-17614" r="0" b="-9914"/>
              </a:stretch>
            </a:blipFill>
          </p:spPr>
        </p:sp>
        <p:sp>
          <p:nvSpPr>
            <p:cNvPr name="TextBox 34" id="34"/>
            <p:cNvSpPr txBox="true"/>
            <p:nvPr/>
          </p:nvSpPr>
          <p:spPr>
            <a:xfrm>
              <a:off x="0" y="-171450"/>
              <a:ext cx="9509760" cy="3077426"/>
            </a:xfrm>
            <a:prstGeom prst="rect">
              <a:avLst/>
            </a:prstGeom>
          </p:spPr>
          <p:txBody>
            <a:bodyPr anchor="ctr" rtlCol="false" tIns="0" lIns="0" bIns="0" rIns="0"/>
            <a:lstStyle/>
            <a:p>
              <a:pPr algn="l">
                <a:lnSpc>
                  <a:spcPts val="4367"/>
                </a:lnSpc>
              </a:pPr>
              <a:r>
                <a:rPr lang="en-US" sz="2599" b="true">
                  <a:solidFill>
                    <a:srgbClr val="64748B"/>
                  </a:solidFill>
                  <a:latin typeface="Calibri (MS) Bold"/>
                  <a:ea typeface="Calibri (MS) Bold"/>
                  <a:cs typeface="Calibri (MS) Bold"/>
                  <a:sym typeface="Calibri (MS) Bold"/>
                </a:rPr>
                <a:t>Amélio</a:t>
              </a:r>
              <a:r>
                <a:rPr lang="en-US" sz="2599" b="true">
                  <a:solidFill>
                    <a:srgbClr val="64748B"/>
                  </a:solidFill>
                  <a:latin typeface="Calibri (MS) Bold"/>
                  <a:ea typeface="Calibri (MS) Bold"/>
                  <a:cs typeface="Calibri (MS) Bold"/>
                  <a:sym typeface="Calibri (MS) Bold"/>
                </a:rPr>
                <a:t>rer la qualité des données pour garantir des modèles fiables 🔧 Étapes réalisées: 1. Gestion des valeurs manquantes Médiane (robuste aux outliers)</a:t>
              </a:r>
            </a:p>
            <a:p>
              <a:pPr algn="l">
                <a:lnSpc>
                  <a:spcPts val="4367"/>
                </a:lnSpc>
              </a:pPr>
            </a:p>
          </p:txBody>
        </p:sp>
      </p:grpSp>
      <p:grpSp>
        <p:nvGrpSpPr>
          <p:cNvPr name="Group 35" id="35"/>
          <p:cNvGrpSpPr/>
          <p:nvPr/>
        </p:nvGrpSpPr>
        <p:grpSpPr>
          <a:xfrm rot="0">
            <a:off x="11142965" y="2375297"/>
            <a:ext cx="7145035" cy="3317243"/>
            <a:chOff x="0" y="0"/>
            <a:chExt cx="9526713" cy="4422991"/>
          </a:xfrm>
        </p:grpSpPr>
        <p:sp>
          <p:nvSpPr>
            <p:cNvPr name="Freeform 36" id="36"/>
            <p:cNvSpPr/>
            <p:nvPr/>
          </p:nvSpPr>
          <p:spPr>
            <a:xfrm flipH="false" flipV="false" rot="0">
              <a:off x="14303" y="16891"/>
              <a:ext cx="9498032" cy="4389120"/>
            </a:xfrm>
            <a:custGeom>
              <a:avLst/>
              <a:gdLst/>
              <a:ahLst/>
              <a:cxnLst/>
              <a:rect r="r" b="b" t="t" l="l"/>
              <a:pathLst>
                <a:path h="4389120" w="9498032">
                  <a:moveTo>
                    <a:pt x="0" y="0"/>
                  </a:moveTo>
                  <a:lnTo>
                    <a:pt x="9498032" y="0"/>
                  </a:lnTo>
                  <a:lnTo>
                    <a:pt x="9498032" y="4389120"/>
                  </a:lnTo>
                  <a:lnTo>
                    <a:pt x="0" y="4389120"/>
                  </a:lnTo>
                  <a:close/>
                </a:path>
              </a:pathLst>
            </a:custGeom>
            <a:solidFill>
              <a:srgbClr val="F1F5F9"/>
            </a:solidFill>
          </p:spPr>
        </p:sp>
        <p:sp>
          <p:nvSpPr>
            <p:cNvPr name="Freeform 37" id="37"/>
            <p:cNvSpPr/>
            <p:nvPr/>
          </p:nvSpPr>
          <p:spPr>
            <a:xfrm flipH="false" flipV="false" rot="0">
              <a:off x="0" y="0"/>
              <a:ext cx="9526638" cy="4422902"/>
            </a:xfrm>
            <a:custGeom>
              <a:avLst/>
              <a:gdLst/>
              <a:ahLst/>
              <a:cxnLst/>
              <a:rect r="r" b="b" t="t" l="l"/>
              <a:pathLst>
                <a:path h="4422902" w="9526638">
                  <a:moveTo>
                    <a:pt x="14303" y="0"/>
                  </a:moveTo>
                  <a:lnTo>
                    <a:pt x="9512335" y="0"/>
                  </a:lnTo>
                  <a:cubicBezTo>
                    <a:pt x="9520293" y="0"/>
                    <a:pt x="9526638" y="7620"/>
                    <a:pt x="9526638" y="16891"/>
                  </a:cubicBezTo>
                  <a:lnTo>
                    <a:pt x="9526638" y="4406011"/>
                  </a:lnTo>
                  <a:cubicBezTo>
                    <a:pt x="9526638" y="4415409"/>
                    <a:pt x="9520186" y="4422902"/>
                    <a:pt x="9512335" y="4422902"/>
                  </a:cubicBezTo>
                  <a:lnTo>
                    <a:pt x="14303" y="4422902"/>
                  </a:lnTo>
                  <a:cubicBezTo>
                    <a:pt x="6345" y="4422902"/>
                    <a:pt x="0" y="4415282"/>
                    <a:pt x="0" y="4406011"/>
                  </a:cubicBezTo>
                  <a:lnTo>
                    <a:pt x="0" y="16891"/>
                  </a:lnTo>
                  <a:cubicBezTo>
                    <a:pt x="0" y="7620"/>
                    <a:pt x="6452" y="0"/>
                    <a:pt x="14303" y="0"/>
                  </a:cubicBezTo>
                  <a:moveTo>
                    <a:pt x="14303" y="33909"/>
                  </a:moveTo>
                  <a:lnTo>
                    <a:pt x="14303" y="16891"/>
                  </a:lnTo>
                  <a:lnTo>
                    <a:pt x="28713" y="16891"/>
                  </a:lnTo>
                  <a:lnTo>
                    <a:pt x="28713" y="4406011"/>
                  </a:lnTo>
                  <a:lnTo>
                    <a:pt x="14303" y="4406011"/>
                  </a:lnTo>
                  <a:lnTo>
                    <a:pt x="14303" y="4389120"/>
                  </a:lnTo>
                  <a:lnTo>
                    <a:pt x="9512335" y="4389120"/>
                  </a:lnTo>
                  <a:lnTo>
                    <a:pt x="9512335" y="4406011"/>
                  </a:lnTo>
                  <a:lnTo>
                    <a:pt x="9498032" y="4406011"/>
                  </a:lnTo>
                  <a:lnTo>
                    <a:pt x="9498032" y="16891"/>
                  </a:lnTo>
                  <a:lnTo>
                    <a:pt x="9512335" y="16891"/>
                  </a:lnTo>
                  <a:lnTo>
                    <a:pt x="9512335" y="33909"/>
                  </a:lnTo>
                  <a:lnTo>
                    <a:pt x="14303" y="33909"/>
                  </a:lnTo>
                  <a:close/>
                </a:path>
              </a:pathLst>
            </a:custGeom>
            <a:solidFill>
              <a:srgbClr val="EBF3FF"/>
            </a:solidFill>
          </p:spPr>
        </p:sp>
      </p:grpSp>
      <p:grpSp>
        <p:nvGrpSpPr>
          <p:cNvPr name="Group 38" id="38"/>
          <p:cNvGrpSpPr/>
          <p:nvPr/>
        </p:nvGrpSpPr>
        <p:grpSpPr>
          <a:xfrm rot="0">
            <a:off x="11245587" y="2514600"/>
            <a:ext cx="7132320" cy="822960"/>
            <a:chOff x="0" y="0"/>
            <a:chExt cx="9509760" cy="1097280"/>
          </a:xfrm>
        </p:grpSpPr>
        <p:sp>
          <p:nvSpPr>
            <p:cNvPr name="Freeform 39" id="39"/>
            <p:cNvSpPr/>
            <p:nvPr/>
          </p:nvSpPr>
          <p:spPr>
            <a:xfrm flipH="false" flipV="false" rot="0">
              <a:off x="0" y="0"/>
              <a:ext cx="9509760" cy="1097280"/>
            </a:xfrm>
            <a:custGeom>
              <a:avLst/>
              <a:gdLst/>
              <a:ahLst/>
              <a:cxnLst/>
              <a:rect r="r" b="b" t="t" l="l"/>
              <a:pathLst>
                <a:path h="1097280" w="9509760">
                  <a:moveTo>
                    <a:pt x="0" y="0"/>
                  </a:moveTo>
                  <a:lnTo>
                    <a:pt x="9509760" y="0"/>
                  </a:lnTo>
                  <a:lnTo>
                    <a:pt x="9509760" y="1097280"/>
                  </a:lnTo>
                  <a:lnTo>
                    <a:pt x="0" y="1097280"/>
                  </a:lnTo>
                  <a:close/>
                </a:path>
              </a:pathLst>
            </a:custGeom>
            <a:blipFill>
              <a:blip r:embed="rId3">
                <a:alphaModFix amt="0"/>
              </a:blip>
              <a:stretch>
                <a:fillRect l="0" t="-118870" r="0" b="-118870"/>
              </a:stretch>
            </a:blipFill>
          </p:spPr>
        </p:sp>
        <p:sp>
          <p:nvSpPr>
            <p:cNvPr name="TextBox 40" id="40"/>
            <p:cNvSpPr txBox="true"/>
            <p:nvPr/>
          </p:nvSpPr>
          <p:spPr>
            <a:xfrm>
              <a:off x="0" y="-38100"/>
              <a:ext cx="9509760" cy="1135380"/>
            </a:xfrm>
            <a:prstGeom prst="rect">
              <a:avLst/>
            </a:prstGeom>
          </p:spPr>
          <p:txBody>
            <a:bodyPr anchor="ctr" rtlCol="false" tIns="0" lIns="0" bIns="0" rIns="0"/>
            <a:lstStyle/>
            <a:p>
              <a:pPr algn="l">
                <a:lnSpc>
                  <a:spcPts val="2879"/>
                </a:lnSpc>
              </a:pPr>
              <a:r>
                <a:rPr lang="en-US" sz="2400" b="true">
                  <a:solidFill>
                    <a:srgbClr val="0D1B3E"/>
                  </a:solidFill>
                  <a:latin typeface="Calibri (MS) Bold"/>
                  <a:ea typeface="Calibri (MS) Bold"/>
                  <a:cs typeface="Calibri (MS) Bold"/>
                  <a:sym typeface="Calibri (MS) Bold"/>
                </a:rPr>
                <a:t>Correction des valeurs aberrantes (Outliers): </a:t>
              </a:r>
            </a:p>
          </p:txBody>
        </p:sp>
      </p:grpSp>
      <p:grpSp>
        <p:nvGrpSpPr>
          <p:cNvPr name="Group 41" id="41"/>
          <p:cNvGrpSpPr/>
          <p:nvPr/>
        </p:nvGrpSpPr>
        <p:grpSpPr>
          <a:xfrm rot="0">
            <a:off x="10238458" y="2375297"/>
            <a:ext cx="939803" cy="3337560"/>
            <a:chOff x="0" y="0"/>
            <a:chExt cx="1253071" cy="4450080"/>
          </a:xfrm>
        </p:grpSpPr>
        <p:sp>
          <p:nvSpPr>
            <p:cNvPr name="Freeform 42" id="42"/>
            <p:cNvSpPr/>
            <p:nvPr/>
          </p:nvSpPr>
          <p:spPr>
            <a:xfrm flipH="false" flipV="false" rot="0">
              <a:off x="16891" y="16994"/>
              <a:ext cx="1219200" cy="4416002"/>
            </a:xfrm>
            <a:custGeom>
              <a:avLst/>
              <a:gdLst/>
              <a:ahLst/>
              <a:cxnLst/>
              <a:rect r="r" b="b" t="t" l="l"/>
              <a:pathLst>
                <a:path h="4416002" w="1219200">
                  <a:moveTo>
                    <a:pt x="0" y="0"/>
                  </a:moveTo>
                  <a:lnTo>
                    <a:pt x="1219200" y="0"/>
                  </a:lnTo>
                  <a:lnTo>
                    <a:pt x="1219200" y="4416002"/>
                  </a:lnTo>
                  <a:lnTo>
                    <a:pt x="0" y="4416002"/>
                  </a:lnTo>
                  <a:close/>
                </a:path>
              </a:pathLst>
            </a:custGeom>
            <a:solidFill>
              <a:srgbClr val="1A5EAD"/>
            </a:solidFill>
          </p:spPr>
        </p:sp>
        <p:sp>
          <p:nvSpPr>
            <p:cNvPr name="Freeform 43" id="43"/>
            <p:cNvSpPr/>
            <p:nvPr/>
          </p:nvSpPr>
          <p:spPr>
            <a:xfrm flipH="false" flipV="false" rot="0">
              <a:off x="0" y="0"/>
              <a:ext cx="1252982" cy="4449991"/>
            </a:xfrm>
            <a:custGeom>
              <a:avLst/>
              <a:gdLst/>
              <a:ahLst/>
              <a:cxnLst/>
              <a:rect r="r" b="b" t="t" l="l"/>
              <a:pathLst>
                <a:path h="4449991" w="1252982">
                  <a:moveTo>
                    <a:pt x="16891" y="0"/>
                  </a:moveTo>
                  <a:lnTo>
                    <a:pt x="1236091" y="0"/>
                  </a:lnTo>
                  <a:cubicBezTo>
                    <a:pt x="1245489" y="0"/>
                    <a:pt x="1252982" y="7667"/>
                    <a:pt x="1252982" y="16994"/>
                  </a:cubicBezTo>
                  <a:lnTo>
                    <a:pt x="1252982" y="4432996"/>
                  </a:lnTo>
                  <a:cubicBezTo>
                    <a:pt x="1252982" y="4442452"/>
                    <a:pt x="1245362" y="4449991"/>
                    <a:pt x="1236091" y="4449991"/>
                  </a:cubicBezTo>
                  <a:lnTo>
                    <a:pt x="16891" y="4449991"/>
                  </a:lnTo>
                  <a:cubicBezTo>
                    <a:pt x="7493" y="4449991"/>
                    <a:pt x="0" y="4442324"/>
                    <a:pt x="0" y="4432996"/>
                  </a:cubicBezTo>
                  <a:lnTo>
                    <a:pt x="0" y="16994"/>
                  </a:lnTo>
                  <a:cubicBezTo>
                    <a:pt x="0" y="7667"/>
                    <a:pt x="7620" y="0"/>
                    <a:pt x="16891" y="0"/>
                  </a:cubicBezTo>
                  <a:moveTo>
                    <a:pt x="16891" y="34117"/>
                  </a:moveTo>
                  <a:lnTo>
                    <a:pt x="16891" y="16994"/>
                  </a:lnTo>
                  <a:lnTo>
                    <a:pt x="33909" y="16994"/>
                  </a:lnTo>
                  <a:lnTo>
                    <a:pt x="33909" y="4432996"/>
                  </a:lnTo>
                  <a:lnTo>
                    <a:pt x="16891" y="4432996"/>
                  </a:lnTo>
                  <a:lnTo>
                    <a:pt x="16891" y="4416002"/>
                  </a:lnTo>
                  <a:lnTo>
                    <a:pt x="1236091" y="4416002"/>
                  </a:lnTo>
                  <a:lnTo>
                    <a:pt x="1236091" y="4432996"/>
                  </a:lnTo>
                  <a:lnTo>
                    <a:pt x="1219200" y="4432996"/>
                  </a:lnTo>
                  <a:lnTo>
                    <a:pt x="1219200" y="16994"/>
                  </a:lnTo>
                  <a:lnTo>
                    <a:pt x="1236091" y="16994"/>
                  </a:lnTo>
                  <a:lnTo>
                    <a:pt x="1236091" y="34117"/>
                  </a:lnTo>
                  <a:lnTo>
                    <a:pt x="16891" y="34117"/>
                  </a:lnTo>
                  <a:close/>
                </a:path>
              </a:pathLst>
            </a:custGeom>
            <a:solidFill>
              <a:srgbClr val="1A5EAD"/>
            </a:solidFill>
          </p:spPr>
        </p:sp>
      </p:grpSp>
      <p:sp>
        <p:nvSpPr>
          <p:cNvPr name="TextBox 44" id="44"/>
          <p:cNvSpPr txBox="true"/>
          <p:nvPr/>
        </p:nvSpPr>
        <p:spPr>
          <a:xfrm rot="0">
            <a:off x="10461441" y="3791665"/>
            <a:ext cx="399098" cy="533400"/>
          </a:xfrm>
          <a:prstGeom prst="rect">
            <a:avLst/>
          </a:prstGeom>
        </p:spPr>
        <p:txBody>
          <a:bodyPr anchor="t" rtlCol="false" tIns="0" lIns="0" bIns="0" rIns="0">
            <a:spAutoFit/>
          </a:bodyPr>
          <a:lstStyle/>
          <a:p>
            <a:pPr algn="ctr">
              <a:lnSpc>
                <a:spcPts val="3719"/>
              </a:lnSpc>
              <a:spcBef>
                <a:spcPct val="0"/>
              </a:spcBef>
            </a:pPr>
            <a:r>
              <a:rPr lang="en-US" b="true" sz="3099">
                <a:solidFill>
                  <a:srgbClr val="FFFFFF"/>
                </a:solidFill>
                <a:latin typeface="Calibri (MS) Bold"/>
                <a:ea typeface="Calibri (MS) Bold"/>
                <a:cs typeface="Calibri (MS) Bold"/>
                <a:sym typeface="Calibri (MS) Bold"/>
              </a:rPr>
              <a:t>02</a:t>
            </a:r>
          </a:p>
        </p:txBody>
      </p:sp>
      <p:grpSp>
        <p:nvGrpSpPr>
          <p:cNvPr name="Group 45" id="45"/>
          <p:cNvGrpSpPr/>
          <p:nvPr/>
        </p:nvGrpSpPr>
        <p:grpSpPr>
          <a:xfrm rot="0">
            <a:off x="11311611" y="3337560"/>
            <a:ext cx="7132320" cy="2011680"/>
            <a:chOff x="0" y="0"/>
            <a:chExt cx="9509760" cy="2682240"/>
          </a:xfrm>
        </p:grpSpPr>
        <p:sp>
          <p:nvSpPr>
            <p:cNvPr name="Freeform 46" id="46"/>
            <p:cNvSpPr/>
            <p:nvPr/>
          </p:nvSpPr>
          <p:spPr>
            <a:xfrm flipH="false" flipV="false" rot="0">
              <a:off x="0" y="0"/>
              <a:ext cx="9509760" cy="2682240"/>
            </a:xfrm>
            <a:custGeom>
              <a:avLst/>
              <a:gdLst/>
              <a:ahLst/>
              <a:cxnLst/>
              <a:rect r="r" b="b" t="t" l="l"/>
              <a:pathLst>
                <a:path h="2682240" w="9509760">
                  <a:moveTo>
                    <a:pt x="0" y="0"/>
                  </a:moveTo>
                  <a:lnTo>
                    <a:pt x="9509760" y="0"/>
                  </a:lnTo>
                  <a:lnTo>
                    <a:pt x="9509760" y="2682240"/>
                  </a:lnTo>
                  <a:lnTo>
                    <a:pt x="0" y="2682240"/>
                  </a:lnTo>
                  <a:close/>
                </a:path>
              </a:pathLst>
            </a:custGeom>
            <a:blipFill>
              <a:blip r:embed="rId3">
                <a:alphaModFix amt="0"/>
              </a:blip>
              <a:stretch>
                <a:fillRect l="0" t="-19083" r="0" b="-19083"/>
              </a:stretch>
            </a:blipFill>
          </p:spPr>
        </p:sp>
        <p:sp>
          <p:nvSpPr>
            <p:cNvPr name="TextBox 47" id="47"/>
            <p:cNvSpPr txBox="true"/>
            <p:nvPr/>
          </p:nvSpPr>
          <p:spPr>
            <a:xfrm>
              <a:off x="0" y="-171450"/>
              <a:ext cx="9509760" cy="2853690"/>
            </a:xfrm>
            <a:prstGeom prst="rect">
              <a:avLst/>
            </a:prstGeom>
          </p:spPr>
          <p:txBody>
            <a:bodyPr anchor="ctr" rtlCol="false" tIns="0" lIns="0" bIns="0" rIns="0"/>
            <a:lstStyle/>
            <a:p>
              <a:pPr algn="l">
                <a:lnSpc>
                  <a:spcPts val="4367"/>
                </a:lnSpc>
              </a:pPr>
              <a:r>
                <a:rPr lang="en-US" sz="2599" b="true">
                  <a:solidFill>
                    <a:srgbClr val="64748B"/>
                  </a:solidFill>
                  <a:latin typeface="Calibri (MS) Bold"/>
                  <a:ea typeface="Calibri (MS) Bold"/>
                  <a:cs typeface="Calibri (MS) Bold"/>
                  <a:sym typeface="Calibri (MS) Bold"/>
                </a:rPr>
                <a:t>F</a:t>
              </a:r>
              <a:r>
                <a:rPr lang="en-US" sz="2599" b="true">
                  <a:solidFill>
                    <a:srgbClr val="64748B"/>
                  </a:solidFill>
                  <a:latin typeface="Calibri (MS) Bold"/>
                  <a:ea typeface="Calibri (MS) Bold"/>
                  <a:cs typeface="Calibri (MS) Bold"/>
                  <a:sym typeface="Calibri (MS) Bold"/>
                </a:rPr>
                <a:t>eatures : SupportTickets , Satisfaction Problèmes détectés : Valeurs invalides : -1, 99, 999 =&gt;Remplacement par NaN → puis médiane</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1397003"/>
            <a:chOff x="0" y="0"/>
            <a:chExt cx="24417871" cy="1862671"/>
          </a:xfrm>
        </p:grpSpPr>
        <p:sp>
          <p:nvSpPr>
            <p:cNvPr name="Freeform 3" id="3"/>
            <p:cNvSpPr/>
            <p:nvPr/>
          </p:nvSpPr>
          <p:spPr>
            <a:xfrm flipH="false" flipV="false" rot="0">
              <a:off x="16891" y="16891"/>
              <a:ext cx="24383999" cy="1828800"/>
            </a:xfrm>
            <a:custGeom>
              <a:avLst/>
              <a:gdLst/>
              <a:ahLst/>
              <a:cxnLst/>
              <a:rect r="r" b="b" t="t" l="l"/>
              <a:pathLst>
                <a:path h="1828800" w="24383999">
                  <a:moveTo>
                    <a:pt x="0" y="0"/>
                  </a:moveTo>
                  <a:lnTo>
                    <a:pt x="24383999" y="0"/>
                  </a:lnTo>
                  <a:lnTo>
                    <a:pt x="24383999" y="1828800"/>
                  </a:lnTo>
                  <a:lnTo>
                    <a:pt x="0" y="1828800"/>
                  </a:lnTo>
                  <a:close/>
                </a:path>
              </a:pathLst>
            </a:custGeom>
            <a:solidFill>
              <a:srgbClr val="1A5EAD"/>
            </a:solidFill>
          </p:spPr>
        </p:sp>
        <p:sp>
          <p:nvSpPr>
            <p:cNvPr name="Freeform 4" id="4"/>
            <p:cNvSpPr/>
            <p:nvPr/>
          </p:nvSpPr>
          <p:spPr>
            <a:xfrm flipH="false" flipV="false" rot="0">
              <a:off x="0" y="0"/>
              <a:ext cx="24417782" cy="1862582"/>
            </a:xfrm>
            <a:custGeom>
              <a:avLst/>
              <a:gdLst/>
              <a:ahLst/>
              <a:cxnLst/>
              <a:rect r="r" b="b" t="t" l="l"/>
              <a:pathLst>
                <a:path h="1862582" w="24417782">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1A5EAD"/>
            </a:solidFill>
          </p:spPr>
        </p:sp>
      </p:grpSp>
      <p:grpSp>
        <p:nvGrpSpPr>
          <p:cNvPr name="Group 5" id="5"/>
          <p:cNvGrpSpPr/>
          <p:nvPr/>
        </p:nvGrpSpPr>
        <p:grpSpPr>
          <a:xfrm rot="0">
            <a:off x="731520" y="0"/>
            <a:ext cx="16824960" cy="1371600"/>
            <a:chOff x="0" y="0"/>
            <a:chExt cx="22433280" cy="1828800"/>
          </a:xfrm>
        </p:grpSpPr>
        <p:sp>
          <p:nvSpPr>
            <p:cNvPr name="Freeform 6" id="6"/>
            <p:cNvSpPr/>
            <p:nvPr/>
          </p:nvSpPr>
          <p:spPr>
            <a:xfrm flipH="false" flipV="false" rot="0">
              <a:off x="0" y="0"/>
              <a:ext cx="22433280" cy="1828800"/>
            </a:xfrm>
            <a:custGeom>
              <a:avLst/>
              <a:gdLst/>
              <a:ahLst/>
              <a:cxnLst/>
              <a:rect r="r" b="b" t="t" l="l"/>
              <a:pathLst>
                <a:path h="1828800" w="22433280">
                  <a:moveTo>
                    <a:pt x="0" y="0"/>
                  </a:moveTo>
                  <a:lnTo>
                    <a:pt x="22433280" y="0"/>
                  </a:lnTo>
                  <a:lnTo>
                    <a:pt x="22433280" y="1828800"/>
                  </a:lnTo>
                  <a:lnTo>
                    <a:pt x="0" y="1828800"/>
                  </a:lnTo>
                  <a:close/>
                </a:path>
              </a:pathLst>
            </a:custGeom>
            <a:blipFill>
              <a:blip r:embed="rId3">
                <a:alphaModFix amt="0"/>
              </a:blip>
              <a:stretch>
                <a:fillRect l="0" t="-189016" r="0" b="-189016"/>
              </a:stretch>
            </a:blipFill>
          </p:spPr>
        </p:sp>
        <p:sp>
          <p:nvSpPr>
            <p:cNvPr name="TextBox 7" id="7"/>
            <p:cNvSpPr txBox="true"/>
            <p:nvPr/>
          </p:nvSpPr>
          <p:spPr>
            <a:xfrm>
              <a:off x="0" y="-76200"/>
              <a:ext cx="22433280" cy="190500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Preprocessing — Étapes Clés</a:t>
              </a:r>
            </a:p>
          </p:txBody>
        </p:sp>
      </p:grpSp>
      <p:grpSp>
        <p:nvGrpSpPr>
          <p:cNvPr name="Group 8" id="8"/>
          <p:cNvGrpSpPr/>
          <p:nvPr/>
        </p:nvGrpSpPr>
        <p:grpSpPr>
          <a:xfrm rot="0">
            <a:off x="731520" y="2272830"/>
            <a:ext cx="8608057" cy="4607196"/>
            <a:chOff x="0" y="0"/>
            <a:chExt cx="11477409" cy="6142929"/>
          </a:xfrm>
        </p:grpSpPr>
        <p:sp>
          <p:nvSpPr>
            <p:cNvPr name="Freeform 9" id="9"/>
            <p:cNvSpPr/>
            <p:nvPr/>
          </p:nvSpPr>
          <p:spPr>
            <a:xfrm flipH="false" flipV="false" rot="0">
              <a:off x="17232" y="23459"/>
              <a:ext cx="11442856" cy="6095887"/>
            </a:xfrm>
            <a:custGeom>
              <a:avLst/>
              <a:gdLst/>
              <a:ahLst/>
              <a:cxnLst/>
              <a:rect r="r" b="b" t="t" l="l"/>
              <a:pathLst>
                <a:path h="6095887" w="11442856">
                  <a:moveTo>
                    <a:pt x="0" y="0"/>
                  </a:moveTo>
                  <a:lnTo>
                    <a:pt x="11442855" y="0"/>
                  </a:lnTo>
                  <a:lnTo>
                    <a:pt x="11442855" y="6095887"/>
                  </a:lnTo>
                  <a:lnTo>
                    <a:pt x="0" y="6095887"/>
                  </a:lnTo>
                  <a:close/>
                </a:path>
              </a:pathLst>
            </a:custGeom>
            <a:solidFill>
              <a:srgbClr val="F1F5F9"/>
            </a:solidFill>
          </p:spPr>
        </p:sp>
        <p:sp>
          <p:nvSpPr>
            <p:cNvPr name="Freeform 10" id="10"/>
            <p:cNvSpPr/>
            <p:nvPr/>
          </p:nvSpPr>
          <p:spPr>
            <a:xfrm flipH="false" flipV="false" rot="0">
              <a:off x="0" y="0"/>
              <a:ext cx="11477318" cy="6142805"/>
            </a:xfrm>
            <a:custGeom>
              <a:avLst/>
              <a:gdLst/>
              <a:ahLst/>
              <a:cxnLst/>
              <a:rect r="r" b="b" t="t" l="l"/>
              <a:pathLst>
                <a:path h="6142805" w="11477318">
                  <a:moveTo>
                    <a:pt x="17232" y="0"/>
                  </a:moveTo>
                  <a:lnTo>
                    <a:pt x="11460087" y="0"/>
                  </a:lnTo>
                  <a:cubicBezTo>
                    <a:pt x="11469674" y="0"/>
                    <a:pt x="11477318" y="10583"/>
                    <a:pt x="11477318" y="23459"/>
                  </a:cubicBezTo>
                  <a:lnTo>
                    <a:pt x="11477318" y="6119346"/>
                  </a:lnTo>
                  <a:cubicBezTo>
                    <a:pt x="11477318" y="6132399"/>
                    <a:pt x="11469545" y="6142805"/>
                    <a:pt x="11460087" y="6142805"/>
                  </a:cubicBezTo>
                  <a:lnTo>
                    <a:pt x="17232" y="6142805"/>
                  </a:lnTo>
                  <a:cubicBezTo>
                    <a:pt x="7644" y="6142805"/>
                    <a:pt x="0" y="6132222"/>
                    <a:pt x="0" y="6119346"/>
                  </a:cubicBezTo>
                  <a:lnTo>
                    <a:pt x="0" y="23459"/>
                  </a:lnTo>
                  <a:cubicBezTo>
                    <a:pt x="0" y="10583"/>
                    <a:pt x="7774" y="0"/>
                    <a:pt x="17232" y="0"/>
                  </a:cubicBezTo>
                  <a:moveTo>
                    <a:pt x="17232" y="47095"/>
                  </a:moveTo>
                  <a:lnTo>
                    <a:pt x="17232" y="23459"/>
                  </a:lnTo>
                  <a:lnTo>
                    <a:pt x="34593" y="23459"/>
                  </a:lnTo>
                  <a:lnTo>
                    <a:pt x="34593" y="6119346"/>
                  </a:lnTo>
                  <a:lnTo>
                    <a:pt x="17232" y="6119346"/>
                  </a:lnTo>
                  <a:lnTo>
                    <a:pt x="17232" y="6095887"/>
                  </a:lnTo>
                  <a:lnTo>
                    <a:pt x="11460087" y="6095887"/>
                  </a:lnTo>
                  <a:lnTo>
                    <a:pt x="11460087" y="6119346"/>
                  </a:lnTo>
                  <a:lnTo>
                    <a:pt x="11442855" y="6119346"/>
                  </a:lnTo>
                  <a:lnTo>
                    <a:pt x="11442855" y="23459"/>
                  </a:lnTo>
                  <a:lnTo>
                    <a:pt x="11460087" y="23459"/>
                  </a:lnTo>
                  <a:lnTo>
                    <a:pt x="11460087" y="47095"/>
                  </a:lnTo>
                  <a:lnTo>
                    <a:pt x="17232" y="47095"/>
                  </a:lnTo>
                  <a:close/>
                </a:path>
              </a:pathLst>
            </a:custGeom>
            <a:solidFill>
              <a:srgbClr val="EBF3FF"/>
            </a:solidFill>
          </p:spPr>
        </p:sp>
      </p:grpSp>
      <p:grpSp>
        <p:nvGrpSpPr>
          <p:cNvPr name="Group 11" id="11"/>
          <p:cNvGrpSpPr/>
          <p:nvPr/>
        </p:nvGrpSpPr>
        <p:grpSpPr>
          <a:xfrm rot="0">
            <a:off x="806296" y="2272830"/>
            <a:ext cx="939803" cy="4607196"/>
            <a:chOff x="0" y="0"/>
            <a:chExt cx="1253071" cy="6142929"/>
          </a:xfrm>
        </p:grpSpPr>
        <p:sp>
          <p:nvSpPr>
            <p:cNvPr name="Freeform 12" id="12"/>
            <p:cNvSpPr/>
            <p:nvPr/>
          </p:nvSpPr>
          <p:spPr>
            <a:xfrm flipH="false" flipV="false" rot="0">
              <a:off x="16891" y="23459"/>
              <a:ext cx="1219200" cy="6095887"/>
            </a:xfrm>
            <a:custGeom>
              <a:avLst/>
              <a:gdLst/>
              <a:ahLst/>
              <a:cxnLst/>
              <a:rect r="r" b="b" t="t" l="l"/>
              <a:pathLst>
                <a:path h="6095887" w="1219200">
                  <a:moveTo>
                    <a:pt x="0" y="0"/>
                  </a:moveTo>
                  <a:lnTo>
                    <a:pt x="1219200" y="0"/>
                  </a:lnTo>
                  <a:lnTo>
                    <a:pt x="1219200" y="6095887"/>
                  </a:lnTo>
                  <a:lnTo>
                    <a:pt x="0" y="6095887"/>
                  </a:lnTo>
                  <a:close/>
                </a:path>
              </a:pathLst>
            </a:custGeom>
            <a:solidFill>
              <a:srgbClr val="1A5EAD"/>
            </a:solidFill>
          </p:spPr>
        </p:sp>
        <p:sp>
          <p:nvSpPr>
            <p:cNvPr name="Freeform 13" id="13"/>
            <p:cNvSpPr/>
            <p:nvPr/>
          </p:nvSpPr>
          <p:spPr>
            <a:xfrm flipH="false" flipV="false" rot="0">
              <a:off x="0" y="0"/>
              <a:ext cx="1252982" cy="6142805"/>
            </a:xfrm>
            <a:custGeom>
              <a:avLst/>
              <a:gdLst/>
              <a:ahLst/>
              <a:cxnLst/>
              <a:rect r="r" b="b" t="t" l="l"/>
              <a:pathLst>
                <a:path h="6142805" w="1252982">
                  <a:moveTo>
                    <a:pt x="16891" y="0"/>
                  </a:moveTo>
                  <a:lnTo>
                    <a:pt x="1236091" y="0"/>
                  </a:lnTo>
                  <a:cubicBezTo>
                    <a:pt x="1245489" y="0"/>
                    <a:pt x="1252982" y="10583"/>
                    <a:pt x="1252982" y="23459"/>
                  </a:cubicBezTo>
                  <a:lnTo>
                    <a:pt x="1252982" y="6119346"/>
                  </a:lnTo>
                  <a:cubicBezTo>
                    <a:pt x="1252982" y="6132399"/>
                    <a:pt x="1245362" y="6142805"/>
                    <a:pt x="1236091" y="6142805"/>
                  </a:cubicBezTo>
                  <a:lnTo>
                    <a:pt x="16891" y="6142805"/>
                  </a:lnTo>
                  <a:cubicBezTo>
                    <a:pt x="7493" y="6142805"/>
                    <a:pt x="0" y="6132222"/>
                    <a:pt x="0" y="6119346"/>
                  </a:cubicBezTo>
                  <a:lnTo>
                    <a:pt x="0" y="23459"/>
                  </a:lnTo>
                  <a:cubicBezTo>
                    <a:pt x="0" y="10583"/>
                    <a:pt x="7620" y="0"/>
                    <a:pt x="16891" y="0"/>
                  </a:cubicBezTo>
                  <a:moveTo>
                    <a:pt x="16891" y="47095"/>
                  </a:moveTo>
                  <a:lnTo>
                    <a:pt x="16891" y="23459"/>
                  </a:lnTo>
                  <a:lnTo>
                    <a:pt x="33909" y="23459"/>
                  </a:lnTo>
                  <a:lnTo>
                    <a:pt x="33909" y="6119346"/>
                  </a:lnTo>
                  <a:lnTo>
                    <a:pt x="16891" y="6119346"/>
                  </a:lnTo>
                  <a:lnTo>
                    <a:pt x="16891" y="6095887"/>
                  </a:lnTo>
                  <a:lnTo>
                    <a:pt x="1236091" y="6095887"/>
                  </a:lnTo>
                  <a:lnTo>
                    <a:pt x="1236091" y="6119346"/>
                  </a:lnTo>
                  <a:lnTo>
                    <a:pt x="1219200" y="6119346"/>
                  </a:lnTo>
                  <a:lnTo>
                    <a:pt x="1219200" y="23459"/>
                  </a:lnTo>
                  <a:lnTo>
                    <a:pt x="1236091" y="23459"/>
                  </a:lnTo>
                  <a:lnTo>
                    <a:pt x="1236091" y="47095"/>
                  </a:lnTo>
                  <a:lnTo>
                    <a:pt x="16891" y="47095"/>
                  </a:lnTo>
                  <a:close/>
                </a:path>
              </a:pathLst>
            </a:custGeom>
            <a:solidFill>
              <a:srgbClr val="1A5EAD"/>
            </a:solidFill>
          </p:spPr>
        </p:sp>
      </p:grpSp>
      <p:grpSp>
        <p:nvGrpSpPr>
          <p:cNvPr name="Group 14" id="14"/>
          <p:cNvGrpSpPr/>
          <p:nvPr/>
        </p:nvGrpSpPr>
        <p:grpSpPr>
          <a:xfrm rot="0">
            <a:off x="1746099" y="2382321"/>
            <a:ext cx="7132320" cy="822960"/>
            <a:chOff x="0" y="0"/>
            <a:chExt cx="9509760" cy="1097280"/>
          </a:xfrm>
        </p:grpSpPr>
        <p:sp>
          <p:nvSpPr>
            <p:cNvPr name="Freeform 15" id="15"/>
            <p:cNvSpPr/>
            <p:nvPr/>
          </p:nvSpPr>
          <p:spPr>
            <a:xfrm flipH="false" flipV="false" rot="0">
              <a:off x="0" y="0"/>
              <a:ext cx="9509760" cy="1097280"/>
            </a:xfrm>
            <a:custGeom>
              <a:avLst/>
              <a:gdLst/>
              <a:ahLst/>
              <a:cxnLst/>
              <a:rect r="r" b="b" t="t" l="l"/>
              <a:pathLst>
                <a:path h="1097280" w="9509760">
                  <a:moveTo>
                    <a:pt x="0" y="0"/>
                  </a:moveTo>
                  <a:lnTo>
                    <a:pt x="9509760" y="0"/>
                  </a:lnTo>
                  <a:lnTo>
                    <a:pt x="9509760" y="1097280"/>
                  </a:lnTo>
                  <a:lnTo>
                    <a:pt x="0" y="1097280"/>
                  </a:lnTo>
                  <a:close/>
                </a:path>
              </a:pathLst>
            </a:custGeom>
            <a:blipFill>
              <a:blip r:embed="rId3">
                <a:alphaModFix amt="0"/>
              </a:blip>
              <a:stretch>
                <a:fillRect l="0" t="-118870" r="0" b="-118870"/>
              </a:stretch>
            </a:blipFill>
          </p:spPr>
        </p:sp>
        <p:sp>
          <p:nvSpPr>
            <p:cNvPr name="TextBox 16" id="16"/>
            <p:cNvSpPr txBox="true"/>
            <p:nvPr/>
          </p:nvSpPr>
          <p:spPr>
            <a:xfrm>
              <a:off x="0" y="-38100"/>
              <a:ext cx="9509760" cy="1135380"/>
            </a:xfrm>
            <a:prstGeom prst="rect">
              <a:avLst/>
            </a:prstGeom>
          </p:spPr>
          <p:txBody>
            <a:bodyPr anchor="ctr" rtlCol="false" tIns="0" lIns="0" bIns="0" rIns="0"/>
            <a:lstStyle/>
            <a:p>
              <a:pPr algn="l">
                <a:lnSpc>
                  <a:spcPts val="2879"/>
                </a:lnSpc>
              </a:pPr>
              <a:r>
                <a:rPr lang="en-US" sz="2400" b="true">
                  <a:solidFill>
                    <a:srgbClr val="0D1B3E"/>
                  </a:solidFill>
                  <a:latin typeface="Calibri (MS) Bold"/>
                  <a:ea typeface="Calibri (MS) Bold"/>
                  <a:cs typeface="Calibri (MS) Bold"/>
                  <a:sym typeface="Calibri (MS) Bold"/>
                </a:rPr>
                <a:t> Parsing des dates</a:t>
              </a:r>
            </a:p>
          </p:txBody>
        </p:sp>
      </p:grpSp>
      <p:grpSp>
        <p:nvGrpSpPr>
          <p:cNvPr name="Group 17" id="17"/>
          <p:cNvGrpSpPr/>
          <p:nvPr/>
        </p:nvGrpSpPr>
        <p:grpSpPr>
          <a:xfrm rot="0">
            <a:off x="2011680" y="3260454"/>
            <a:ext cx="7132320" cy="2011680"/>
            <a:chOff x="0" y="0"/>
            <a:chExt cx="9509760" cy="2682240"/>
          </a:xfrm>
        </p:grpSpPr>
        <p:sp>
          <p:nvSpPr>
            <p:cNvPr name="Freeform 18" id="18"/>
            <p:cNvSpPr/>
            <p:nvPr/>
          </p:nvSpPr>
          <p:spPr>
            <a:xfrm flipH="false" flipV="false" rot="0">
              <a:off x="0" y="0"/>
              <a:ext cx="9509760" cy="2682240"/>
            </a:xfrm>
            <a:custGeom>
              <a:avLst/>
              <a:gdLst/>
              <a:ahLst/>
              <a:cxnLst/>
              <a:rect r="r" b="b" t="t" l="l"/>
              <a:pathLst>
                <a:path h="2682240" w="9509760">
                  <a:moveTo>
                    <a:pt x="0" y="0"/>
                  </a:moveTo>
                  <a:lnTo>
                    <a:pt x="9509760" y="0"/>
                  </a:lnTo>
                  <a:lnTo>
                    <a:pt x="9509760" y="2682240"/>
                  </a:lnTo>
                  <a:lnTo>
                    <a:pt x="0" y="2682240"/>
                  </a:lnTo>
                  <a:close/>
                </a:path>
              </a:pathLst>
            </a:custGeom>
            <a:blipFill>
              <a:blip r:embed="rId3">
                <a:alphaModFix amt="0"/>
              </a:blip>
              <a:stretch>
                <a:fillRect l="0" t="-19083" r="0" b="-19083"/>
              </a:stretch>
            </a:blipFill>
          </p:spPr>
        </p:sp>
        <p:sp>
          <p:nvSpPr>
            <p:cNvPr name="TextBox 19" id="19"/>
            <p:cNvSpPr txBox="true"/>
            <p:nvPr/>
          </p:nvSpPr>
          <p:spPr>
            <a:xfrm>
              <a:off x="0" y="-161925"/>
              <a:ext cx="9509760" cy="2844165"/>
            </a:xfrm>
            <a:prstGeom prst="rect">
              <a:avLst/>
            </a:prstGeom>
          </p:spPr>
          <p:txBody>
            <a:bodyPr anchor="ctr" rtlCol="false" tIns="0" lIns="0" bIns="0" rIns="0"/>
            <a:lstStyle/>
            <a:p>
              <a:pPr algn="l">
                <a:lnSpc>
                  <a:spcPts val="4199"/>
                </a:lnSpc>
              </a:pPr>
              <a:r>
                <a:rPr lang="en-US" sz="2499" b="true">
                  <a:solidFill>
                    <a:srgbClr val="64748B"/>
                  </a:solidFill>
                  <a:latin typeface="Calibri (MS) Bold"/>
                  <a:ea typeface="Calibri (MS) Bold"/>
                  <a:cs typeface="Calibri (MS) Bold"/>
                  <a:sym typeface="Calibri (MS) Bold"/>
                </a:rPr>
                <a:t>Feature : RegistrationDate et LastLoginIP Problème : Formats multiples ("12/03/10", "2010-03-12") =&gt; Extraction : Year ,Month ,Day ,Weekday</a:t>
              </a:r>
            </a:p>
          </p:txBody>
        </p:sp>
      </p:grpSp>
      <p:sp>
        <p:nvSpPr>
          <p:cNvPr name="TextBox 20" id="20"/>
          <p:cNvSpPr txBox="true"/>
          <p:nvPr/>
        </p:nvSpPr>
        <p:spPr>
          <a:xfrm rot="0">
            <a:off x="1028700" y="3732894"/>
            <a:ext cx="399098" cy="533400"/>
          </a:xfrm>
          <a:prstGeom prst="rect">
            <a:avLst/>
          </a:prstGeom>
        </p:spPr>
        <p:txBody>
          <a:bodyPr anchor="t" rtlCol="false" tIns="0" lIns="0" bIns="0" rIns="0">
            <a:spAutoFit/>
          </a:bodyPr>
          <a:lstStyle/>
          <a:p>
            <a:pPr algn="ctr">
              <a:lnSpc>
                <a:spcPts val="3719"/>
              </a:lnSpc>
              <a:spcBef>
                <a:spcPct val="0"/>
              </a:spcBef>
            </a:pPr>
            <a:r>
              <a:rPr lang="en-US" b="true" sz="3099">
                <a:solidFill>
                  <a:srgbClr val="FFFFFF"/>
                </a:solidFill>
                <a:latin typeface="Calibri (MS) Bold"/>
                <a:ea typeface="Calibri (MS) Bold"/>
                <a:cs typeface="Calibri (MS) Bold"/>
                <a:sym typeface="Calibri (MS) Bold"/>
              </a:rPr>
              <a:t>03</a:t>
            </a:r>
          </a:p>
        </p:txBody>
      </p:sp>
      <p:grpSp>
        <p:nvGrpSpPr>
          <p:cNvPr name="Group 21" id="21"/>
          <p:cNvGrpSpPr/>
          <p:nvPr/>
        </p:nvGrpSpPr>
        <p:grpSpPr>
          <a:xfrm rot="0">
            <a:off x="9920602" y="2382321"/>
            <a:ext cx="8184069" cy="4497705"/>
            <a:chOff x="0" y="0"/>
            <a:chExt cx="10912092" cy="5996940"/>
          </a:xfrm>
        </p:grpSpPr>
        <p:sp>
          <p:nvSpPr>
            <p:cNvPr name="Freeform 22" id="22"/>
            <p:cNvSpPr/>
            <p:nvPr/>
          </p:nvSpPr>
          <p:spPr>
            <a:xfrm flipH="false" flipV="false" rot="0">
              <a:off x="16383" y="22902"/>
              <a:ext cx="10879240" cy="5951016"/>
            </a:xfrm>
            <a:custGeom>
              <a:avLst/>
              <a:gdLst/>
              <a:ahLst/>
              <a:cxnLst/>
              <a:rect r="r" b="b" t="t" l="l"/>
              <a:pathLst>
                <a:path h="5951016" w="10879240">
                  <a:moveTo>
                    <a:pt x="0" y="0"/>
                  </a:moveTo>
                  <a:lnTo>
                    <a:pt x="10879240" y="0"/>
                  </a:lnTo>
                  <a:lnTo>
                    <a:pt x="10879240" y="5951016"/>
                  </a:lnTo>
                  <a:lnTo>
                    <a:pt x="0" y="5951016"/>
                  </a:lnTo>
                  <a:close/>
                </a:path>
              </a:pathLst>
            </a:custGeom>
            <a:solidFill>
              <a:srgbClr val="F1F5F9"/>
            </a:solidFill>
          </p:spPr>
        </p:sp>
        <p:sp>
          <p:nvSpPr>
            <p:cNvPr name="Freeform 23" id="23"/>
            <p:cNvSpPr/>
            <p:nvPr/>
          </p:nvSpPr>
          <p:spPr>
            <a:xfrm flipH="false" flipV="false" rot="0">
              <a:off x="0" y="0"/>
              <a:ext cx="10912006" cy="5996820"/>
            </a:xfrm>
            <a:custGeom>
              <a:avLst/>
              <a:gdLst/>
              <a:ahLst/>
              <a:cxnLst/>
              <a:rect r="r" b="b" t="t" l="l"/>
              <a:pathLst>
                <a:path h="5996820" w="10912006">
                  <a:moveTo>
                    <a:pt x="16383" y="0"/>
                  </a:moveTo>
                  <a:lnTo>
                    <a:pt x="10895623" y="0"/>
                  </a:lnTo>
                  <a:cubicBezTo>
                    <a:pt x="10904739" y="0"/>
                    <a:pt x="10912006" y="10332"/>
                    <a:pt x="10912006" y="22902"/>
                  </a:cubicBezTo>
                  <a:lnTo>
                    <a:pt x="10912006" y="5973918"/>
                  </a:lnTo>
                  <a:cubicBezTo>
                    <a:pt x="10912006" y="5986660"/>
                    <a:pt x="10904615" y="5996820"/>
                    <a:pt x="10895623" y="5996820"/>
                  </a:cubicBezTo>
                  <a:lnTo>
                    <a:pt x="16383" y="5996820"/>
                  </a:lnTo>
                  <a:cubicBezTo>
                    <a:pt x="7268" y="5996820"/>
                    <a:pt x="0" y="5986488"/>
                    <a:pt x="0" y="5973918"/>
                  </a:cubicBezTo>
                  <a:lnTo>
                    <a:pt x="0" y="22902"/>
                  </a:lnTo>
                  <a:cubicBezTo>
                    <a:pt x="0" y="10332"/>
                    <a:pt x="7391" y="0"/>
                    <a:pt x="16383" y="0"/>
                  </a:cubicBezTo>
                  <a:moveTo>
                    <a:pt x="16383" y="45976"/>
                  </a:moveTo>
                  <a:lnTo>
                    <a:pt x="16383" y="22902"/>
                  </a:lnTo>
                  <a:lnTo>
                    <a:pt x="32889" y="22902"/>
                  </a:lnTo>
                  <a:lnTo>
                    <a:pt x="32889" y="5973918"/>
                  </a:lnTo>
                  <a:lnTo>
                    <a:pt x="16383" y="5973918"/>
                  </a:lnTo>
                  <a:lnTo>
                    <a:pt x="16383" y="5951016"/>
                  </a:lnTo>
                  <a:lnTo>
                    <a:pt x="10895623" y="5951016"/>
                  </a:lnTo>
                  <a:lnTo>
                    <a:pt x="10895623" y="5973918"/>
                  </a:lnTo>
                  <a:lnTo>
                    <a:pt x="10879241" y="5973918"/>
                  </a:lnTo>
                  <a:lnTo>
                    <a:pt x="10879241" y="22902"/>
                  </a:lnTo>
                  <a:lnTo>
                    <a:pt x="10895623" y="22902"/>
                  </a:lnTo>
                  <a:lnTo>
                    <a:pt x="10895623" y="45976"/>
                  </a:lnTo>
                  <a:lnTo>
                    <a:pt x="16383" y="45976"/>
                  </a:lnTo>
                  <a:close/>
                </a:path>
              </a:pathLst>
            </a:custGeom>
            <a:solidFill>
              <a:srgbClr val="EBF3FF"/>
            </a:solidFill>
          </p:spPr>
        </p:sp>
      </p:grpSp>
      <p:grpSp>
        <p:nvGrpSpPr>
          <p:cNvPr name="Group 24" id="24"/>
          <p:cNvGrpSpPr/>
          <p:nvPr/>
        </p:nvGrpSpPr>
        <p:grpSpPr>
          <a:xfrm rot="0">
            <a:off x="9920602" y="2382321"/>
            <a:ext cx="939803" cy="4497705"/>
            <a:chOff x="0" y="0"/>
            <a:chExt cx="1253071" cy="5996940"/>
          </a:xfrm>
        </p:grpSpPr>
        <p:sp>
          <p:nvSpPr>
            <p:cNvPr name="Freeform 25" id="25"/>
            <p:cNvSpPr/>
            <p:nvPr/>
          </p:nvSpPr>
          <p:spPr>
            <a:xfrm flipH="false" flipV="false" rot="0">
              <a:off x="16891" y="22902"/>
              <a:ext cx="1219200" cy="5951016"/>
            </a:xfrm>
            <a:custGeom>
              <a:avLst/>
              <a:gdLst/>
              <a:ahLst/>
              <a:cxnLst/>
              <a:rect r="r" b="b" t="t" l="l"/>
              <a:pathLst>
                <a:path h="5951016" w="1219200">
                  <a:moveTo>
                    <a:pt x="0" y="0"/>
                  </a:moveTo>
                  <a:lnTo>
                    <a:pt x="1219200" y="0"/>
                  </a:lnTo>
                  <a:lnTo>
                    <a:pt x="1219200" y="5951016"/>
                  </a:lnTo>
                  <a:lnTo>
                    <a:pt x="0" y="5951016"/>
                  </a:lnTo>
                  <a:close/>
                </a:path>
              </a:pathLst>
            </a:custGeom>
            <a:solidFill>
              <a:srgbClr val="1A5EAD"/>
            </a:solidFill>
          </p:spPr>
        </p:sp>
        <p:sp>
          <p:nvSpPr>
            <p:cNvPr name="Freeform 26" id="26"/>
            <p:cNvSpPr/>
            <p:nvPr/>
          </p:nvSpPr>
          <p:spPr>
            <a:xfrm flipH="false" flipV="false" rot="0">
              <a:off x="0" y="0"/>
              <a:ext cx="1252982" cy="5996820"/>
            </a:xfrm>
            <a:custGeom>
              <a:avLst/>
              <a:gdLst/>
              <a:ahLst/>
              <a:cxnLst/>
              <a:rect r="r" b="b" t="t" l="l"/>
              <a:pathLst>
                <a:path h="5996820" w="1252982">
                  <a:moveTo>
                    <a:pt x="16891" y="0"/>
                  </a:moveTo>
                  <a:lnTo>
                    <a:pt x="1236091" y="0"/>
                  </a:lnTo>
                  <a:cubicBezTo>
                    <a:pt x="1245489" y="0"/>
                    <a:pt x="1252982" y="10332"/>
                    <a:pt x="1252982" y="22902"/>
                  </a:cubicBezTo>
                  <a:lnTo>
                    <a:pt x="1252982" y="5973918"/>
                  </a:lnTo>
                  <a:cubicBezTo>
                    <a:pt x="1252982" y="5986660"/>
                    <a:pt x="1245362" y="5996820"/>
                    <a:pt x="1236091" y="5996820"/>
                  </a:cubicBezTo>
                  <a:lnTo>
                    <a:pt x="16891" y="5996820"/>
                  </a:lnTo>
                  <a:cubicBezTo>
                    <a:pt x="7493" y="5996820"/>
                    <a:pt x="0" y="5986488"/>
                    <a:pt x="0" y="5973918"/>
                  </a:cubicBezTo>
                  <a:lnTo>
                    <a:pt x="0" y="22902"/>
                  </a:lnTo>
                  <a:cubicBezTo>
                    <a:pt x="0" y="10332"/>
                    <a:pt x="7620" y="0"/>
                    <a:pt x="16891" y="0"/>
                  </a:cubicBezTo>
                  <a:moveTo>
                    <a:pt x="16891" y="45976"/>
                  </a:moveTo>
                  <a:lnTo>
                    <a:pt x="16891" y="22902"/>
                  </a:lnTo>
                  <a:lnTo>
                    <a:pt x="33909" y="22902"/>
                  </a:lnTo>
                  <a:lnTo>
                    <a:pt x="33909" y="5973918"/>
                  </a:lnTo>
                  <a:lnTo>
                    <a:pt x="16891" y="5973918"/>
                  </a:lnTo>
                  <a:lnTo>
                    <a:pt x="16891" y="5951016"/>
                  </a:lnTo>
                  <a:lnTo>
                    <a:pt x="1236091" y="5951016"/>
                  </a:lnTo>
                  <a:lnTo>
                    <a:pt x="1236091" y="5973918"/>
                  </a:lnTo>
                  <a:lnTo>
                    <a:pt x="1219200" y="5973918"/>
                  </a:lnTo>
                  <a:lnTo>
                    <a:pt x="1219200" y="22902"/>
                  </a:lnTo>
                  <a:lnTo>
                    <a:pt x="1236091" y="22902"/>
                  </a:lnTo>
                  <a:lnTo>
                    <a:pt x="1236091" y="45976"/>
                  </a:lnTo>
                  <a:lnTo>
                    <a:pt x="16891" y="45976"/>
                  </a:lnTo>
                  <a:close/>
                </a:path>
              </a:pathLst>
            </a:custGeom>
            <a:solidFill>
              <a:srgbClr val="1A5EAD"/>
            </a:solidFill>
          </p:spPr>
        </p:sp>
      </p:grpSp>
      <p:sp>
        <p:nvSpPr>
          <p:cNvPr name="TextBox 27" id="27"/>
          <p:cNvSpPr txBox="true"/>
          <p:nvPr/>
        </p:nvSpPr>
        <p:spPr>
          <a:xfrm rot="0">
            <a:off x="10190955" y="3966256"/>
            <a:ext cx="399098" cy="533400"/>
          </a:xfrm>
          <a:prstGeom prst="rect">
            <a:avLst/>
          </a:prstGeom>
        </p:spPr>
        <p:txBody>
          <a:bodyPr anchor="t" rtlCol="false" tIns="0" lIns="0" bIns="0" rIns="0">
            <a:spAutoFit/>
          </a:bodyPr>
          <a:lstStyle/>
          <a:p>
            <a:pPr algn="ctr">
              <a:lnSpc>
                <a:spcPts val="3719"/>
              </a:lnSpc>
              <a:spcBef>
                <a:spcPct val="0"/>
              </a:spcBef>
            </a:pPr>
            <a:r>
              <a:rPr lang="en-US" b="true" sz="3099">
                <a:solidFill>
                  <a:srgbClr val="FFFFFF"/>
                </a:solidFill>
                <a:latin typeface="Calibri (MS) Bold"/>
                <a:ea typeface="Calibri (MS) Bold"/>
                <a:cs typeface="Calibri (MS) Bold"/>
                <a:sym typeface="Calibri (MS) Bold"/>
              </a:rPr>
              <a:t>04</a:t>
            </a:r>
          </a:p>
        </p:txBody>
      </p:sp>
      <p:sp>
        <p:nvSpPr>
          <p:cNvPr name="TextBox 28" id="28"/>
          <p:cNvSpPr txBox="true"/>
          <p:nvPr/>
        </p:nvSpPr>
        <p:spPr>
          <a:xfrm rot="0">
            <a:off x="11139811" y="3052763"/>
            <a:ext cx="7160895" cy="4133850"/>
          </a:xfrm>
          <a:prstGeom prst="rect">
            <a:avLst/>
          </a:prstGeom>
        </p:spPr>
        <p:txBody>
          <a:bodyPr anchor="t" rtlCol="false" tIns="0" lIns="0" bIns="0" rIns="0">
            <a:spAutoFit/>
          </a:bodyPr>
          <a:lstStyle/>
          <a:p>
            <a:pPr algn="l">
              <a:lnSpc>
                <a:spcPts val="2999"/>
              </a:lnSpc>
            </a:pPr>
            <a:r>
              <a:rPr lang="en-US" sz="2499" b="true">
                <a:solidFill>
                  <a:srgbClr val="64748B"/>
                </a:solidFill>
                <a:latin typeface="Calibri (MS) Bold"/>
                <a:ea typeface="Calibri (MS) Bold"/>
                <a:cs typeface="Calibri (MS) Bold"/>
                <a:sym typeface="Calibri (MS) Bold"/>
              </a:rPr>
              <a:t>1. Comportement d’achat MonetaryPerDay :</a:t>
            </a:r>
            <a:r>
              <a:rPr lang="en-US" sz="2499" b="true">
                <a:solidFill>
                  <a:srgbClr val="64748B"/>
                </a:solidFill>
                <a:latin typeface="Calibri (MS) Bold"/>
                <a:ea typeface="Calibri (MS) Bold"/>
                <a:cs typeface="Calibri (MS) Bold"/>
                <a:sym typeface="Calibri (MS) Bold"/>
              </a:rPr>
              <a:t> </a:t>
            </a:r>
          </a:p>
          <a:p>
            <a:pPr algn="l">
              <a:lnSpc>
                <a:spcPts val="2999"/>
              </a:lnSpc>
            </a:pPr>
            <a:r>
              <a:rPr lang="en-US" sz="2499" b="true">
                <a:solidFill>
                  <a:srgbClr val="64748B"/>
                </a:solidFill>
                <a:latin typeface="Calibri (MS) Bold"/>
                <a:ea typeface="Calibri (MS) Bold"/>
                <a:cs typeface="Calibri (MS) Bold"/>
                <a:sym typeface="Calibri (MS) Bold"/>
              </a:rPr>
              <a:t>Mesure l’intensité d’achat </a:t>
            </a:r>
          </a:p>
          <a:p>
            <a:pPr algn="l">
              <a:lnSpc>
                <a:spcPts val="2999"/>
              </a:lnSpc>
            </a:pPr>
            <a:r>
              <a:rPr lang="en-US" sz="2499" b="true">
                <a:solidFill>
                  <a:srgbClr val="64748B"/>
                </a:solidFill>
                <a:latin typeface="Calibri (MS) Bold"/>
                <a:ea typeface="Calibri (MS) Bold"/>
                <a:cs typeface="Calibri (MS) Bold"/>
                <a:sym typeface="Calibri (MS) Bold"/>
              </a:rPr>
              <a:t>2. Valeur panier moyen AvgBasketValue : </a:t>
            </a:r>
          </a:p>
          <a:p>
            <a:pPr algn="l">
              <a:lnSpc>
                <a:spcPts val="2999"/>
              </a:lnSpc>
            </a:pPr>
            <a:r>
              <a:rPr lang="en-US" sz="2499" b="true">
                <a:solidFill>
                  <a:srgbClr val="64748B"/>
                </a:solidFill>
                <a:latin typeface="Calibri (MS) Bold"/>
                <a:ea typeface="Calibri (MS) Bold"/>
                <a:cs typeface="Calibri (MS) Bold"/>
                <a:sym typeface="Calibri (MS) Bold"/>
              </a:rPr>
              <a:t>taille moyenne du panier =&gt; client VIP vs petit client </a:t>
            </a:r>
          </a:p>
          <a:p>
            <a:pPr algn="l">
              <a:lnSpc>
                <a:spcPts val="2999"/>
              </a:lnSpc>
            </a:pPr>
            <a:r>
              <a:rPr lang="en-US" sz="2499" b="true">
                <a:solidFill>
                  <a:srgbClr val="64748B"/>
                </a:solidFill>
                <a:latin typeface="Calibri (MS) Bold"/>
                <a:ea typeface="Calibri (MS) Bold"/>
                <a:cs typeface="Calibri (MS) Bold"/>
                <a:sym typeface="Calibri (MS) Bold"/>
              </a:rPr>
              <a:t>3. Fidélité client TenureRatio :</a:t>
            </a:r>
          </a:p>
          <a:p>
            <a:pPr algn="l">
              <a:lnSpc>
                <a:spcPts val="2999"/>
              </a:lnSpc>
            </a:pPr>
            <a:r>
              <a:rPr lang="en-US" sz="2499" b="true">
                <a:solidFill>
                  <a:srgbClr val="64748B"/>
                </a:solidFill>
                <a:latin typeface="Calibri (MS) Bold"/>
                <a:ea typeface="Calibri (MS) Bold"/>
                <a:cs typeface="Calibri (MS) Bold"/>
                <a:sym typeface="Calibri (MS) Bold"/>
              </a:rPr>
              <a:t> compare ancienneté vs activité récente =&gt; détecter churn </a:t>
            </a:r>
          </a:p>
          <a:p>
            <a:pPr algn="l">
              <a:lnSpc>
                <a:spcPts val="2999"/>
              </a:lnSpc>
            </a:pPr>
            <a:r>
              <a:rPr lang="en-US" sz="2499" b="true">
                <a:solidFill>
                  <a:srgbClr val="64748B"/>
                </a:solidFill>
                <a:latin typeface="Calibri (MS) Bold"/>
                <a:ea typeface="Calibri (MS) Bold"/>
                <a:cs typeface="Calibri (MS) Bold"/>
                <a:sym typeface="Calibri (MS) Bold"/>
              </a:rPr>
              <a:t>4.fréquence d’achat purchaseintensity : </a:t>
            </a:r>
          </a:p>
          <a:p>
            <a:pPr algn="l">
              <a:lnSpc>
                <a:spcPts val="2999"/>
              </a:lnSpc>
            </a:pPr>
            <a:r>
              <a:rPr lang="en-US" sz="2499" b="true">
                <a:solidFill>
                  <a:srgbClr val="64748B"/>
                </a:solidFill>
                <a:latin typeface="Calibri (MS) Bold"/>
                <a:ea typeface="Calibri (MS) Bold"/>
                <a:cs typeface="Calibri (MS) Bold"/>
                <a:sym typeface="Calibri (MS) Bold"/>
              </a:rPr>
              <a:t>fréquence d’achat dans le temps =&gt; client fidèle ou pas </a:t>
            </a:r>
          </a:p>
          <a:p>
            <a:pPr algn="ctr">
              <a:lnSpc>
                <a:spcPts val="2999"/>
              </a:lnSpc>
              <a:spcBef>
                <a:spcPct val="0"/>
              </a:spcBef>
            </a:pPr>
          </a:p>
        </p:txBody>
      </p:sp>
      <p:grpSp>
        <p:nvGrpSpPr>
          <p:cNvPr name="Group 29" id="29"/>
          <p:cNvGrpSpPr/>
          <p:nvPr/>
        </p:nvGrpSpPr>
        <p:grpSpPr>
          <a:xfrm rot="0">
            <a:off x="4322955" y="7116974"/>
            <a:ext cx="8387205" cy="2999304"/>
            <a:chOff x="0" y="0"/>
            <a:chExt cx="14377589" cy="5141493"/>
          </a:xfrm>
        </p:grpSpPr>
        <p:sp>
          <p:nvSpPr>
            <p:cNvPr name="Freeform 30" id="30"/>
            <p:cNvSpPr/>
            <p:nvPr/>
          </p:nvSpPr>
          <p:spPr>
            <a:xfrm flipH="false" flipV="false" rot="0">
              <a:off x="21586" y="19635"/>
              <a:ext cx="14334304" cy="5102119"/>
            </a:xfrm>
            <a:custGeom>
              <a:avLst/>
              <a:gdLst/>
              <a:ahLst/>
              <a:cxnLst/>
              <a:rect r="r" b="b" t="t" l="l"/>
              <a:pathLst>
                <a:path h="5102119" w="14334304">
                  <a:moveTo>
                    <a:pt x="0" y="0"/>
                  </a:moveTo>
                  <a:lnTo>
                    <a:pt x="14334304" y="0"/>
                  </a:lnTo>
                  <a:lnTo>
                    <a:pt x="14334304" y="5102119"/>
                  </a:lnTo>
                  <a:lnTo>
                    <a:pt x="0" y="5102119"/>
                  </a:lnTo>
                  <a:close/>
                </a:path>
              </a:pathLst>
            </a:custGeom>
            <a:solidFill>
              <a:srgbClr val="F1F5F9"/>
            </a:solidFill>
          </p:spPr>
        </p:sp>
        <p:sp>
          <p:nvSpPr>
            <p:cNvPr name="Freeform 31" id="31"/>
            <p:cNvSpPr/>
            <p:nvPr/>
          </p:nvSpPr>
          <p:spPr>
            <a:xfrm flipH="false" flipV="false" rot="0">
              <a:off x="0" y="0"/>
              <a:ext cx="14377474" cy="5141389"/>
            </a:xfrm>
            <a:custGeom>
              <a:avLst/>
              <a:gdLst/>
              <a:ahLst/>
              <a:cxnLst/>
              <a:rect r="r" b="b" t="t" l="l"/>
              <a:pathLst>
                <a:path h="5141389" w="14377474">
                  <a:moveTo>
                    <a:pt x="21586" y="0"/>
                  </a:moveTo>
                  <a:lnTo>
                    <a:pt x="14355890" y="0"/>
                  </a:lnTo>
                  <a:cubicBezTo>
                    <a:pt x="14367900" y="0"/>
                    <a:pt x="14377474" y="8858"/>
                    <a:pt x="14377474" y="19635"/>
                  </a:cubicBezTo>
                  <a:lnTo>
                    <a:pt x="14377474" y="5121754"/>
                  </a:lnTo>
                  <a:cubicBezTo>
                    <a:pt x="14377474" y="5132679"/>
                    <a:pt x="14367737" y="5141389"/>
                    <a:pt x="14355890" y="5141389"/>
                  </a:cubicBezTo>
                  <a:lnTo>
                    <a:pt x="21586" y="5141389"/>
                  </a:lnTo>
                  <a:cubicBezTo>
                    <a:pt x="9576" y="5141389"/>
                    <a:pt x="0" y="5132531"/>
                    <a:pt x="0" y="5121754"/>
                  </a:cubicBezTo>
                  <a:lnTo>
                    <a:pt x="0" y="19635"/>
                  </a:lnTo>
                  <a:cubicBezTo>
                    <a:pt x="0" y="8858"/>
                    <a:pt x="9738" y="0"/>
                    <a:pt x="21586" y="0"/>
                  </a:cubicBezTo>
                  <a:moveTo>
                    <a:pt x="21586" y="39417"/>
                  </a:moveTo>
                  <a:lnTo>
                    <a:pt x="21586" y="19635"/>
                  </a:lnTo>
                  <a:lnTo>
                    <a:pt x="43334" y="19635"/>
                  </a:lnTo>
                  <a:lnTo>
                    <a:pt x="43334" y="5121754"/>
                  </a:lnTo>
                  <a:lnTo>
                    <a:pt x="21586" y="5121754"/>
                  </a:lnTo>
                  <a:lnTo>
                    <a:pt x="21586" y="5102120"/>
                  </a:lnTo>
                  <a:lnTo>
                    <a:pt x="14355890" y="5102120"/>
                  </a:lnTo>
                  <a:lnTo>
                    <a:pt x="14355890" y="5121754"/>
                  </a:lnTo>
                  <a:lnTo>
                    <a:pt x="14334303" y="5121754"/>
                  </a:lnTo>
                  <a:lnTo>
                    <a:pt x="14334303" y="19635"/>
                  </a:lnTo>
                  <a:lnTo>
                    <a:pt x="14355890" y="19635"/>
                  </a:lnTo>
                  <a:lnTo>
                    <a:pt x="14355890" y="39417"/>
                  </a:lnTo>
                  <a:lnTo>
                    <a:pt x="21586" y="39417"/>
                  </a:lnTo>
                  <a:close/>
                </a:path>
              </a:pathLst>
            </a:custGeom>
            <a:solidFill>
              <a:srgbClr val="EBF3FF"/>
            </a:solidFill>
          </p:spPr>
        </p:sp>
      </p:grpSp>
      <p:grpSp>
        <p:nvGrpSpPr>
          <p:cNvPr name="Group 32" id="32"/>
          <p:cNvGrpSpPr/>
          <p:nvPr/>
        </p:nvGrpSpPr>
        <p:grpSpPr>
          <a:xfrm rot="0">
            <a:off x="4372456" y="7116974"/>
            <a:ext cx="939803" cy="2999304"/>
            <a:chOff x="0" y="0"/>
            <a:chExt cx="1253071" cy="3999071"/>
          </a:xfrm>
        </p:grpSpPr>
        <p:sp>
          <p:nvSpPr>
            <p:cNvPr name="Freeform 33" id="33"/>
            <p:cNvSpPr/>
            <p:nvPr/>
          </p:nvSpPr>
          <p:spPr>
            <a:xfrm flipH="false" flipV="false" rot="0">
              <a:off x="16891" y="15272"/>
              <a:ext cx="1219200" cy="3968447"/>
            </a:xfrm>
            <a:custGeom>
              <a:avLst/>
              <a:gdLst/>
              <a:ahLst/>
              <a:cxnLst/>
              <a:rect r="r" b="b" t="t" l="l"/>
              <a:pathLst>
                <a:path h="3968447" w="1219200">
                  <a:moveTo>
                    <a:pt x="0" y="0"/>
                  </a:moveTo>
                  <a:lnTo>
                    <a:pt x="1219200" y="0"/>
                  </a:lnTo>
                  <a:lnTo>
                    <a:pt x="1219200" y="3968447"/>
                  </a:lnTo>
                  <a:lnTo>
                    <a:pt x="0" y="3968447"/>
                  </a:lnTo>
                  <a:close/>
                </a:path>
              </a:pathLst>
            </a:custGeom>
            <a:solidFill>
              <a:srgbClr val="1A5EAD"/>
            </a:solidFill>
          </p:spPr>
        </p:sp>
        <p:sp>
          <p:nvSpPr>
            <p:cNvPr name="Freeform 34" id="34"/>
            <p:cNvSpPr/>
            <p:nvPr/>
          </p:nvSpPr>
          <p:spPr>
            <a:xfrm flipH="false" flipV="false" rot="0">
              <a:off x="0" y="0"/>
              <a:ext cx="1252982" cy="3998991"/>
            </a:xfrm>
            <a:custGeom>
              <a:avLst/>
              <a:gdLst/>
              <a:ahLst/>
              <a:cxnLst/>
              <a:rect r="r" b="b" t="t" l="l"/>
              <a:pathLst>
                <a:path h="3998991" w="1252982">
                  <a:moveTo>
                    <a:pt x="16891" y="0"/>
                  </a:moveTo>
                  <a:lnTo>
                    <a:pt x="1236091" y="0"/>
                  </a:lnTo>
                  <a:cubicBezTo>
                    <a:pt x="1245489" y="0"/>
                    <a:pt x="1252982" y="6890"/>
                    <a:pt x="1252982" y="15272"/>
                  </a:cubicBezTo>
                  <a:lnTo>
                    <a:pt x="1252982" y="3983719"/>
                  </a:lnTo>
                  <a:cubicBezTo>
                    <a:pt x="1252982" y="3992216"/>
                    <a:pt x="1245362" y="3998991"/>
                    <a:pt x="1236091" y="3998991"/>
                  </a:cubicBezTo>
                  <a:lnTo>
                    <a:pt x="16891" y="3998991"/>
                  </a:lnTo>
                  <a:cubicBezTo>
                    <a:pt x="7493" y="3998991"/>
                    <a:pt x="0" y="3992101"/>
                    <a:pt x="0" y="3983719"/>
                  </a:cubicBezTo>
                  <a:lnTo>
                    <a:pt x="0" y="15272"/>
                  </a:lnTo>
                  <a:cubicBezTo>
                    <a:pt x="0" y="6890"/>
                    <a:pt x="7620" y="0"/>
                    <a:pt x="16891" y="0"/>
                  </a:cubicBezTo>
                  <a:moveTo>
                    <a:pt x="16891" y="30659"/>
                  </a:moveTo>
                  <a:lnTo>
                    <a:pt x="16891" y="15272"/>
                  </a:lnTo>
                  <a:lnTo>
                    <a:pt x="33909" y="15272"/>
                  </a:lnTo>
                  <a:lnTo>
                    <a:pt x="33909" y="3983719"/>
                  </a:lnTo>
                  <a:lnTo>
                    <a:pt x="16891" y="3983719"/>
                  </a:lnTo>
                  <a:lnTo>
                    <a:pt x="16891" y="3968447"/>
                  </a:lnTo>
                  <a:lnTo>
                    <a:pt x="1236091" y="3968447"/>
                  </a:lnTo>
                  <a:lnTo>
                    <a:pt x="1236091" y="3983719"/>
                  </a:lnTo>
                  <a:lnTo>
                    <a:pt x="1219200" y="3983719"/>
                  </a:lnTo>
                  <a:lnTo>
                    <a:pt x="1219200" y="15272"/>
                  </a:lnTo>
                  <a:lnTo>
                    <a:pt x="1236091" y="15272"/>
                  </a:lnTo>
                  <a:lnTo>
                    <a:pt x="1236091" y="30659"/>
                  </a:lnTo>
                  <a:lnTo>
                    <a:pt x="16891" y="30659"/>
                  </a:lnTo>
                  <a:close/>
                </a:path>
              </a:pathLst>
            </a:custGeom>
            <a:solidFill>
              <a:srgbClr val="1A5EAD"/>
            </a:solidFill>
          </p:spPr>
        </p:sp>
      </p:grpSp>
      <p:grpSp>
        <p:nvGrpSpPr>
          <p:cNvPr name="Group 35" id="35"/>
          <p:cNvGrpSpPr/>
          <p:nvPr/>
        </p:nvGrpSpPr>
        <p:grpSpPr>
          <a:xfrm rot="0">
            <a:off x="5773417" y="7116974"/>
            <a:ext cx="7132320" cy="822960"/>
            <a:chOff x="0" y="0"/>
            <a:chExt cx="9509760" cy="1097280"/>
          </a:xfrm>
        </p:grpSpPr>
        <p:sp>
          <p:nvSpPr>
            <p:cNvPr name="Freeform 36" id="36"/>
            <p:cNvSpPr/>
            <p:nvPr/>
          </p:nvSpPr>
          <p:spPr>
            <a:xfrm flipH="false" flipV="false" rot="0">
              <a:off x="0" y="0"/>
              <a:ext cx="9509760" cy="1097280"/>
            </a:xfrm>
            <a:custGeom>
              <a:avLst/>
              <a:gdLst/>
              <a:ahLst/>
              <a:cxnLst/>
              <a:rect r="r" b="b" t="t" l="l"/>
              <a:pathLst>
                <a:path h="1097280" w="9509760">
                  <a:moveTo>
                    <a:pt x="0" y="0"/>
                  </a:moveTo>
                  <a:lnTo>
                    <a:pt x="9509760" y="0"/>
                  </a:lnTo>
                  <a:lnTo>
                    <a:pt x="9509760" y="1097280"/>
                  </a:lnTo>
                  <a:lnTo>
                    <a:pt x="0" y="1097280"/>
                  </a:lnTo>
                  <a:close/>
                </a:path>
              </a:pathLst>
            </a:custGeom>
            <a:blipFill>
              <a:blip r:embed="rId3">
                <a:alphaModFix amt="0"/>
              </a:blip>
              <a:stretch>
                <a:fillRect l="0" t="-118870" r="0" b="-118870"/>
              </a:stretch>
            </a:blipFill>
          </p:spPr>
        </p:sp>
        <p:sp>
          <p:nvSpPr>
            <p:cNvPr name="TextBox 37" id="37"/>
            <p:cNvSpPr txBox="true"/>
            <p:nvPr/>
          </p:nvSpPr>
          <p:spPr>
            <a:xfrm>
              <a:off x="0" y="-38100"/>
              <a:ext cx="9509760" cy="1135380"/>
            </a:xfrm>
            <a:prstGeom prst="rect">
              <a:avLst/>
            </a:prstGeom>
          </p:spPr>
          <p:txBody>
            <a:bodyPr anchor="ctr" rtlCol="false" tIns="0" lIns="0" bIns="0" rIns="0"/>
            <a:lstStyle/>
            <a:p>
              <a:pPr algn="l">
                <a:lnSpc>
                  <a:spcPts val="2879"/>
                </a:lnSpc>
              </a:pPr>
              <a:r>
                <a:rPr lang="en-US" sz="2400" b="true">
                  <a:solidFill>
                    <a:srgbClr val="0D1B3E"/>
                  </a:solidFill>
                  <a:latin typeface="Calibri (MS) Bold"/>
                  <a:ea typeface="Calibri (MS) Bold"/>
                  <a:cs typeface="Calibri (MS) Bold"/>
                  <a:sym typeface="Calibri (MS) Bold"/>
                </a:rPr>
                <a:t>Encodage </a:t>
              </a:r>
            </a:p>
          </p:txBody>
        </p:sp>
      </p:grpSp>
      <p:grpSp>
        <p:nvGrpSpPr>
          <p:cNvPr name="Group 38" id="38"/>
          <p:cNvGrpSpPr/>
          <p:nvPr/>
        </p:nvGrpSpPr>
        <p:grpSpPr>
          <a:xfrm rot="0">
            <a:off x="5577840" y="7880151"/>
            <a:ext cx="7132320" cy="2179482"/>
            <a:chOff x="0" y="0"/>
            <a:chExt cx="9509760" cy="2905976"/>
          </a:xfrm>
        </p:grpSpPr>
        <p:sp>
          <p:nvSpPr>
            <p:cNvPr name="Freeform 39" id="39"/>
            <p:cNvSpPr/>
            <p:nvPr/>
          </p:nvSpPr>
          <p:spPr>
            <a:xfrm flipH="false" flipV="false" rot="0">
              <a:off x="0" y="0"/>
              <a:ext cx="9509760" cy="2905976"/>
            </a:xfrm>
            <a:custGeom>
              <a:avLst/>
              <a:gdLst/>
              <a:ahLst/>
              <a:cxnLst/>
              <a:rect r="r" b="b" t="t" l="l"/>
              <a:pathLst>
                <a:path h="2905976" w="9509760">
                  <a:moveTo>
                    <a:pt x="0" y="0"/>
                  </a:moveTo>
                  <a:lnTo>
                    <a:pt x="9509760" y="0"/>
                  </a:lnTo>
                  <a:lnTo>
                    <a:pt x="9509760" y="2905976"/>
                  </a:lnTo>
                  <a:lnTo>
                    <a:pt x="0" y="2905976"/>
                  </a:lnTo>
                  <a:close/>
                </a:path>
              </a:pathLst>
            </a:custGeom>
            <a:blipFill>
              <a:blip r:embed="rId3">
                <a:alphaModFix amt="0"/>
              </a:blip>
              <a:stretch>
                <a:fillRect l="0" t="-17614" r="0" b="-9914"/>
              </a:stretch>
            </a:blipFill>
          </p:spPr>
        </p:sp>
        <p:sp>
          <p:nvSpPr>
            <p:cNvPr name="TextBox 40" id="40"/>
            <p:cNvSpPr txBox="true"/>
            <p:nvPr/>
          </p:nvSpPr>
          <p:spPr>
            <a:xfrm>
              <a:off x="0" y="-171450"/>
              <a:ext cx="9509760" cy="3077426"/>
            </a:xfrm>
            <a:prstGeom prst="rect">
              <a:avLst/>
            </a:prstGeom>
          </p:spPr>
          <p:txBody>
            <a:bodyPr anchor="ctr" rtlCol="false" tIns="0" lIns="0" bIns="0" rIns="0"/>
            <a:lstStyle/>
            <a:p>
              <a:pPr algn="l" marL="561337" indent="-280669" lvl="1">
                <a:lnSpc>
                  <a:spcPts val="4367"/>
                </a:lnSpc>
                <a:buFont typeface="Arial"/>
                <a:buChar char="•"/>
              </a:pPr>
              <a:r>
                <a:rPr lang="en-US" b="true" sz="2599">
                  <a:solidFill>
                    <a:srgbClr val="64748B"/>
                  </a:solidFill>
                  <a:latin typeface="Calibri (MS) Bold"/>
                  <a:ea typeface="Calibri (MS) Bold"/>
                  <a:cs typeface="Calibri (MS) Bold"/>
                  <a:sym typeface="Calibri (MS) Bold"/>
                </a:rPr>
                <a:t>Méthodes utilisées : </a:t>
              </a:r>
            </a:p>
            <a:p>
              <a:pPr algn="l" marL="561337" indent="-280669" lvl="1">
                <a:lnSpc>
                  <a:spcPts val="4367"/>
                </a:lnSpc>
                <a:buFont typeface="Arial"/>
                <a:buChar char="•"/>
              </a:pPr>
              <a:r>
                <a:rPr lang="en-US" b="true" sz="2599">
                  <a:solidFill>
                    <a:srgbClr val="64748B"/>
                  </a:solidFill>
                  <a:latin typeface="Calibri (MS) Bold"/>
                  <a:ea typeface="Calibri (MS) Bold"/>
                  <a:cs typeface="Calibri (MS) Bold"/>
                  <a:sym typeface="Calibri (MS) Bold"/>
                </a:rPr>
                <a:t>One-Hot Encoding : Gender, Region, CustomerType</a:t>
              </a:r>
            </a:p>
            <a:p>
              <a:pPr algn="l" marL="561337" indent="-280669" lvl="1">
                <a:lnSpc>
                  <a:spcPts val="4367"/>
                </a:lnSpc>
                <a:buFont typeface="Arial"/>
                <a:buChar char="•"/>
              </a:pPr>
              <a:r>
                <a:rPr lang="en-US" b="true" sz="2599">
                  <a:solidFill>
                    <a:srgbClr val="64748B"/>
                  </a:solidFill>
                  <a:latin typeface="Calibri (MS) Bold"/>
                  <a:ea typeface="Calibri (MS) Bold"/>
                  <a:cs typeface="Calibri (MS) Bold"/>
                  <a:sym typeface="Calibri (MS) Bold"/>
                </a:rPr>
                <a:t> Ordinal Encoding : LoyaltyLevel SpendingCat</a:t>
              </a:r>
            </a:p>
          </p:txBody>
        </p:sp>
      </p:grpSp>
      <p:grpSp>
        <p:nvGrpSpPr>
          <p:cNvPr name="Group 41" id="41"/>
          <p:cNvGrpSpPr/>
          <p:nvPr/>
        </p:nvGrpSpPr>
        <p:grpSpPr>
          <a:xfrm rot="0">
            <a:off x="11155680" y="2272830"/>
            <a:ext cx="7132320" cy="822960"/>
            <a:chOff x="0" y="0"/>
            <a:chExt cx="9509760" cy="1097280"/>
          </a:xfrm>
        </p:grpSpPr>
        <p:sp>
          <p:nvSpPr>
            <p:cNvPr name="Freeform 42" id="42"/>
            <p:cNvSpPr/>
            <p:nvPr/>
          </p:nvSpPr>
          <p:spPr>
            <a:xfrm flipH="false" flipV="false" rot="0">
              <a:off x="0" y="0"/>
              <a:ext cx="9509760" cy="1097280"/>
            </a:xfrm>
            <a:custGeom>
              <a:avLst/>
              <a:gdLst/>
              <a:ahLst/>
              <a:cxnLst/>
              <a:rect r="r" b="b" t="t" l="l"/>
              <a:pathLst>
                <a:path h="1097280" w="9509760">
                  <a:moveTo>
                    <a:pt x="0" y="0"/>
                  </a:moveTo>
                  <a:lnTo>
                    <a:pt x="9509760" y="0"/>
                  </a:lnTo>
                  <a:lnTo>
                    <a:pt x="9509760" y="1097280"/>
                  </a:lnTo>
                  <a:lnTo>
                    <a:pt x="0" y="1097280"/>
                  </a:lnTo>
                  <a:close/>
                </a:path>
              </a:pathLst>
            </a:custGeom>
            <a:blipFill>
              <a:blip r:embed="rId3">
                <a:alphaModFix amt="0"/>
              </a:blip>
              <a:stretch>
                <a:fillRect l="0" t="-118870" r="0" b="-118870"/>
              </a:stretch>
            </a:blipFill>
          </p:spPr>
        </p:sp>
        <p:sp>
          <p:nvSpPr>
            <p:cNvPr name="TextBox 43" id="43"/>
            <p:cNvSpPr txBox="true"/>
            <p:nvPr/>
          </p:nvSpPr>
          <p:spPr>
            <a:xfrm>
              <a:off x="0" y="-38100"/>
              <a:ext cx="9509760" cy="1135380"/>
            </a:xfrm>
            <a:prstGeom prst="rect">
              <a:avLst/>
            </a:prstGeom>
          </p:spPr>
          <p:txBody>
            <a:bodyPr anchor="ctr" rtlCol="false" tIns="0" lIns="0" bIns="0" rIns="0"/>
            <a:lstStyle/>
            <a:p>
              <a:pPr algn="l">
                <a:lnSpc>
                  <a:spcPts val="2879"/>
                </a:lnSpc>
              </a:pPr>
              <a:r>
                <a:rPr lang="en-US" sz="2400" b="true">
                  <a:solidFill>
                    <a:srgbClr val="0D1B3E"/>
                  </a:solidFill>
                  <a:latin typeface="Calibri (MS) Bold"/>
                  <a:ea typeface="Calibri (MS) Bold"/>
                  <a:cs typeface="Calibri (MS) Bold"/>
                  <a:sym typeface="Calibri (MS) Bold"/>
                </a:rPr>
                <a:t>Feature engineering: </a:t>
              </a:r>
            </a:p>
          </p:txBody>
        </p:sp>
      </p:grpSp>
      <p:sp>
        <p:nvSpPr>
          <p:cNvPr name="TextBox 44" id="44"/>
          <p:cNvSpPr txBox="true"/>
          <p:nvPr/>
        </p:nvSpPr>
        <p:spPr>
          <a:xfrm rot="0">
            <a:off x="4642809" y="8436493"/>
            <a:ext cx="399098" cy="533400"/>
          </a:xfrm>
          <a:prstGeom prst="rect">
            <a:avLst/>
          </a:prstGeom>
        </p:spPr>
        <p:txBody>
          <a:bodyPr anchor="t" rtlCol="false" tIns="0" lIns="0" bIns="0" rIns="0">
            <a:spAutoFit/>
          </a:bodyPr>
          <a:lstStyle/>
          <a:p>
            <a:pPr algn="ctr">
              <a:lnSpc>
                <a:spcPts val="3719"/>
              </a:lnSpc>
              <a:spcBef>
                <a:spcPct val="0"/>
              </a:spcBef>
            </a:pPr>
            <a:r>
              <a:rPr lang="en-US" b="true" sz="3099">
                <a:solidFill>
                  <a:srgbClr val="FFFFFF"/>
                </a:solidFill>
                <a:latin typeface="Calibri (MS) Bold"/>
                <a:ea typeface="Calibri (MS) Bold"/>
                <a:cs typeface="Calibri (MS) Bold"/>
                <a:sym typeface="Calibri (MS) Bold"/>
              </a:rPr>
              <a:t>05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1397003"/>
            <a:chOff x="0" y="0"/>
            <a:chExt cx="24417871" cy="1862671"/>
          </a:xfrm>
        </p:grpSpPr>
        <p:sp>
          <p:nvSpPr>
            <p:cNvPr name="Freeform 3" id="3"/>
            <p:cNvSpPr/>
            <p:nvPr/>
          </p:nvSpPr>
          <p:spPr>
            <a:xfrm flipH="false" flipV="false" rot="0">
              <a:off x="16891" y="16891"/>
              <a:ext cx="24383999" cy="1828800"/>
            </a:xfrm>
            <a:custGeom>
              <a:avLst/>
              <a:gdLst/>
              <a:ahLst/>
              <a:cxnLst/>
              <a:rect r="r" b="b" t="t" l="l"/>
              <a:pathLst>
                <a:path h="1828800" w="24383999">
                  <a:moveTo>
                    <a:pt x="0" y="0"/>
                  </a:moveTo>
                  <a:lnTo>
                    <a:pt x="24383999" y="0"/>
                  </a:lnTo>
                  <a:lnTo>
                    <a:pt x="24383999" y="1828800"/>
                  </a:lnTo>
                  <a:lnTo>
                    <a:pt x="0" y="1828800"/>
                  </a:lnTo>
                  <a:close/>
                </a:path>
              </a:pathLst>
            </a:custGeom>
            <a:solidFill>
              <a:srgbClr val="1A5EAD"/>
            </a:solidFill>
          </p:spPr>
        </p:sp>
        <p:sp>
          <p:nvSpPr>
            <p:cNvPr name="Freeform 4" id="4"/>
            <p:cNvSpPr/>
            <p:nvPr/>
          </p:nvSpPr>
          <p:spPr>
            <a:xfrm flipH="false" flipV="false" rot="0">
              <a:off x="0" y="0"/>
              <a:ext cx="24417782" cy="1862582"/>
            </a:xfrm>
            <a:custGeom>
              <a:avLst/>
              <a:gdLst/>
              <a:ahLst/>
              <a:cxnLst/>
              <a:rect r="r" b="b" t="t" l="l"/>
              <a:pathLst>
                <a:path h="1862582" w="24417782">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1A5EAD"/>
            </a:solidFill>
          </p:spPr>
        </p:sp>
      </p:grpSp>
      <p:grpSp>
        <p:nvGrpSpPr>
          <p:cNvPr name="Group 5" id="5"/>
          <p:cNvGrpSpPr/>
          <p:nvPr/>
        </p:nvGrpSpPr>
        <p:grpSpPr>
          <a:xfrm rot="0">
            <a:off x="731520" y="0"/>
            <a:ext cx="16824960" cy="1371600"/>
            <a:chOff x="0" y="0"/>
            <a:chExt cx="22433280" cy="1828800"/>
          </a:xfrm>
        </p:grpSpPr>
        <p:sp>
          <p:nvSpPr>
            <p:cNvPr name="Freeform 6" id="6"/>
            <p:cNvSpPr/>
            <p:nvPr/>
          </p:nvSpPr>
          <p:spPr>
            <a:xfrm flipH="false" flipV="false" rot="0">
              <a:off x="0" y="0"/>
              <a:ext cx="22433280" cy="1828800"/>
            </a:xfrm>
            <a:custGeom>
              <a:avLst/>
              <a:gdLst/>
              <a:ahLst/>
              <a:cxnLst/>
              <a:rect r="r" b="b" t="t" l="l"/>
              <a:pathLst>
                <a:path h="1828800" w="22433280">
                  <a:moveTo>
                    <a:pt x="0" y="0"/>
                  </a:moveTo>
                  <a:lnTo>
                    <a:pt x="22433280" y="0"/>
                  </a:lnTo>
                  <a:lnTo>
                    <a:pt x="22433280" y="1828800"/>
                  </a:lnTo>
                  <a:lnTo>
                    <a:pt x="0" y="1828800"/>
                  </a:lnTo>
                  <a:close/>
                </a:path>
              </a:pathLst>
            </a:custGeom>
            <a:blipFill>
              <a:blip r:embed="rId3">
                <a:alphaModFix amt="0"/>
              </a:blip>
              <a:stretch>
                <a:fillRect l="0" t="-189016" r="0" b="-189016"/>
              </a:stretch>
            </a:blipFill>
          </p:spPr>
        </p:sp>
        <p:sp>
          <p:nvSpPr>
            <p:cNvPr name="TextBox 7" id="7"/>
            <p:cNvSpPr txBox="true"/>
            <p:nvPr/>
          </p:nvSpPr>
          <p:spPr>
            <a:xfrm>
              <a:off x="0" y="-76200"/>
              <a:ext cx="22433280" cy="190500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Preprocessing — Étapes Clés</a:t>
              </a:r>
            </a:p>
          </p:txBody>
        </p:sp>
      </p:grpSp>
      <p:grpSp>
        <p:nvGrpSpPr>
          <p:cNvPr name="Group 8" id="8"/>
          <p:cNvGrpSpPr/>
          <p:nvPr/>
        </p:nvGrpSpPr>
        <p:grpSpPr>
          <a:xfrm rot="0">
            <a:off x="535943" y="1803397"/>
            <a:ext cx="8437883" cy="3317243"/>
            <a:chOff x="0" y="0"/>
            <a:chExt cx="11250511" cy="4422991"/>
          </a:xfrm>
        </p:grpSpPr>
        <p:sp>
          <p:nvSpPr>
            <p:cNvPr name="Freeform 9" id="9"/>
            <p:cNvSpPr/>
            <p:nvPr/>
          </p:nvSpPr>
          <p:spPr>
            <a:xfrm flipH="false" flipV="false" rot="0">
              <a:off x="16891" y="16891"/>
              <a:ext cx="11216640" cy="4389120"/>
            </a:xfrm>
            <a:custGeom>
              <a:avLst/>
              <a:gdLst/>
              <a:ahLst/>
              <a:cxnLst/>
              <a:rect r="r" b="b" t="t" l="l"/>
              <a:pathLst>
                <a:path h="4389120" w="11216640">
                  <a:moveTo>
                    <a:pt x="0" y="0"/>
                  </a:moveTo>
                  <a:lnTo>
                    <a:pt x="11216640" y="0"/>
                  </a:lnTo>
                  <a:lnTo>
                    <a:pt x="11216640" y="4389120"/>
                  </a:lnTo>
                  <a:lnTo>
                    <a:pt x="0" y="4389120"/>
                  </a:lnTo>
                  <a:close/>
                </a:path>
              </a:pathLst>
            </a:custGeom>
            <a:solidFill>
              <a:srgbClr val="F1F5F9"/>
            </a:solidFill>
          </p:spPr>
        </p:sp>
        <p:sp>
          <p:nvSpPr>
            <p:cNvPr name="Freeform 10" id="10"/>
            <p:cNvSpPr/>
            <p:nvPr/>
          </p:nvSpPr>
          <p:spPr>
            <a:xfrm flipH="false" flipV="false" rot="0">
              <a:off x="0" y="0"/>
              <a:ext cx="11250422" cy="4422902"/>
            </a:xfrm>
            <a:custGeom>
              <a:avLst/>
              <a:gdLst/>
              <a:ahLst/>
              <a:cxnLst/>
              <a:rect r="r" b="b" t="t" l="l"/>
              <a:pathLst>
                <a:path h="4422902" w="11250422">
                  <a:moveTo>
                    <a:pt x="16891" y="0"/>
                  </a:moveTo>
                  <a:lnTo>
                    <a:pt x="11233531" y="0"/>
                  </a:lnTo>
                  <a:cubicBezTo>
                    <a:pt x="11242929" y="0"/>
                    <a:pt x="11250422" y="7620"/>
                    <a:pt x="11250422" y="16891"/>
                  </a:cubicBezTo>
                  <a:lnTo>
                    <a:pt x="11250422" y="4406011"/>
                  </a:lnTo>
                  <a:cubicBezTo>
                    <a:pt x="11250422" y="4415409"/>
                    <a:pt x="11242802" y="4422902"/>
                    <a:pt x="11233531" y="4422902"/>
                  </a:cubicBezTo>
                  <a:lnTo>
                    <a:pt x="16891" y="4422902"/>
                  </a:lnTo>
                  <a:cubicBezTo>
                    <a:pt x="7493" y="4422902"/>
                    <a:pt x="0" y="4415282"/>
                    <a:pt x="0" y="4406011"/>
                  </a:cubicBezTo>
                  <a:lnTo>
                    <a:pt x="0" y="16891"/>
                  </a:lnTo>
                  <a:cubicBezTo>
                    <a:pt x="0" y="7620"/>
                    <a:pt x="7620" y="0"/>
                    <a:pt x="16891" y="0"/>
                  </a:cubicBezTo>
                  <a:moveTo>
                    <a:pt x="16891" y="33909"/>
                  </a:moveTo>
                  <a:lnTo>
                    <a:pt x="16891" y="16891"/>
                  </a:lnTo>
                  <a:lnTo>
                    <a:pt x="33909" y="16891"/>
                  </a:lnTo>
                  <a:lnTo>
                    <a:pt x="33909" y="4406011"/>
                  </a:lnTo>
                  <a:lnTo>
                    <a:pt x="16891" y="4406011"/>
                  </a:lnTo>
                  <a:lnTo>
                    <a:pt x="16891" y="4389120"/>
                  </a:lnTo>
                  <a:lnTo>
                    <a:pt x="11233531" y="4389120"/>
                  </a:lnTo>
                  <a:lnTo>
                    <a:pt x="11233531" y="4406011"/>
                  </a:lnTo>
                  <a:lnTo>
                    <a:pt x="11216640" y="4406011"/>
                  </a:lnTo>
                  <a:lnTo>
                    <a:pt x="11216640" y="16891"/>
                  </a:lnTo>
                  <a:lnTo>
                    <a:pt x="11233531" y="16891"/>
                  </a:lnTo>
                  <a:lnTo>
                    <a:pt x="11233531" y="33909"/>
                  </a:lnTo>
                  <a:lnTo>
                    <a:pt x="16891" y="33909"/>
                  </a:lnTo>
                  <a:close/>
                </a:path>
              </a:pathLst>
            </a:custGeom>
            <a:solidFill>
              <a:srgbClr val="EBF3FF"/>
            </a:solidFill>
          </p:spPr>
        </p:sp>
      </p:grpSp>
      <p:grpSp>
        <p:nvGrpSpPr>
          <p:cNvPr name="Group 11" id="11"/>
          <p:cNvGrpSpPr/>
          <p:nvPr/>
        </p:nvGrpSpPr>
        <p:grpSpPr>
          <a:xfrm rot="0">
            <a:off x="535943" y="1816103"/>
            <a:ext cx="939803" cy="3317243"/>
            <a:chOff x="0" y="0"/>
            <a:chExt cx="1253071" cy="4422991"/>
          </a:xfrm>
        </p:grpSpPr>
        <p:sp>
          <p:nvSpPr>
            <p:cNvPr name="Freeform 12" id="12"/>
            <p:cNvSpPr/>
            <p:nvPr/>
          </p:nvSpPr>
          <p:spPr>
            <a:xfrm flipH="false" flipV="false" rot="0">
              <a:off x="16891" y="16891"/>
              <a:ext cx="1219200" cy="4389120"/>
            </a:xfrm>
            <a:custGeom>
              <a:avLst/>
              <a:gdLst/>
              <a:ahLst/>
              <a:cxnLst/>
              <a:rect r="r" b="b" t="t" l="l"/>
              <a:pathLst>
                <a:path h="4389120" w="1219200">
                  <a:moveTo>
                    <a:pt x="0" y="0"/>
                  </a:moveTo>
                  <a:lnTo>
                    <a:pt x="1219200" y="0"/>
                  </a:lnTo>
                  <a:lnTo>
                    <a:pt x="1219200" y="4389120"/>
                  </a:lnTo>
                  <a:lnTo>
                    <a:pt x="0" y="4389120"/>
                  </a:lnTo>
                  <a:close/>
                </a:path>
              </a:pathLst>
            </a:custGeom>
            <a:solidFill>
              <a:srgbClr val="1A5EAD"/>
            </a:solidFill>
          </p:spPr>
        </p:sp>
        <p:sp>
          <p:nvSpPr>
            <p:cNvPr name="Freeform 13" id="13"/>
            <p:cNvSpPr/>
            <p:nvPr/>
          </p:nvSpPr>
          <p:spPr>
            <a:xfrm flipH="false" flipV="false" rot="0">
              <a:off x="0" y="0"/>
              <a:ext cx="1252982" cy="4422902"/>
            </a:xfrm>
            <a:custGeom>
              <a:avLst/>
              <a:gdLst/>
              <a:ahLst/>
              <a:cxnLst/>
              <a:rect r="r" b="b" t="t" l="l"/>
              <a:pathLst>
                <a:path h="4422902" w="1252982">
                  <a:moveTo>
                    <a:pt x="16891" y="0"/>
                  </a:moveTo>
                  <a:lnTo>
                    <a:pt x="1236091" y="0"/>
                  </a:lnTo>
                  <a:cubicBezTo>
                    <a:pt x="1245489" y="0"/>
                    <a:pt x="1252982" y="7620"/>
                    <a:pt x="1252982" y="16891"/>
                  </a:cubicBezTo>
                  <a:lnTo>
                    <a:pt x="1252982" y="4406011"/>
                  </a:lnTo>
                  <a:cubicBezTo>
                    <a:pt x="1252982" y="4415409"/>
                    <a:pt x="1245362" y="4422902"/>
                    <a:pt x="1236091" y="4422902"/>
                  </a:cubicBezTo>
                  <a:lnTo>
                    <a:pt x="16891" y="4422902"/>
                  </a:lnTo>
                  <a:cubicBezTo>
                    <a:pt x="7493" y="4422902"/>
                    <a:pt x="0" y="4415282"/>
                    <a:pt x="0" y="4406011"/>
                  </a:cubicBezTo>
                  <a:lnTo>
                    <a:pt x="0" y="16891"/>
                  </a:lnTo>
                  <a:cubicBezTo>
                    <a:pt x="0" y="7620"/>
                    <a:pt x="7620" y="0"/>
                    <a:pt x="16891" y="0"/>
                  </a:cubicBezTo>
                  <a:moveTo>
                    <a:pt x="16891" y="33909"/>
                  </a:moveTo>
                  <a:lnTo>
                    <a:pt x="16891" y="16891"/>
                  </a:lnTo>
                  <a:lnTo>
                    <a:pt x="33909" y="16891"/>
                  </a:lnTo>
                  <a:lnTo>
                    <a:pt x="33909" y="4406011"/>
                  </a:lnTo>
                  <a:lnTo>
                    <a:pt x="16891" y="4406011"/>
                  </a:lnTo>
                  <a:lnTo>
                    <a:pt x="16891" y="4389120"/>
                  </a:lnTo>
                  <a:lnTo>
                    <a:pt x="1236091" y="4389120"/>
                  </a:lnTo>
                  <a:lnTo>
                    <a:pt x="1236091" y="4406011"/>
                  </a:lnTo>
                  <a:lnTo>
                    <a:pt x="1219200" y="4406011"/>
                  </a:lnTo>
                  <a:lnTo>
                    <a:pt x="1219200" y="16891"/>
                  </a:lnTo>
                  <a:lnTo>
                    <a:pt x="1236091" y="16891"/>
                  </a:lnTo>
                  <a:lnTo>
                    <a:pt x="1236091" y="33909"/>
                  </a:lnTo>
                  <a:lnTo>
                    <a:pt x="16891" y="33909"/>
                  </a:lnTo>
                  <a:close/>
                </a:path>
              </a:pathLst>
            </a:custGeom>
            <a:solidFill>
              <a:srgbClr val="1A5EAD"/>
            </a:solidFill>
          </p:spPr>
        </p:sp>
      </p:grpSp>
      <p:grpSp>
        <p:nvGrpSpPr>
          <p:cNvPr name="Group 14" id="14"/>
          <p:cNvGrpSpPr/>
          <p:nvPr/>
        </p:nvGrpSpPr>
        <p:grpSpPr>
          <a:xfrm rot="0">
            <a:off x="548640" y="1828800"/>
            <a:ext cx="914400" cy="3291840"/>
            <a:chOff x="0" y="0"/>
            <a:chExt cx="1219200" cy="4389120"/>
          </a:xfrm>
        </p:grpSpPr>
        <p:sp>
          <p:nvSpPr>
            <p:cNvPr name="Freeform 15" id="15"/>
            <p:cNvSpPr/>
            <p:nvPr/>
          </p:nvSpPr>
          <p:spPr>
            <a:xfrm flipH="false" flipV="false" rot="0">
              <a:off x="0" y="0"/>
              <a:ext cx="1219200" cy="4389120"/>
            </a:xfrm>
            <a:custGeom>
              <a:avLst/>
              <a:gdLst/>
              <a:ahLst/>
              <a:cxnLst/>
              <a:rect r="r" b="b" t="t" l="l"/>
              <a:pathLst>
                <a:path h="4389120" w="1219200">
                  <a:moveTo>
                    <a:pt x="0" y="0"/>
                  </a:moveTo>
                  <a:lnTo>
                    <a:pt x="1219200" y="0"/>
                  </a:lnTo>
                  <a:lnTo>
                    <a:pt x="1219200" y="4389120"/>
                  </a:lnTo>
                  <a:lnTo>
                    <a:pt x="0" y="4389120"/>
                  </a:lnTo>
                  <a:close/>
                </a:path>
              </a:pathLst>
            </a:custGeom>
            <a:blipFill>
              <a:blip r:embed="rId3">
                <a:alphaModFix amt="0"/>
              </a:blip>
              <a:stretch>
                <a:fillRect l="-411892" t="0" r="-411892" b="0"/>
              </a:stretch>
            </a:blipFill>
          </p:spPr>
        </p:sp>
        <p:sp>
          <p:nvSpPr>
            <p:cNvPr name="TextBox 16" id="16"/>
            <p:cNvSpPr txBox="true"/>
            <p:nvPr/>
          </p:nvSpPr>
          <p:spPr>
            <a:xfrm>
              <a:off x="0" y="-57150"/>
              <a:ext cx="1219200" cy="4446270"/>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06</a:t>
              </a:r>
            </a:p>
          </p:txBody>
        </p:sp>
      </p:grpSp>
      <p:grpSp>
        <p:nvGrpSpPr>
          <p:cNvPr name="Group 17" id="17"/>
          <p:cNvGrpSpPr/>
          <p:nvPr/>
        </p:nvGrpSpPr>
        <p:grpSpPr>
          <a:xfrm rot="0">
            <a:off x="1609344" y="2103120"/>
            <a:ext cx="7132320" cy="822960"/>
            <a:chOff x="0" y="0"/>
            <a:chExt cx="9509760" cy="1097280"/>
          </a:xfrm>
        </p:grpSpPr>
        <p:sp>
          <p:nvSpPr>
            <p:cNvPr name="Freeform 18" id="18"/>
            <p:cNvSpPr/>
            <p:nvPr/>
          </p:nvSpPr>
          <p:spPr>
            <a:xfrm flipH="false" flipV="false" rot="0">
              <a:off x="0" y="0"/>
              <a:ext cx="9509760" cy="1097280"/>
            </a:xfrm>
            <a:custGeom>
              <a:avLst/>
              <a:gdLst/>
              <a:ahLst/>
              <a:cxnLst/>
              <a:rect r="r" b="b" t="t" l="l"/>
              <a:pathLst>
                <a:path h="1097280" w="9509760">
                  <a:moveTo>
                    <a:pt x="0" y="0"/>
                  </a:moveTo>
                  <a:lnTo>
                    <a:pt x="9509760" y="0"/>
                  </a:lnTo>
                  <a:lnTo>
                    <a:pt x="9509760" y="1097280"/>
                  </a:lnTo>
                  <a:lnTo>
                    <a:pt x="0" y="1097280"/>
                  </a:lnTo>
                  <a:close/>
                </a:path>
              </a:pathLst>
            </a:custGeom>
            <a:blipFill>
              <a:blip r:embed="rId3">
                <a:alphaModFix amt="0"/>
              </a:blip>
              <a:stretch>
                <a:fillRect l="0" t="-118870" r="0" b="-118870"/>
              </a:stretch>
            </a:blipFill>
          </p:spPr>
        </p:sp>
        <p:sp>
          <p:nvSpPr>
            <p:cNvPr name="TextBox 19" id="19"/>
            <p:cNvSpPr txBox="true"/>
            <p:nvPr/>
          </p:nvSpPr>
          <p:spPr>
            <a:xfrm>
              <a:off x="0" y="-38100"/>
              <a:ext cx="9509760" cy="1135380"/>
            </a:xfrm>
            <a:prstGeom prst="rect">
              <a:avLst/>
            </a:prstGeom>
          </p:spPr>
          <p:txBody>
            <a:bodyPr anchor="ctr" rtlCol="false" tIns="0" lIns="0" bIns="0" rIns="0"/>
            <a:lstStyle/>
            <a:p>
              <a:pPr algn="l">
                <a:lnSpc>
                  <a:spcPts val="2879"/>
                </a:lnSpc>
              </a:pPr>
              <a:r>
                <a:rPr lang="en-US" sz="2400" b="true">
                  <a:solidFill>
                    <a:srgbClr val="0D1B3E"/>
                  </a:solidFill>
                  <a:latin typeface="Calibri (MS) Bold"/>
                  <a:ea typeface="Calibri (MS) Bold"/>
                  <a:cs typeface="Calibri (MS) Bold"/>
                  <a:sym typeface="Calibri (MS) Bold"/>
                </a:rPr>
                <a:t>L</a:t>
              </a:r>
              <a:r>
                <a:rPr lang="en-US" sz="2400" b="true">
                  <a:solidFill>
                    <a:srgbClr val="0D1B3E"/>
                  </a:solidFill>
                  <a:latin typeface="Calibri (MS) Bold"/>
                  <a:ea typeface="Calibri (MS) Bold"/>
                  <a:cs typeface="Calibri (MS) Bold"/>
                  <a:sym typeface="Calibri (MS) Bold"/>
                </a:rPr>
                <a:t>eakage control: </a:t>
              </a:r>
            </a:p>
          </p:txBody>
        </p:sp>
      </p:grpSp>
      <p:grpSp>
        <p:nvGrpSpPr>
          <p:cNvPr name="Group 20" id="20"/>
          <p:cNvGrpSpPr/>
          <p:nvPr/>
        </p:nvGrpSpPr>
        <p:grpSpPr>
          <a:xfrm rot="0">
            <a:off x="1609344" y="2889504"/>
            <a:ext cx="7132320" cy="2072179"/>
            <a:chOff x="0" y="0"/>
            <a:chExt cx="9509760" cy="2762905"/>
          </a:xfrm>
        </p:grpSpPr>
        <p:sp>
          <p:nvSpPr>
            <p:cNvPr name="Freeform 21" id="21"/>
            <p:cNvSpPr/>
            <p:nvPr/>
          </p:nvSpPr>
          <p:spPr>
            <a:xfrm flipH="false" flipV="false" rot="0">
              <a:off x="0" y="0"/>
              <a:ext cx="9509760" cy="2762905"/>
            </a:xfrm>
            <a:custGeom>
              <a:avLst/>
              <a:gdLst/>
              <a:ahLst/>
              <a:cxnLst/>
              <a:rect r="r" b="b" t="t" l="l"/>
              <a:pathLst>
                <a:path h="2762905" w="9509760">
                  <a:moveTo>
                    <a:pt x="0" y="0"/>
                  </a:moveTo>
                  <a:lnTo>
                    <a:pt x="9509760" y="0"/>
                  </a:lnTo>
                  <a:lnTo>
                    <a:pt x="9509760" y="2762905"/>
                  </a:lnTo>
                  <a:lnTo>
                    <a:pt x="0" y="2762905"/>
                  </a:lnTo>
                  <a:close/>
                </a:path>
              </a:pathLst>
            </a:custGeom>
            <a:blipFill>
              <a:blip r:embed="rId3">
                <a:alphaModFix amt="0"/>
              </a:blip>
              <a:stretch>
                <a:fillRect l="0" t="-18526" r="0" b="-15606"/>
              </a:stretch>
            </a:blipFill>
          </p:spPr>
        </p:sp>
        <p:sp>
          <p:nvSpPr>
            <p:cNvPr name="TextBox 22" id="22"/>
            <p:cNvSpPr txBox="true"/>
            <p:nvPr/>
          </p:nvSpPr>
          <p:spPr>
            <a:xfrm>
              <a:off x="0" y="-123825"/>
              <a:ext cx="9509760" cy="2886730"/>
            </a:xfrm>
            <a:prstGeom prst="rect">
              <a:avLst/>
            </a:prstGeom>
          </p:spPr>
          <p:txBody>
            <a:bodyPr anchor="ctr" rtlCol="false" tIns="0" lIns="0" bIns="0" rIns="0"/>
            <a:lstStyle/>
            <a:p>
              <a:pPr algn="l" marL="431801" indent="-215900" lvl="1">
                <a:lnSpc>
                  <a:spcPts val="3360"/>
                </a:lnSpc>
                <a:buFont typeface="Arial"/>
                <a:buChar char="•"/>
              </a:pPr>
              <a:r>
                <a:rPr lang="en-US" sz="2000">
                  <a:solidFill>
                    <a:srgbClr val="64748B"/>
                  </a:solidFill>
                  <a:latin typeface="Calibri (MS)"/>
                  <a:ea typeface="Calibri (MS)"/>
                  <a:cs typeface="Calibri (MS)"/>
                  <a:sym typeface="Calibri (MS)"/>
                </a:rPr>
                <a:t>S</a:t>
              </a:r>
              <a:r>
                <a:rPr lang="en-US" sz="2000">
                  <a:solidFill>
                    <a:srgbClr val="64748B"/>
                  </a:solidFill>
                  <a:latin typeface="Calibri (MS)"/>
                  <a:ea typeface="Calibri (MS)"/>
                  <a:cs typeface="Calibri (MS)"/>
                  <a:sym typeface="Calibri (MS)"/>
                </a:rPr>
                <a:t>uppression des variables corrélées (&gt; 0.8)</a:t>
              </a:r>
            </a:p>
            <a:p>
              <a:pPr algn="l" marL="431800" indent="-215900" lvl="1">
                <a:lnSpc>
                  <a:spcPts val="3360"/>
                </a:lnSpc>
                <a:buFont typeface="Arial"/>
                <a:buChar char="•"/>
              </a:pPr>
              <a:r>
                <a:rPr lang="en-US" sz="2000">
                  <a:solidFill>
                    <a:srgbClr val="64748B"/>
                  </a:solidFill>
                  <a:latin typeface="Calibri (MS)"/>
                  <a:ea typeface="Calibri (MS)"/>
                  <a:cs typeface="Calibri (MS)"/>
                  <a:sym typeface="Calibri (MS)"/>
                </a:rPr>
                <a:t>Analyse via heatmap</a:t>
              </a:r>
            </a:p>
            <a:p>
              <a:pPr algn="l" marL="431801" indent="-215900" lvl="1">
                <a:lnSpc>
                  <a:spcPts val="3360"/>
                </a:lnSpc>
                <a:buFont typeface="Arial"/>
                <a:buChar char="•"/>
              </a:pPr>
              <a:r>
                <a:rPr lang="en-US" sz="2000">
                  <a:solidFill>
                    <a:srgbClr val="64748B"/>
                  </a:solidFill>
                  <a:latin typeface="Calibri (MS)"/>
                  <a:ea typeface="Calibri (MS)"/>
                  <a:cs typeface="Calibri (MS)"/>
                  <a:sym typeface="Calibri (MS)"/>
                </a:rPr>
                <a:t>Variables concernées : initiales + encodées</a:t>
              </a:r>
            </a:p>
            <a:p>
              <a:pPr algn="l" marL="431801" indent="-215900" lvl="1">
                <a:lnSpc>
                  <a:spcPts val="3360"/>
                </a:lnSpc>
                <a:buFont typeface="Arial"/>
                <a:buChar char="•"/>
              </a:pPr>
              <a:r>
                <a:rPr lang="en-US" sz="2000">
                  <a:solidFill>
                    <a:srgbClr val="64748B"/>
                  </a:solidFill>
                  <a:latin typeface="Calibri (MS)"/>
                  <a:ea typeface="Calibri (MS)"/>
                  <a:cs typeface="Calibri (MS)"/>
                  <a:sym typeface="Calibri (MS)"/>
                </a:rPr>
                <a:t>Sélection basée sur le sens métier</a:t>
              </a:r>
            </a:p>
            <a:p>
              <a:pPr algn="l">
                <a:lnSpc>
                  <a:spcPts val="3360"/>
                </a:lnSpc>
              </a:pPr>
            </a:p>
          </p:txBody>
        </p:sp>
      </p:grpSp>
      <p:sp>
        <p:nvSpPr>
          <p:cNvPr name="Freeform 23" id="23"/>
          <p:cNvSpPr/>
          <p:nvPr/>
        </p:nvSpPr>
        <p:spPr>
          <a:xfrm flipH="false" flipV="false" rot="0">
            <a:off x="535943" y="4901184"/>
            <a:ext cx="6126189" cy="5500807"/>
          </a:xfrm>
          <a:custGeom>
            <a:avLst/>
            <a:gdLst/>
            <a:ahLst/>
            <a:cxnLst/>
            <a:rect r="r" b="b" t="t" l="l"/>
            <a:pathLst>
              <a:path h="5500807" w="6126189">
                <a:moveTo>
                  <a:pt x="0" y="0"/>
                </a:moveTo>
                <a:lnTo>
                  <a:pt x="6126189" y="0"/>
                </a:lnTo>
                <a:lnTo>
                  <a:pt x="6126189" y="5500807"/>
                </a:lnTo>
                <a:lnTo>
                  <a:pt x="0" y="5500807"/>
                </a:lnTo>
                <a:lnTo>
                  <a:pt x="0" y="0"/>
                </a:lnTo>
                <a:close/>
              </a:path>
            </a:pathLst>
          </a:custGeom>
          <a:blipFill>
            <a:blip r:embed="rId4"/>
            <a:stretch>
              <a:fillRect l="0" t="0" r="0" b="0"/>
            </a:stretch>
          </a:blipFill>
        </p:spPr>
      </p:sp>
      <p:sp>
        <p:nvSpPr>
          <p:cNvPr name="Freeform 24" id="24"/>
          <p:cNvSpPr/>
          <p:nvPr/>
        </p:nvSpPr>
        <p:spPr>
          <a:xfrm flipH="false" flipV="false" rot="0">
            <a:off x="9555696" y="4246264"/>
            <a:ext cx="7703604" cy="5791679"/>
          </a:xfrm>
          <a:custGeom>
            <a:avLst/>
            <a:gdLst/>
            <a:ahLst/>
            <a:cxnLst/>
            <a:rect r="r" b="b" t="t" l="l"/>
            <a:pathLst>
              <a:path h="5791679" w="7703604">
                <a:moveTo>
                  <a:pt x="0" y="0"/>
                </a:moveTo>
                <a:lnTo>
                  <a:pt x="7703604" y="0"/>
                </a:lnTo>
                <a:lnTo>
                  <a:pt x="7703604" y="5791680"/>
                </a:lnTo>
                <a:lnTo>
                  <a:pt x="0" y="5791680"/>
                </a:lnTo>
                <a:lnTo>
                  <a:pt x="0" y="0"/>
                </a:lnTo>
                <a:close/>
              </a:path>
            </a:pathLst>
          </a:custGeom>
          <a:blipFill>
            <a:blip r:embed="rId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1397003"/>
            <a:chOff x="0" y="0"/>
            <a:chExt cx="24417871" cy="1862671"/>
          </a:xfrm>
        </p:grpSpPr>
        <p:sp>
          <p:nvSpPr>
            <p:cNvPr name="Freeform 3" id="3"/>
            <p:cNvSpPr/>
            <p:nvPr/>
          </p:nvSpPr>
          <p:spPr>
            <a:xfrm flipH="false" flipV="false" rot="0">
              <a:off x="16891" y="16891"/>
              <a:ext cx="24383999" cy="1828800"/>
            </a:xfrm>
            <a:custGeom>
              <a:avLst/>
              <a:gdLst/>
              <a:ahLst/>
              <a:cxnLst/>
              <a:rect r="r" b="b" t="t" l="l"/>
              <a:pathLst>
                <a:path h="1828800" w="24383999">
                  <a:moveTo>
                    <a:pt x="0" y="0"/>
                  </a:moveTo>
                  <a:lnTo>
                    <a:pt x="24383999" y="0"/>
                  </a:lnTo>
                  <a:lnTo>
                    <a:pt x="24383999" y="1828800"/>
                  </a:lnTo>
                  <a:lnTo>
                    <a:pt x="0" y="1828800"/>
                  </a:lnTo>
                  <a:close/>
                </a:path>
              </a:pathLst>
            </a:custGeom>
            <a:solidFill>
              <a:srgbClr val="0D9E8A"/>
            </a:solidFill>
          </p:spPr>
        </p:sp>
        <p:sp>
          <p:nvSpPr>
            <p:cNvPr name="Freeform 4" id="4"/>
            <p:cNvSpPr/>
            <p:nvPr/>
          </p:nvSpPr>
          <p:spPr>
            <a:xfrm flipH="false" flipV="false" rot="0">
              <a:off x="0" y="0"/>
              <a:ext cx="24417782" cy="1862582"/>
            </a:xfrm>
            <a:custGeom>
              <a:avLst/>
              <a:gdLst/>
              <a:ahLst/>
              <a:cxnLst/>
              <a:rect r="r" b="b" t="t" l="l"/>
              <a:pathLst>
                <a:path h="1862582" w="24417782">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0D9E8A"/>
            </a:solidFill>
          </p:spPr>
        </p:sp>
      </p:grpSp>
      <p:grpSp>
        <p:nvGrpSpPr>
          <p:cNvPr name="Group 5" id="5"/>
          <p:cNvGrpSpPr/>
          <p:nvPr/>
        </p:nvGrpSpPr>
        <p:grpSpPr>
          <a:xfrm rot="0">
            <a:off x="731520" y="0"/>
            <a:ext cx="16824960" cy="1371600"/>
            <a:chOff x="0" y="0"/>
            <a:chExt cx="22433280" cy="1828800"/>
          </a:xfrm>
        </p:grpSpPr>
        <p:sp>
          <p:nvSpPr>
            <p:cNvPr name="Freeform 6" id="6"/>
            <p:cNvSpPr/>
            <p:nvPr/>
          </p:nvSpPr>
          <p:spPr>
            <a:xfrm flipH="false" flipV="false" rot="0">
              <a:off x="0" y="0"/>
              <a:ext cx="22433280" cy="1828800"/>
            </a:xfrm>
            <a:custGeom>
              <a:avLst/>
              <a:gdLst/>
              <a:ahLst/>
              <a:cxnLst/>
              <a:rect r="r" b="b" t="t" l="l"/>
              <a:pathLst>
                <a:path h="1828800" w="22433280">
                  <a:moveTo>
                    <a:pt x="0" y="0"/>
                  </a:moveTo>
                  <a:lnTo>
                    <a:pt x="22433280" y="0"/>
                  </a:lnTo>
                  <a:lnTo>
                    <a:pt x="22433280" y="1828800"/>
                  </a:lnTo>
                  <a:lnTo>
                    <a:pt x="0" y="1828800"/>
                  </a:lnTo>
                  <a:close/>
                </a:path>
              </a:pathLst>
            </a:custGeom>
            <a:blipFill>
              <a:blip r:embed="rId3">
                <a:alphaModFix amt="0"/>
              </a:blip>
              <a:stretch>
                <a:fillRect l="0" t="-189016" r="0" b="-189016"/>
              </a:stretch>
            </a:blipFill>
          </p:spPr>
        </p:sp>
        <p:sp>
          <p:nvSpPr>
            <p:cNvPr name="TextBox 7" id="7"/>
            <p:cNvSpPr txBox="true"/>
            <p:nvPr/>
          </p:nvSpPr>
          <p:spPr>
            <a:xfrm>
              <a:off x="0" y="-76200"/>
              <a:ext cx="22433280" cy="190500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Clustering RFM — K-Means (k=4)</a:t>
              </a:r>
            </a:p>
          </p:txBody>
        </p:sp>
      </p:grpSp>
      <p:grpSp>
        <p:nvGrpSpPr>
          <p:cNvPr name="Group 8" id="8"/>
          <p:cNvGrpSpPr/>
          <p:nvPr/>
        </p:nvGrpSpPr>
        <p:grpSpPr>
          <a:xfrm rot="0">
            <a:off x="627383" y="1816103"/>
            <a:ext cx="2860043" cy="1397003"/>
            <a:chOff x="0" y="0"/>
            <a:chExt cx="3813391" cy="1862671"/>
          </a:xfrm>
        </p:grpSpPr>
        <p:sp>
          <p:nvSpPr>
            <p:cNvPr name="Freeform 9" id="9"/>
            <p:cNvSpPr/>
            <p:nvPr/>
          </p:nvSpPr>
          <p:spPr>
            <a:xfrm flipH="false" flipV="false" rot="0">
              <a:off x="16891" y="16891"/>
              <a:ext cx="3779520" cy="1828800"/>
            </a:xfrm>
            <a:custGeom>
              <a:avLst/>
              <a:gdLst/>
              <a:ahLst/>
              <a:cxnLst/>
              <a:rect r="r" b="b" t="t" l="l"/>
              <a:pathLst>
                <a:path h="1828800" w="3779520">
                  <a:moveTo>
                    <a:pt x="0" y="0"/>
                  </a:moveTo>
                  <a:lnTo>
                    <a:pt x="3779520" y="0"/>
                  </a:lnTo>
                  <a:lnTo>
                    <a:pt x="3779520" y="1828800"/>
                  </a:lnTo>
                  <a:lnTo>
                    <a:pt x="0" y="1828800"/>
                  </a:lnTo>
                  <a:close/>
                </a:path>
              </a:pathLst>
            </a:custGeom>
            <a:solidFill>
              <a:srgbClr val="0D9E8A"/>
            </a:solidFill>
          </p:spPr>
        </p:sp>
        <p:sp>
          <p:nvSpPr>
            <p:cNvPr name="Freeform 10" id="10"/>
            <p:cNvSpPr/>
            <p:nvPr/>
          </p:nvSpPr>
          <p:spPr>
            <a:xfrm flipH="false" flipV="false" rot="0">
              <a:off x="0" y="0"/>
              <a:ext cx="3813302" cy="1862582"/>
            </a:xfrm>
            <a:custGeom>
              <a:avLst/>
              <a:gdLst/>
              <a:ahLst/>
              <a:cxnLst/>
              <a:rect r="r" b="b" t="t" l="l"/>
              <a:pathLst>
                <a:path h="1862582" w="3813302">
                  <a:moveTo>
                    <a:pt x="16891" y="0"/>
                  </a:moveTo>
                  <a:lnTo>
                    <a:pt x="3796411" y="0"/>
                  </a:lnTo>
                  <a:cubicBezTo>
                    <a:pt x="3805809" y="0"/>
                    <a:pt x="3813302" y="7620"/>
                    <a:pt x="3813302" y="16891"/>
                  </a:cubicBezTo>
                  <a:lnTo>
                    <a:pt x="3813302" y="1845691"/>
                  </a:lnTo>
                  <a:cubicBezTo>
                    <a:pt x="3813302" y="1855089"/>
                    <a:pt x="3805682" y="1862582"/>
                    <a:pt x="379641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3796411" y="1828800"/>
                  </a:lnTo>
                  <a:lnTo>
                    <a:pt x="3796411" y="1845691"/>
                  </a:lnTo>
                  <a:lnTo>
                    <a:pt x="3779520" y="1845691"/>
                  </a:lnTo>
                  <a:lnTo>
                    <a:pt x="3779520" y="16891"/>
                  </a:lnTo>
                  <a:lnTo>
                    <a:pt x="3796411" y="16891"/>
                  </a:lnTo>
                  <a:lnTo>
                    <a:pt x="3796411" y="33909"/>
                  </a:lnTo>
                  <a:lnTo>
                    <a:pt x="16891" y="33909"/>
                  </a:lnTo>
                  <a:close/>
                </a:path>
              </a:pathLst>
            </a:custGeom>
            <a:solidFill>
              <a:srgbClr val="0D9E8A"/>
            </a:solidFill>
          </p:spPr>
        </p:sp>
      </p:grpSp>
      <p:grpSp>
        <p:nvGrpSpPr>
          <p:cNvPr name="Group 11" id="11"/>
          <p:cNvGrpSpPr/>
          <p:nvPr/>
        </p:nvGrpSpPr>
        <p:grpSpPr>
          <a:xfrm rot="0">
            <a:off x="640080" y="1828800"/>
            <a:ext cx="2834640" cy="1371600"/>
            <a:chOff x="0" y="0"/>
            <a:chExt cx="3779520" cy="1828800"/>
          </a:xfrm>
        </p:grpSpPr>
        <p:sp>
          <p:nvSpPr>
            <p:cNvPr name="Freeform 12" id="12"/>
            <p:cNvSpPr/>
            <p:nvPr/>
          </p:nvSpPr>
          <p:spPr>
            <a:xfrm flipH="false" flipV="false" rot="0">
              <a:off x="0" y="0"/>
              <a:ext cx="3779520" cy="1828800"/>
            </a:xfrm>
            <a:custGeom>
              <a:avLst/>
              <a:gdLst/>
              <a:ahLst/>
              <a:cxnLst/>
              <a:rect r="r" b="b" t="t" l="l"/>
              <a:pathLst>
                <a:path h="1828800" w="3779520">
                  <a:moveTo>
                    <a:pt x="0" y="0"/>
                  </a:moveTo>
                  <a:lnTo>
                    <a:pt x="3779520" y="0"/>
                  </a:lnTo>
                  <a:lnTo>
                    <a:pt x="3779520" y="1828800"/>
                  </a:lnTo>
                  <a:lnTo>
                    <a:pt x="0" y="1828800"/>
                  </a:lnTo>
                  <a:close/>
                </a:path>
              </a:pathLst>
            </a:custGeom>
            <a:blipFill>
              <a:blip r:embed="rId3">
                <a:alphaModFix amt="0"/>
              </a:blip>
              <a:stretch>
                <a:fillRect l="-12082" t="0" r="-12082" b="0"/>
              </a:stretch>
            </a:blipFill>
          </p:spPr>
        </p:sp>
        <p:sp>
          <p:nvSpPr>
            <p:cNvPr name="TextBox 13" id="13"/>
            <p:cNvSpPr txBox="true"/>
            <p:nvPr/>
          </p:nvSpPr>
          <p:spPr>
            <a:xfrm>
              <a:off x="0" y="-38100"/>
              <a:ext cx="3779520" cy="186690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Imputation</a:t>
              </a:r>
            </a:p>
            <a:p>
              <a:pPr algn="ctr">
                <a:lnSpc>
                  <a:spcPts val="2400"/>
                </a:lnSpc>
              </a:pPr>
              <a:r>
                <a:rPr lang="en-US" sz="2000" b="true">
                  <a:solidFill>
                    <a:srgbClr val="FFFFFF"/>
                  </a:solidFill>
                  <a:latin typeface="Calibri (MS) Bold"/>
                  <a:ea typeface="Calibri (MS) Bold"/>
                  <a:cs typeface="Calibri (MS) Bold"/>
                  <a:sym typeface="Calibri (MS) Bold"/>
                </a:rPr>
                <a:t>médiane</a:t>
              </a:r>
            </a:p>
          </p:txBody>
        </p:sp>
      </p:grpSp>
      <p:grpSp>
        <p:nvGrpSpPr>
          <p:cNvPr name="Group 14" id="14"/>
          <p:cNvGrpSpPr/>
          <p:nvPr/>
        </p:nvGrpSpPr>
        <p:grpSpPr>
          <a:xfrm rot="0">
            <a:off x="3459480" y="2499360"/>
            <a:ext cx="579120" cy="30480"/>
            <a:chOff x="0" y="0"/>
            <a:chExt cx="772160" cy="40640"/>
          </a:xfrm>
        </p:grpSpPr>
        <p:sp>
          <p:nvSpPr>
            <p:cNvPr name="Freeform 15" id="15"/>
            <p:cNvSpPr/>
            <p:nvPr/>
          </p:nvSpPr>
          <p:spPr>
            <a:xfrm flipH="false" flipV="false" rot="0">
              <a:off x="20320" y="0"/>
              <a:ext cx="731520" cy="40640"/>
            </a:xfrm>
            <a:custGeom>
              <a:avLst/>
              <a:gdLst/>
              <a:ahLst/>
              <a:cxnLst/>
              <a:rect r="r" b="b" t="t" l="l"/>
              <a:pathLst>
                <a:path h="40640" w="731520">
                  <a:moveTo>
                    <a:pt x="0" y="0"/>
                  </a:moveTo>
                  <a:lnTo>
                    <a:pt x="731520" y="0"/>
                  </a:lnTo>
                  <a:lnTo>
                    <a:pt x="731520" y="40640"/>
                  </a:lnTo>
                  <a:lnTo>
                    <a:pt x="0" y="40640"/>
                  </a:lnTo>
                  <a:close/>
                </a:path>
              </a:pathLst>
            </a:custGeom>
            <a:solidFill>
              <a:srgbClr val="64748B"/>
            </a:solidFill>
          </p:spPr>
        </p:sp>
      </p:grpSp>
      <p:grpSp>
        <p:nvGrpSpPr>
          <p:cNvPr name="Group 16" id="16"/>
          <p:cNvGrpSpPr/>
          <p:nvPr/>
        </p:nvGrpSpPr>
        <p:grpSpPr>
          <a:xfrm rot="0">
            <a:off x="4010663" y="1816103"/>
            <a:ext cx="2860043" cy="1397003"/>
            <a:chOff x="0" y="0"/>
            <a:chExt cx="3813391" cy="1862671"/>
          </a:xfrm>
        </p:grpSpPr>
        <p:sp>
          <p:nvSpPr>
            <p:cNvPr name="Freeform 17" id="17"/>
            <p:cNvSpPr/>
            <p:nvPr/>
          </p:nvSpPr>
          <p:spPr>
            <a:xfrm flipH="false" flipV="false" rot="0">
              <a:off x="16891" y="16891"/>
              <a:ext cx="3779520" cy="1828800"/>
            </a:xfrm>
            <a:custGeom>
              <a:avLst/>
              <a:gdLst/>
              <a:ahLst/>
              <a:cxnLst/>
              <a:rect r="r" b="b" t="t" l="l"/>
              <a:pathLst>
                <a:path h="1828800" w="3779520">
                  <a:moveTo>
                    <a:pt x="0" y="0"/>
                  </a:moveTo>
                  <a:lnTo>
                    <a:pt x="3779520" y="0"/>
                  </a:lnTo>
                  <a:lnTo>
                    <a:pt x="3779520" y="1828800"/>
                  </a:lnTo>
                  <a:lnTo>
                    <a:pt x="0" y="1828800"/>
                  </a:lnTo>
                  <a:close/>
                </a:path>
              </a:pathLst>
            </a:custGeom>
            <a:solidFill>
              <a:srgbClr val="0D9E8A"/>
            </a:solidFill>
          </p:spPr>
        </p:sp>
        <p:sp>
          <p:nvSpPr>
            <p:cNvPr name="Freeform 18" id="18"/>
            <p:cNvSpPr/>
            <p:nvPr/>
          </p:nvSpPr>
          <p:spPr>
            <a:xfrm flipH="false" flipV="false" rot="0">
              <a:off x="0" y="0"/>
              <a:ext cx="3813302" cy="1862582"/>
            </a:xfrm>
            <a:custGeom>
              <a:avLst/>
              <a:gdLst/>
              <a:ahLst/>
              <a:cxnLst/>
              <a:rect r="r" b="b" t="t" l="l"/>
              <a:pathLst>
                <a:path h="1862582" w="3813302">
                  <a:moveTo>
                    <a:pt x="16891" y="0"/>
                  </a:moveTo>
                  <a:lnTo>
                    <a:pt x="3796411" y="0"/>
                  </a:lnTo>
                  <a:cubicBezTo>
                    <a:pt x="3805809" y="0"/>
                    <a:pt x="3813302" y="7620"/>
                    <a:pt x="3813302" y="16891"/>
                  </a:cubicBezTo>
                  <a:lnTo>
                    <a:pt x="3813302" y="1845691"/>
                  </a:lnTo>
                  <a:cubicBezTo>
                    <a:pt x="3813302" y="1855089"/>
                    <a:pt x="3805682" y="1862582"/>
                    <a:pt x="379641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3796411" y="1828800"/>
                  </a:lnTo>
                  <a:lnTo>
                    <a:pt x="3796411" y="1845691"/>
                  </a:lnTo>
                  <a:lnTo>
                    <a:pt x="3779520" y="1845691"/>
                  </a:lnTo>
                  <a:lnTo>
                    <a:pt x="3779520" y="16891"/>
                  </a:lnTo>
                  <a:lnTo>
                    <a:pt x="3796411" y="16891"/>
                  </a:lnTo>
                  <a:lnTo>
                    <a:pt x="3796411" y="33909"/>
                  </a:lnTo>
                  <a:lnTo>
                    <a:pt x="16891" y="33909"/>
                  </a:lnTo>
                  <a:close/>
                </a:path>
              </a:pathLst>
            </a:custGeom>
            <a:solidFill>
              <a:srgbClr val="0D9E8A"/>
            </a:solidFill>
          </p:spPr>
        </p:sp>
      </p:grpSp>
      <p:grpSp>
        <p:nvGrpSpPr>
          <p:cNvPr name="Group 19" id="19"/>
          <p:cNvGrpSpPr/>
          <p:nvPr/>
        </p:nvGrpSpPr>
        <p:grpSpPr>
          <a:xfrm rot="0">
            <a:off x="6842760" y="2499360"/>
            <a:ext cx="579120" cy="30480"/>
            <a:chOff x="0" y="0"/>
            <a:chExt cx="772160" cy="40640"/>
          </a:xfrm>
        </p:grpSpPr>
        <p:sp>
          <p:nvSpPr>
            <p:cNvPr name="Freeform 20" id="20"/>
            <p:cNvSpPr/>
            <p:nvPr/>
          </p:nvSpPr>
          <p:spPr>
            <a:xfrm flipH="false" flipV="false" rot="0">
              <a:off x="20320" y="0"/>
              <a:ext cx="731520" cy="40640"/>
            </a:xfrm>
            <a:custGeom>
              <a:avLst/>
              <a:gdLst/>
              <a:ahLst/>
              <a:cxnLst/>
              <a:rect r="r" b="b" t="t" l="l"/>
              <a:pathLst>
                <a:path h="40640" w="731520">
                  <a:moveTo>
                    <a:pt x="0" y="0"/>
                  </a:moveTo>
                  <a:lnTo>
                    <a:pt x="731520" y="0"/>
                  </a:lnTo>
                  <a:lnTo>
                    <a:pt x="731520" y="40640"/>
                  </a:lnTo>
                  <a:lnTo>
                    <a:pt x="0" y="40640"/>
                  </a:lnTo>
                  <a:close/>
                </a:path>
              </a:pathLst>
            </a:custGeom>
            <a:solidFill>
              <a:srgbClr val="64748B"/>
            </a:solidFill>
          </p:spPr>
        </p:sp>
      </p:grpSp>
      <p:grpSp>
        <p:nvGrpSpPr>
          <p:cNvPr name="Group 21" id="21"/>
          <p:cNvGrpSpPr/>
          <p:nvPr/>
        </p:nvGrpSpPr>
        <p:grpSpPr>
          <a:xfrm rot="0">
            <a:off x="7393943" y="1816103"/>
            <a:ext cx="2860043" cy="1397003"/>
            <a:chOff x="0" y="0"/>
            <a:chExt cx="3813391" cy="1862671"/>
          </a:xfrm>
        </p:grpSpPr>
        <p:sp>
          <p:nvSpPr>
            <p:cNvPr name="Freeform 22" id="22"/>
            <p:cNvSpPr/>
            <p:nvPr/>
          </p:nvSpPr>
          <p:spPr>
            <a:xfrm flipH="false" flipV="false" rot="0">
              <a:off x="16891" y="16891"/>
              <a:ext cx="3779520" cy="1828800"/>
            </a:xfrm>
            <a:custGeom>
              <a:avLst/>
              <a:gdLst/>
              <a:ahLst/>
              <a:cxnLst/>
              <a:rect r="r" b="b" t="t" l="l"/>
              <a:pathLst>
                <a:path h="1828800" w="3779520">
                  <a:moveTo>
                    <a:pt x="0" y="0"/>
                  </a:moveTo>
                  <a:lnTo>
                    <a:pt x="3779520" y="0"/>
                  </a:lnTo>
                  <a:lnTo>
                    <a:pt x="3779520" y="1828800"/>
                  </a:lnTo>
                  <a:lnTo>
                    <a:pt x="0" y="1828800"/>
                  </a:lnTo>
                  <a:close/>
                </a:path>
              </a:pathLst>
            </a:custGeom>
            <a:solidFill>
              <a:srgbClr val="0D9E8A"/>
            </a:solidFill>
          </p:spPr>
        </p:sp>
        <p:sp>
          <p:nvSpPr>
            <p:cNvPr name="Freeform 23" id="23"/>
            <p:cNvSpPr/>
            <p:nvPr/>
          </p:nvSpPr>
          <p:spPr>
            <a:xfrm flipH="false" flipV="false" rot="0">
              <a:off x="0" y="0"/>
              <a:ext cx="3813302" cy="1862582"/>
            </a:xfrm>
            <a:custGeom>
              <a:avLst/>
              <a:gdLst/>
              <a:ahLst/>
              <a:cxnLst/>
              <a:rect r="r" b="b" t="t" l="l"/>
              <a:pathLst>
                <a:path h="1862582" w="3813302">
                  <a:moveTo>
                    <a:pt x="16891" y="0"/>
                  </a:moveTo>
                  <a:lnTo>
                    <a:pt x="3796411" y="0"/>
                  </a:lnTo>
                  <a:cubicBezTo>
                    <a:pt x="3805809" y="0"/>
                    <a:pt x="3813302" y="7620"/>
                    <a:pt x="3813302" y="16891"/>
                  </a:cubicBezTo>
                  <a:lnTo>
                    <a:pt x="3813302" y="1845691"/>
                  </a:lnTo>
                  <a:cubicBezTo>
                    <a:pt x="3813302" y="1855089"/>
                    <a:pt x="3805682" y="1862582"/>
                    <a:pt x="379641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3796411" y="1828800"/>
                  </a:lnTo>
                  <a:lnTo>
                    <a:pt x="3796411" y="1845691"/>
                  </a:lnTo>
                  <a:lnTo>
                    <a:pt x="3779520" y="1845691"/>
                  </a:lnTo>
                  <a:lnTo>
                    <a:pt x="3779520" y="16891"/>
                  </a:lnTo>
                  <a:lnTo>
                    <a:pt x="3796411" y="16891"/>
                  </a:lnTo>
                  <a:lnTo>
                    <a:pt x="3796411" y="33909"/>
                  </a:lnTo>
                  <a:lnTo>
                    <a:pt x="16891" y="33909"/>
                  </a:lnTo>
                  <a:close/>
                </a:path>
              </a:pathLst>
            </a:custGeom>
            <a:solidFill>
              <a:srgbClr val="0D9E8A"/>
            </a:solidFill>
          </p:spPr>
        </p:sp>
      </p:grpSp>
      <p:grpSp>
        <p:nvGrpSpPr>
          <p:cNvPr name="Group 24" id="24"/>
          <p:cNvGrpSpPr/>
          <p:nvPr/>
        </p:nvGrpSpPr>
        <p:grpSpPr>
          <a:xfrm rot="0">
            <a:off x="7406640" y="1828800"/>
            <a:ext cx="2834640" cy="1371600"/>
            <a:chOff x="0" y="0"/>
            <a:chExt cx="3779520" cy="1828800"/>
          </a:xfrm>
        </p:grpSpPr>
        <p:sp>
          <p:nvSpPr>
            <p:cNvPr name="Freeform 25" id="25"/>
            <p:cNvSpPr/>
            <p:nvPr/>
          </p:nvSpPr>
          <p:spPr>
            <a:xfrm flipH="false" flipV="false" rot="0">
              <a:off x="0" y="0"/>
              <a:ext cx="3779520" cy="1828800"/>
            </a:xfrm>
            <a:custGeom>
              <a:avLst/>
              <a:gdLst/>
              <a:ahLst/>
              <a:cxnLst/>
              <a:rect r="r" b="b" t="t" l="l"/>
              <a:pathLst>
                <a:path h="1828800" w="3779520">
                  <a:moveTo>
                    <a:pt x="0" y="0"/>
                  </a:moveTo>
                  <a:lnTo>
                    <a:pt x="3779520" y="0"/>
                  </a:lnTo>
                  <a:lnTo>
                    <a:pt x="3779520" y="1828800"/>
                  </a:lnTo>
                  <a:lnTo>
                    <a:pt x="0" y="1828800"/>
                  </a:lnTo>
                  <a:close/>
                </a:path>
              </a:pathLst>
            </a:custGeom>
            <a:blipFill>
              <a:blip r:embed="rId3">
                <a:alphaModFix amt="0"/>
              </a:blip>
              <a:stretch>
                <a:fillRect l="-12082" t="0" r="-12082" b="0"/>
              </a:stretch>
            </a:blipFill>
          </p:spPr>
        </p:sp>
        <p:sp>
          <p:nvSpPr>
            <p:cNvPr name="TextBox 26" id="26"/>
            <p:cNvSpPr txBox="true"/>
            <p:nvPr/>
          </p:nvSpPr>
          <p:spPr>
            <a:xfrm>
              <a:off x="0" y="-38100"/>
              <a:ext cx="3779520" cy="186690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K-Me</a:t>
              </a:r>
              <a:r>
                <a:rPr lang="en-US" sz="2000" b="true">
                  <a:solidFill>
                    <a:srgbClr val="FFFFFF"/>
                  </a:solidFill>
                  <a:latin typeface="Calibri (MS) Bold"/>
                  <a:ea typeface="Calibri (MS) Bold"/>
                  <a:cs typeface="Calibri (MS) Bold"/>
                  <a:sym typeface="Calibri (MS) Bold"/>
                </a:rPr>
                <a:t>ans</a:t>
              </a:r>
            </a:p>
            <a:p>
              <a:pPr algn="ctr">
                <a:lnSpc>
                  <a:spcPts val="2400"/>
                </a:lnSpc>
              </a:pPr>
              <a:r>
                <a:rPr lang="en-US" sz="2000" b="true">
                  <a:solidFill>
                    <a:srgbClr val="FFFFFF"/>
                  </a:solidFill>
                  <a:latin typeface="Calibri (MS) Bold"/>
                  <a:ea typeface="Calibri (MS) Bold"/>
                  <a:cs typeface="Calibri (MS) Bold"/>
                  <a:sym typeface="Calibri (MS) Bold"/>
                </a:rPr>
                <a:t>k=4</a:t>
              </a:r>
            </a:p>
            <a:p>
              <a:pPr algn="ctr">
                <a:lnSpc>
                  <a:spcPts val="2400"/>
                </a:lnSpc>
              </a:pPr>
            </a:p>
          </p:txBody>
        </p:sp>
      </p:grpSp>
      <p:grpSp>
        <p:nvGrpSpPr>
          <p:cNvPr name="Group 27" id="27"/>
          <p:cNvGrpSpPr/>
          <p:nvPr/>
        </p:nvGrpSpPr>
        <p:grpSpPr>
          <a:xfrm rot="0">
            <a:off x="10226040" y="2499360"/>
            <a:ext cx="579120" cy="30480"/>
            <a:chOff x="0" y="0"/>
            <a:chExt cx="772160" cy="40640"/>
          </a:xfrm>
        </p:grpSpPr>
        <p:sp>
          <p:nvSpPr>
            <p:cNvPr name="Freeform 28" id="28"/>
            <p:cNvSpPr/>
            <p:nvPr/>
          </p:nvSpPr>
          <p:spPr>
            <a:xfrm flipH="false" flipV="false" rot="0">
              <a:off x="20320" y="0"/>
              <a:ext cx="731520" cy="40640"/>
            </a:xfrm>
            <a:custGeom>
              <a:avLst/>
              <a:gdLst/>
              <a:ahLst/>
              <a:cxnLst/>
              <a:rect r="r" b="b" t="t" l="l"/>
              <a:pathLst>
                <a:path h="40640" w="731520">
                  <a:moveTo>
                    <a:pt x="0" y="0"/>
                  </a:moveTo>
                  <a:lnTo>
                    <a:pt x="731520" y="0"/>
                  </a:lnTo>
                  <a:lnTo>
                    <a:pt x="731520" y="40640"/>
                  </a:lnTo>
                  <a:lnTo>
                    <a:pt x="0" y="40640"/>
                  </a:lnTo>
                  <a:close/>
                </a:path>
              </a:pathLst>
            </a:custGeom>
            <a:solidFill>
              <a:srgbClr val="64748B"/>
            </a:solidFill>
          </p:spPr>
        </p:sp>
      </p:grpSp>
      <p:grpSp>
        <p:nvGrpSpPr>
          <p:cNvPr name="Group 29" id="29"/>
          <p:cNvGrpSpPr/>
          <p:nvPr/>
        </p:nvGrpSpPr>
        <p:grpSpPr>
          <a:xfrm rot="0">
            <a:off x="10777223" y="1816103"/>
            <a:ext cx="2860043" cy="1397003"/>
            <a:chOff x="0" y="0"/>
            <a:chExt cx="3813391" cy="1862671"/>
          </a:xfrm>
        </p:grpSpPr>
        <p:sp>
          <p:nvSpPr>
            <p:cNvPr name="Freeform 30" id="30"/>
            <p:cNvSpPr/>
            <p:nvPr/>
          </p:nvSpPr>
          <p:spPr>
            <a:xfrm flipH="false" flipV="false" rot="0">
              <a:off x="16891" y="16891"/>
              <a:ext cx="3779520" cy="1828800"/>
            </a:xfrm>
            <a:custGeom>
              <a:avLst/>
              <a:gdLst/>
              <a:ahLst/>
              <a:cxnLst/>
              <a:rect r="r" b="b" t="t" l="l"/>
              <a:pathLst>
                <a:path h="1828800" w="3779520">
                  <a:moveTo>
                    <a:pt x="0" y="0"/>
                  </a:moveTo>
                  <a:lnTo>
                    <a:pt x="3779520" y="0"/>
                  </a:lnTo>
                  <a:lnTo>
                    <a:pt x="3779520" y="1828800"/>
                  </a:lnTo>
                  <a:lnTo>
                    <a:pt x="0" y="1828800"/>
                  </a:lnTo>
                  <a:close/>
                </a:path>
              </a:pathLst>
            </a:custGeom>
            <a:solidFill>
              <a:srgbClr val="0D9E8A"/>
            </a:solidFill>
          </p:spPr>
        </p:sp>
        <p:sp>
          <p:nvSpPr>
            <p:cNvPr name="Freeform 31" id="31"/>
            <p:cNvSpPr/>
            <p:nvPr/>
          </p:nvSpPr>
          <p:spPr>
            <a:xfrm flipH="false" flipV="false" rot="0">
              <a:off x="0" y="0"/>
              <a:ext cx="3813302" cy="1862582"/>
            </a:xfrm>
            <a:custGeom>
              <a:avLst/>
              <a:gdLst/>
              <a:ahLst/>
              <a:cxnLst/>
              <a:rect r="r" b="b" t="t" l="l"/>
              <a:pathLst>
                <a:path h="1862582" w="3813302">
                  <a:moveTo>
                    <a:pt x="16891" y="0"/>
                  </a:moveTo>
                  <a:lnTo>
                    <a:pt x="3796411" y="0"/>
                  </a:lnTo>
                  <a:cubicBezTo>
                    <a:pt x="3805809" y="0"/>
                    <a:pt x="3813302" y="7620"/>
                    <a:pt x="3813302" y="16891"/>
                  </a:cubicBezTo>
                  <a:lnTo>
                    <a:pt x="3813302" y="1845691"/>
                  </a:lnTo>
                  <a:cubicBezTo>
                    <a:pt x="3813302" y="1855089"/>
                    <a:pt x="3805682" y="1862582"/>
                    <a:pt x="379641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3796411" y="1828800"/>
                  </a:lnTo>
                  <a:lnTo>
                    <a:pt x="3796411" y="1845691"/>
                  </a:lnTo>
                  <a:lnTo>
                    <a:pt x="3779520" y="1845691"/>
                  </a:lnTo>
                  <a:lnTo>
                    <a:pt x="3779520" y="16891"/>
                  </a:lnTo>
                  <a:lnTo>
                    <a:pt x="3796411" y="16891"/>
                  </a:lnTo>
                  <a:lnTo>
                    <a:pt x="3796411" y="33909"/>
                  </a:lnTo>
                  <a:lnTo>
                    <a:pt x="16891" y="33909"/>
                  </a:lnTo>
                  <a:close/>
                </a:path>
              </a:pathLst>
            </a:custGeom>
            <a:solidFill>
              <a:srgbClr val="0D9E8A"/>
            </a:solidFill>
          </p:spPr>
        </p:sp>
      </p:grpSp>
      <p:grpSp>
        <p:nvGrpSpPr>
          <p:cNvPr name="Group 32" id="32"/>
          <p:cNvGrpSpPr/>
          <p:nvPr/>
        </p:nvGrpSpPr>
        <p:grpSpPr>
          <a:xfrm rot="0">
            <a:off x="13609320" y="2499360"/>
            <a:ext cx="579120" cy="30480"/>
            <a:chOff x="0" y="0"/>
            <a:chExt cx="772160" cy="40640"/>
          </a:xfrm>
        </p:grpSpPr>
        <p:sp>
          <p:nvSpPr>
            <p:cNvPr name="Freeform 33" id="33"/>
            <p:cNvSpPr/>
            <p:nvPr/>
          </p:nvSpPr>
          <p:spPr>
            <a:xfrm flipH="false" flipV="false" rot="0">
              <a:off x="20320" y="0"/>
              <a:ext cx="731520" cy="40640"/>
            </a:xfrm>
            <a:custGeom>
              <a:avLst/>
              <a:gdLst/>
              <a:ahLst/>
              <a:cxnLst/>
              <a:rect r="r" b="b" t="t" l="l"/>
              <a:pathLst>
                <a:path h="40640" w="731520">
                  <a:moveTo>
                    <a:pt x="0" y="0"/>
                  </a:moveTo>
                  <a:lnTo>
                    <a:pt x="731520" y="0"/>
                  </a:lnTo>
                  <a:lnTo>
                    <a:pt x="731520" y="40640"/>
                  </a:lnTo>
                  <a:lnTo>
                    <a:pt x="0" y="40640"/>
                  </a:lnTo>
                  <a:close/>
                </a:path>
              </a:pathLst>
            </a:custGeom>
            <a:solidFill>
              <a:srgbClr val="64748B"/>
            </a:solidFill>
          </p:spPr>
        </p:sp>
      </p:grpSp>
      <p:sp>
        <p:nvSpPr>
          <p:cNvPr name="TextBox 34" id="34"/>
          <p:cNvSpPr txBox="true"/>
          <p:nvPr/>
        </p:nvSpPr>
        <p:spPr>
          <a:xfrm rot="0">
            <a:off x="4010663" y="2324105"/>
            <a:ext cx="2860043" cy="342900"/>
          </a:xfrm>
          <a:prstGeom prst="rect">
            <a:avLst/>
          </a:prstGeom>
        </p:spPr>
        <p:txBody>
          <a:bodyPr anchor="t" rtlCol="false" tIns="0" lIns="0" bIns="0" rIns="0">
            <a:spAutoFit/>
          </a:bodyPr>
          <a:lstStyle/>
          <a:p>
            <a:pPr algn="ctr">
              <a:lnSpc>
                <a:spcPts val="2400"/>
              </a:lnSpc>
              <a:spcBef>
                <a:spcPct val="0"/>
              </a:spcBef>
            </a:pPr>
            <a:r>
              <a:rPr lang="en-US" sz="2000">
                <a:solidFill>
                  <a:srgbClr val="FFFFFF"/>
                </a:solidFill>
                <a:latin typeface="Calibri (MS)"/>
                <a:ea typeface="Calibri (MS)"/>
                <a:cs typeface="Calibri (MS)"/>
                <a:sym typeface="Calibri (MS)"/>
              </a:rPr>
              <a:t>StandardScaler</a:t>
            </a:r>
          </a:p>
        </p:txBody>
      </p:sp>
      <p:sp>
        <p:nvSpPr>
          <p:cNvPr name="TextBox 35" id="35"/>
          <p:cNvSpPr txBox="true"/>
          <p:nvPr/>
        </p:nvSpPr>
        <p:spPr>
          <a:xfrm rot="0">
            <a:off x="10805160" y="2167890"/>
            <a:ext cx="2860043" cy="676275"/>
          </a:xfrm>
          <a:prstGeom prst="rect">
            <a:avLst/>
          </a:prstGeom>
        </p:spPr>
        <p:txBody>
          <a:bodyPr anchor="t" rtlCol="false" tIns="0" lIns="0" bIns="0" rIns="0">
            <a:spAutoFit/>
          </a:bodyPr>
          <a:lstStyle/>
          <a:p>
            <a:pPr algn="ctr">
              <a:lnSpc>
                <a:spcPts val="2520"/>
              </a:lnSpc>
              <a:spcBef>
                <a:spcPct val="0"/>
              </a:spcBef>
            </a:pPr>
            <a:r>
              <a:rPr lang="en-US" b="true" sz="2100">
                <a:solidFill>
                  <a:srgbClr val="FFFFFF"/>
                </a:solidFill>
                <a:latin typeface="Calibri (MS) Bold"/>
                <a:ea typeface="Calibri (MS) Bold"/>
                <a:cs typeface="Calibri (MS) Bold"/>
                <a:sym typeface="Calibri (MS) Bold"/>
              </a:rPr>
              <a:t>Mapping</a:t>
            </a:r>
          </a:p>
          <a:p>
            <a:pPr algn="ctr">
              <a:lnSpc>
                <a:spcPts val="2520"/>
              </a:lnSpc>
              <a:spcBef>
                <a:spcPct val="0"/>
              </a:spcBef>
            </a:pPr>
            <a:r>
              <a:rPr lang="en-US" b="true" sz="2100">
                <a:solidFill>
                  <a:srgbClr val="FFFFFF"/>
                </a:solidFill>
                <a:latin typeface="Calibri (MS) Bold"/>
                <a:ea typeface="Calibri (MS) Bold"/>
                <a:cs typeface="Calibri (MS) Bold"/>
                <a:sym typeface="Calibri (MS) Bold"/>
              </a:rPr>
              <a:t>segments</a:t>
            </a:r>
          </a:p>
        </p:txBody>
      </p:sp>
      <p:sp>
        <p:nvSpPr>
          <p:cNvPr name="Freeform 36" id="36"/>
          <p:cNvSpPr/>
          <p:nvPr/>
        </p:nvSpPr>
        <p:spPr>
          <a:xfrm flipH="false" flipV="false" rot="0">
            <a:off x="-12697" y="3670306"/>
            <a:ext cx="9293769" cy="6426494"/>
          </a:xfrm>
          <a:custGeom>
            <a:avLst/>
            <a:gdLst/>
            <a:ahLst/>
            <a:cxnLst/>
            <a:rect r="r" b="b" t="t" l="l"/>
            <a:pathLst>
              <a:path h="6426494" w="9293769">
                <a:moveTo>
                  <a:pt x="0" y="0"/>
                </a:moveTo>
                <a:lnTo>
                  <a:pt x="9293769" y="0"/>
                </a:lnTo>
                <a:lnTo>
                  <a:pt x="9293769" y="6426494"/>
                </a:lnTo>
                <a:lnTo>
                  <a:pt x="0" y="6426494"/>
                </a:lnTo>
                <a:lnTo>
                  <a:pt x="0" y="0"/>
                </a:lnTo>
                <a:close/>
              </a:path>
            </a:pathLst>
          </a:custGeom>
          <a:blipFill>
            <a:blip r:embed="rId4"/>
            <a:stretch>
              <a:fillRect l="0" t="-615" r="0" b="-615"/>
            </a:stretch>
          </a:blipFill>
        </p:spPr>
      </p:sp>
      <p:sp>
        <p:nvSpPr>
          <p:cNvPr name="TextBox 37" id="37"/>
          <p:cNvSpPr txBox="true"/>
          <p:nvPr/>
        </p:nvSpPr>
        <p:spPr>
          <a:xfrm rot="0">
            <a:off x="9578340" y="5324600"/>
            <a:ext cx="8061960" cy="2562225"/>
          </a:xfrm>
          <a:prstGeom prst="rect">
            <a:avLst/>
          </a:prstGeom>
        </p:spPr>
        <p:txBody>
          <a:bodyPr anchor="t" rtlCol="false" tIns="0" lIns="0" bIns="0" rIns="0">
            <a:spAutoFit/>
          </a:bodyPr>
          <a:lstStyle/>
          <a:p>
            <a:pPr algn="ctr">
              <a:lnSpc>
                <a:spcPts val="4919"/>
              </a:lnSpc>
              <a:spcBef>
                <a:spcPct val="0"/>
              </a:spcBef>
            </a:pPr>
            <a:r>
              <a:rPr lang="en-US" b="true" sz="4099">
                <a:solidFill>
                  <a:srgbClr val="000000"/>
                </a:solidFill>
                <a:latin typeface="Calibri (MS) Bold"/>
                <a:ea typeface="Calibri (MS) Bold"/>
                <a:cs typeface="Calibri (MS) Bold"/>
                <a:sym typeface="Calibri (MS) Bold"/>
              </a:rPr>
              <a:t>Alg</a:t>
            </a:r>
            <a:r>
              <a:rPr lang="en-US" b="true" sz="4099">
                <a:solidFill>
                  <a:srgbClr val="000000"/>
                </a:solidFill>
                <a:latin typeface="Calibri (MS) Bold"/>
                <a:ea typeface="Calibri (MS) Bold"/>
                <a:cs typeface="Calibri (MS) Bold"/>
                <a:sym typeface="Calibri (MS) Bold"/>
              </a:rPr>
              <a:t>orithme K-Means Application sur les composantes principales issues de la PCA. Donc K=4 déterminé par méthode du coude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5720"/>
            <a:ext cx="18288000" cy="10195560"/>
          </a:xfrm>
          <a:custGeom>
            <a:avLst/>
            <a:gdLst/>
            <a:ahLst/>
            <a:cxnLst/>
            <a:rect r="r" b="b" t="t" l="l"/>
            <a:pathLst>
              <a:path h="10195560" w="18288000">
                <a:moveTo>
                  <a:pt x="0" y="0"/>
                </a:moveTo>
                <a:lnTo>
                  <a:pt x="18288000" y="0"/>
                </a:lnTo>
                <a:lnTo>
                  <a:pt x="18288000" y="10195560"/>
                </a:lnTo>
                <a:lnTo>
                  <a:pt x="0" y="10195560"/>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1397003"/>
            <a:chOff x="0" y="0"/>
            <a:chExt cx="24417871" cy="1862671"/>
          </a:xfrm>
        </p:grpSpPr>
        <p:sp>
          <p:nvSpPr>
            <p:cNvPr name="Freeform 3" id="3"/>
            <p:cNvSpPr/>
            <p:nvPr/>
          </p:nvSpPr>
          <p:spPr>
            <a:xfrm flipH="false" flipV="false" rot="0">
              <a:off x="16891" y="16891"/>
              <a:ext cx="24383999" cy="1828800"/>
            </a:xfrm>
            <a:custGeom>
              <a:avLst/>
              <a:gdLst/>
              <a:ahLst/>
              <a:cxnLst/>
              <a:rect r="r" b="b" t="t" l="l"/>
              <a:pathLst>
                <a:path h="1828800" w="24383999">
                  <a:moveTo>
                    <a:pt x="0" y="0"/>
                  </a:moveTo>
                  <a:lnTo>
                    <a:pt x="24383999" y="0"/>
                  </a:lnTo>
                  <a:lnTo>
                    <a:pt x="24383999" y="1828800"/>
                  </a:lnTo>
                  <a:lnTo>
                    <a:pt x="0" y="1828800"/>
                  </a:lnTo>
                  <a:close/>
                </a:path>
              </a:pathLst>
            </a:custGeom>
            <a:solidFill>
              <a:srgbClr val="7C3AED"/>
            </a:solidFill>
          </p:spPr>
        </p:sp>
        <p:sp>
          <p:nvSpPr>
            <p:cNvPr name="Freeform 4" id="4"/>
            <p:cNvSpPr/>
            <p:nvPr/>
          </p:nvSpPr>
          <p:spPr>
            <a:xfrm flipH="false" flipV="false" rot="0">
              <a:off x="0" y="0"/>
              <a:ext cx="24417782" cy="1862582"/>
            </a:xfrm>
            <a:custGeom>
              <a:avLst/>
              <a:gdLst/>
              <a:ahLst/>
              <a:cxnLst/>
              <a:rect r="r" b="b" t="t" l="l"/>
              <a:pathLst>
                <a:path h="1862582" w="24417782">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7C3AED"/>
            </a:solidFill>
          </p:spPr>
        </p:sp>
      </p:grpSp>
      <p:grpSp>
        <p:nvGrpSpPr>
          <p:cNvPr name="Group 5" id="5"/>
          <p:cNvGrpSpPr/>
          <p:nvPr/>
        </p:nvGrpSpPr>
        <p:grpSpPr>
          <a:xfrm rot="0">
            <a:off x="731520" y="0"/>
            <a:ext cx="16824960" cy="1371600"/>
            <a:chOff x="0" y="0"/>
            <a:chExt cx="22433280" cy="1828800"/>
          </a:xfrm>
        </p:grpSpPr>
        <p:sp>
          <p:nvSpPr>
            <p:cNvPr name="Freeform 6" id="6"/>
            <p:cNvSpPr/>
            <p:nvPr/>
          </p:nvSpPr>
          <p:spPr>
            <a:xfrm flipH="false" flipV="false" rot="0">
              <a:off x="0" y="0"/>
              <a:ext cx="22433280" cy="1828800"/>
            </a:xfrm>
            <a:custGeom>
              <a:avLst/>
              <a:gdLst/>
              <a:ahLst/>
              <a:cxnLst/>
              <a:rect r="r" b="b" t="t" l="l"/>
              <a:pathLst>
                <a:path h="1828800" w="22433280">
                  <a:moveTo>
                    <a:pt x="0" y="0"/>
                  </a:moveTo>
                  <a:lnTo>
                    <a:pt x="22433280" y="0"/>
                  </a:lnTo>
                  <a:lnTo>
                    <a:pt x="22433280" y="1828800"/>
                  </a:lnTo>
                  <a:lnTo>
                    <a:pt x="0" y="1828800"/>
                  </a:lnTo>
                  <a:close/>
                </a:path>
              </a:pathLst>
            </a:custGeom>
            <a:blipFill>
              <a:blip r:embed="rId3">
                <a:alphaModFix amt="0"/>
              </a:blip>
              <a:stretch>
                <a:fillRect l="0" t="-189016" r="0" b="-189016"/>
              </a:stretch>
            </a:blipFill>
          </p:spPr>
        </p:sp>
        <p:sp>
          <p:nvSpPr>
            <p:cNvPr name="TextBox 7" id="7"/>
            <p:cNvSpPr txBox="true"/>
            <p:nvPr/>
          </p:nvSpPr>
          <p:spPr>
            <a:xfrm>
              <a:off x="0" y="-76200"/>
              <a:ext cx="22433280" cy="190500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Classification Churn — Random Forest</a:t>
              </a:r>
            </a:p>
          </p:txBody>
        </p:sp>
      </p:grpSp>
      <p:grpSp>
        <p:nvGrpSpPr>
          <p:cNvPr name="Group 8" id="8"/>
          <p:cNvGrpSpPr/>
          <p:nvPr/>
        </p:nvGrpSpPr>
        <p:grpSpPr>
          <a:xfrm rot="0">
            <a:off x="627383" y="1724663"/>
            <a:ext cx="3957323" cy="2037083"/>
            <a:chOff x="0" y="0"/>
            <a:chExt cx="5276431" cy="2716111"/>
          </a:xfrm>
        </p:grpSpPr>
        <p:sp>
          <p:nvSpPr>
            <p:cNvPr name="Freeform 9" id="9"/>
            <p:cNvSpPr/>
            <p:nvPr/>
          </p:nvSpPr>
          <p:spPr>
            <a:xfrm flipH="false" flipV="false" rot="0">
              <a:off x="16891" y="16891"/>
              <a:ext cx="5242560" cy="2682240"/>
            </a:xfrm>
            <a:custGeom>
              <a:avLst/>
              <a:gdLst/>
              <a:ahLst/>
              <a:cxnLst/>
              <a:rect r="r" b="b" t="t" l="l"/>
              <a:pathLst>
                <a:path h="2682240" w="5242560">
                  <a:moveTo>
                    <a:pt x="0" y="0"/>
                  </a:moveTo>
                  <a:lnTo>
                    <a:pt x="5242560" y="0"/>
                  </a:lnTo>
                  <a:lnTo>
                    <a:pt x="5242560" y="2682240"/>
                  </a:lnTo>
                  <a:lnTo>
                    <a:pt x="0" y="2682240"/>
                  </a:lnTo>
                  <a:close/>
                </a:path>
              </a:pathLst>
            </a:custGeom>
            <a:solidFill>
              <a:srgbClr val="F5F0FF"/>
            </a:solidFill>
          </p:spPr>
        </p:sp>
        <p:sp>
          <p:nvSpPr>
            <p:cNvPr name="Freeform 10" id="10"/>
            <p:cNvSpPr/>
            <p:nvPr/>
          </p:nvSpPr>
          <p:spPr>
            <a:xfrm flipH="false" flipV="false" rot="0">
              <a:off x="0" y="0"/>
              <a:ext cx="5276342" cy="2716022"/>
            </a:xfrm>
            <a:custGeom>
              <a:avLst/>
              <a:gdLst/>
              <a:ahLst/>
              <a:cxnLst/>
              <a:rect r="r" b="b" t="t" l="l"/>
              <a:pathLst>
                <a:path h="2716022" w="5276342">
                  <a:moveTo>
                    <a:pt x="16891" y="0"/>
                  </a:moveTo>
                  <a:lnTo>
                    <a:pt x="5259451" y="0"/>
                  </a:lnTo>
                  <a:cubicBezTo>
                    <a:pt x="5268849" y="0"/>
                    <a:pt x="5276342" y="7620"/>
                    <a:pt x="5276342" y="16891"/>
                  </a:cubicBezTo>
                  <a:lnTo>
                    <a:pt x="5276342" y="2699131"/>
                  </a:lnTo>
                  <a:cubicBezTo>
                    <a:pt x="5276342" y="2708529"/>
                    <a:pt x="5268722" y="2716022"/>
                    <a:pt x="5259451"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5259451" y="2682240"/>
                  </a:lnTo>
                  <a:lnTo>
                    <a:pt x="5259451" y="2699131"/>
                  </a:lnTo>
                  <a:lnTo>
                    <a:pt x="5242560" y="2699131"/>
                  </a:lnTo>
                  <a:lnTo>
                    <a:pt x="5242560" y="16891"/>
                  </a:lnTo>
                  <a:lnTo>
                    <a:pt x="5259451" y="16891"/>
                  </a:lnTo>
                  <a:lnTo>
                    <a:pt x="5259451" y="33909"/>
                  </a:lnTo>
                  <a:lnTo>
                    <a:pt x="16891" y="33909"/>
                  </a:lnTo>
                  <a:close/>
                </a:path>
              </a:pathLst>
            </a:custGeom>
            <a:solidFill>
              <a:srgbClr val="C4B5FD"/>
            </a:solidFill>
          </p:spPr>
        </p:sp>
      </p:grpSp>
      <p:grpSp>
        <p:nvGrpSpPr>
          <p:cNvPr name="Group 11" id="11"/>
          <p:cNvGrpSpPr/>
          <p:nvPr/>
        </p:nvGrpSpPr>
        <p:grpSpPr>
          <a:xfrm rot="0">
            <a:off x="640080" y="1920240"/>
            <a:ext cx="3931920" cy="1133856"/>
            <a:chOff x="0" y="0"/>
            <a:chExt cx="5242560" cy="1511808"/>
          </a:xfrm>
        </p:grpSpPr>
        <p:sp>
          <p:nvSpPr>
            <p:cNvPr name="Freeform 12" id="12"/>
            <p:cNvSpPr/>
            <p:nvPr/>
          </p:nvSpPr>
          <p:spPr>
            <a:xfrm flipH="false" flipV="false" rot="0">
              <a:off x="0" y="0"/>
              <a:ext cx="5242560" cy="1511808"/>
            </a:xfrm>
            <a:custGeom>
              <a:avLst/>
              <a:gdLst/>
              <a:ahLst/>
              <a:cxnLst/>
              <a:rect r="r" b="b" t="t" l="l"/>
              <a:pathLst>
                <a:path h="1511808" w="5242560">
                  <a:moveTo>
                    <a:pt x="0" y="0"/>
                  </a:moveTo>
                  <a:lnTo>
                    <a:pt x="5242560" y="0"/>
                  </a:lnTo>
                  <a:lnTo>
                    <a:pt x="5242560" y="1511808"/>
                  </a:lnTo>
                  <a:lnTo>
                    <a:pt x="0" y="1511808"/>
                  </a:lnTo>
                  <a:close/>
                </a:path>
              </a:pathLst>
            </a:custGeom>
            <a:blipFill>
              <a:blip r:embed="rId3">
                <a:alphaModFix amt="0"/>
              </a:blip>
              <a:stretch>
                <a:fillRect l="0" t="-17569" r="0" b="-17569"/>
              </a:stretch>
            </a:blipFill>
          </p:spPr>
        </p:sp>
        <p:sp>
          <p:nvSpPr>
            <p:cNvPr name="TextBox 13" id="13"/>
            <p:cNvSpPr txBox="true"/>
            <p:nvPr/>
          </p:nvSpPr>
          <p:spPr>
            <a:xfrm>
              <a:off x="0" y="-85725"/>
              <a:ext cx="5242560" cy="1597533"/>
            </a:xfrm>
            <a:prstGeom prst="rect">
              <a:avLst/>
            </a:prstGeom>
          </p:spPr>
          <p:txBody>
            <a:bodyPr anchor="ctr" rtlCol="false" tIns="0" lIns="0" bIns="0" rIns="0"/>
            <a:lstStyle/>
            <a:p>
              <a:pPr algn="ctr">
                <a:lnSpc>
                  <a:spcPts val="5759"/>
                </a:lnSpc>
              </a:pPr>
              <a:r>
                <a:rPr lang="en-US" sz="4800" b="true">
                  <a:solidFill>
                    <a:srgbClr val="7C3AED"/>
                  </a:solidFill>
                  <a:latin typeface="Calibri (MS) Bold"/>
                  <a:ea typeface="Calibri (MS) Bold"/>
                  <a:cs typeface="Calibri (MS) Bold"/>
                  <a:sym typeface="Calibri (MS) Bold"/>
                </a:rPr>
                <a:t>92.2%</a:t>
              </a:r>
            </a:p>
          </p:txBody>
        </p:sp>
      </p:grpSp>
      <p:grpSp>
        <p:nvGrpSpPr>
          <p:cNvPr name="Group 14" id="14"/>
          <p:cNvGrpSpPr/>
          <p:nvPr/>
        </p:nvGrpSpPr>
        <p:grpSpPr>
          <a:xfrm rot="0">
            <a:off x="640080" y="3054096"/>
            <a:ext cx="3931920" cy="548640"/>
            <a:chOff x="0" y="0"/>
            <a:chExt cx="5242560" cy="731520"/>
          </a:xfrm>
        </p:grpSpPr>
        <p:sp>
          <p:nvSpPr>
            <p:cNvPr name="Freeform 15" id="15"/>
            <p:cNvSpPr/>
            <p:nvPr/>
          </p:nvSpPr>
          <p:spPr>
            <a:xfrm flipH="false" flipV="false" rot="0">
              <a:off x="0" y="0"/>
              <a:ext cx="5242560" cy="731520"/>
            </a:xfrm>
            <a:custGeom>
              <a:avLst/>
              <a:gdLst/>
              <a:ahLst/>
              <a:cxnLst/>
              <a:rect r="r" b="b" t="t" l="l"/>
              <a:pathLst>
                <a:path h="731520" w="5242560">
                  <a:moveTo>
                    <a:pt x="0" y="0"/>
                  </a:moveTo>
                  <a:lnTo>
                    <a:pt x="5242560" y="0"/>
                  </a:lnTo>
                  <a:lnTo>
                    <a:pt x="5242560" y="731520"/>
                  </a:lnTo>
                  <a:lnTo>
                    <a:pt x="0" y="731520"/>
                  </a:lnTo>
                  <a:close/>
                </a:path>
              </a:pathLst>
            </a:custGeom>
            <a:blipFill>
              <a:blip r:embed="rId3">
                <a:alphaModFix amt="0"/>
              </a:blip>
              <a:stretch>
                <a:fillRect l="0" t="-89642" r="0" b="-89642"/>
              </a:stretch>
            </a:blipFill>
          </p:spPr>
        </p:sp>
        <p:sp>
          <p:nvSpPr>
            <p:cNvPr name="TextBox 16" id="16"/>
            <p:cNvSpPr txBox="true"/>
            <p:nvPr/>
          </p:nvSpPr>
          <p:spPr>
            <a:xfrm>
              <a:off x="0" y="-38100"/>
              <a:ext cx="5242560" cy="769620"/>
            </a:xfrm>
            <a:prstGeom prst="rect">
              <a:avLst/>
            </a:prstGeom>
          </p:spPr>
          <p:txBody>
            <a:bodyPr anchor="ctr" rtlCol="false" tIns="0" lIns="0" bIns="0" rIns="0"/>
            <a:lstStyle/>
            <a:p>
              <a:pPr algn="ctr">
                <a:lnSpc>
                  <a:spcPts val="2400"/>
                </a:lnSpc>
              </a:pPr>
              <a:r>
                <a:rPr lang="en-US" sz="2000">
                  <a:solidFill>
                    <a:srgbClr val="64748B"/>
                  </a:solidFill>
                  <a:latin typeface="Calibri (MS)"/>
                  <a:ea typeface="Calibri (MS)"/>
                  <a:cs typeface="Calibri (MS)"/>
                  <a:sym typeface="Calibri (MS)"/>
                </a:rPr>
                <a:t>Accuracy</a:t>
              </a:r>
            </a:p>
          </p:txBody>
        </p:sp>
      </p:grpSp>
      <p:grpSp>
        <p:nvGrpSpPr>
          <p:cNvPr name="Group 17" id="17"/>
          <p:cNvGrpSpPr/>
          <p:nvPr/>
        </p:nvGrpSpPr>
        <p:grpSpPr>
          <a:xfrm rot="0">
            <a:off x="5016503" y="1724663"/>
            <a:ext cx="3957323" cy="2037083"/>
            <a:chOff x="0" y="0"/>
            <a:chExt cx="5276431" cy="2716111"/>
          </a:xfrm>
        </p:grpSpPr>
        <p:sp>
          <p:nvSpPr>
            <p:cNvPr name="Freeform 18" id="18"/>
            <p:cNvSpPr/>
            <p:nvPr/>
          </p:nvSpPr>
          <p:spPr>
            <a:xfrm flipH="false" flipV="false" rot="0">
              <a:off x="16891" y="16891"/>
              <a:ext cx="5242560" cy="2682240"/>
            </a:xfrm>
            <a:custGeom>
              <a:avLst/>
              <a:gdLst/>
              <a:ahLst/>
              <a:cxnLst/>
              <a:rect r="r" b="b" t="t" l="l"/>
              <a:pathLst>
                <a:path h="2682240" w="5242560">
                  <a:moveTo>
                    <a:pt x="0" y="0"/>
                  </a:moveTo>
                  <a:lnTo>
                    <a:pt x="5242560" y="0"/>
                  </a:lnTo>
                  <a:lnTo>
                    <a:pt x="5242560" y="2682240"/>
                  </a:lnTo>
                  <a:lnTo>
                    <a:pt x="0" y="2682240"/>
                  </a:lnTo>
                  <a:close/>
                </a:path>
              </a:pathLst>
            </a:custGeom>
            <a:solidFill>
              <a:srgbClr val="F5F0FF"/>
            </a:solidFill>
          </p:spPr>
        </p:sp>
        <p:sp>
          <p:nvSpPr>
            <p:cNvPr name="Freeform 19" id="19"/>
            <p:cNvSpPr/>
            <p:nvPr/>
          </p:nvSpPr>
          <p:spPr>
            <a:xfrm flipH="false" flipV="false" rot="0">
              <a:off x="0" y="0"/>
              <a:ext cx="5276342" cy="2716022"/>
            </a:xfrm>
            <a:custGeom>
              <a:avLst/>
              <a:gdLst/>
              <a:ahLst/>
              <a:cxnLst/>
              <a:rect r="r" b="b" t="t" l="l"/>
              <a:pathLst>
                <a:path h="2716022" w="5276342">
                  <a:moveTo>
                    <a:pt x="16891" y="0"/>
                  </a:moveTo>
                  <a:lnTo>
                    <a:pt x="5259451" y="0"/>
                  </a:lnTo>
                  <a:cubicBezTo>
                    <a:pt x="5268849" y="0"/>
                    <a:pt x="5276342" y="7620"/>
                    <a:pt x="5276342" y="16891"/>
                  </a:cubicBezTo>
                  <a:lnTo>
                    <a:pt x="5276342" y="2699131"/>
                  </a:lnTo>
                  <a:cubicBezTo>
                    <a:pt x="5276342" y="2708529"/>
                    <a:pt x="5268722" y="2716022"/>
                    <a:pt x="5259451"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5259451" y="2682240"/>
                  </a:lnTo>
                  <a:lnTo>
                    <a:pt x="5259451" y="2699131"/>
                  </a:lnTo>
                  <a:lnTo>
                    <a:pt x="5242560" y="2699131"/>
                  </a:lnTo>
                  <a:lnTo>
                    <a:pt x="5242560" y="16891"/>
                  </a:lnTo>
                  <a:lnTo>
                    <a:pt x="5259451" y="16891"/>
                  </a:lnTo>
                  <a:lnTo>
                    <a:pt x="5259451" y="33909"/>
                  </a:lnTo>
                  <a:lnTo>
                    <a:pt x="16891" y="33909"/>
                  </a:lnTo>
                  <a:close/>
                </a:path>
              </a:pathLst>
            </a:custGeom>
            <a:solidFill>
              <a:srgbClr val="C4B5FD"/>
            </a:solidFill>
          </p:spPr>
        </p:sp>
      </p:grpSp>
      <p:grpSp>
        <p:nvGrpSpPr>
          <p:cNvPr name="Group 20" id="20"/>
          <p:cNvGrpSpPr/>
          <p:nvPr/>
        </p:nvGrpSpPr>
        <p:grpSpPr>
          <a:xfrm rot="0">
            <a:off x="5029200" y="1920240"/>
            <a:ext cx="3931920" cy="1133856"/>
            <a:chOff x="0" y="0"/>
            <a:chExt cx="5242560" cy="1511808"/>
          </a:xfrm>
        </p:grpSpPr>
        <p:sp>
          <p:nvSpPr>
            <p:cNvPr name="Freeform 21" id="21"/>
            <p:cNvSpPr/>
            <p:nvPr/>
          </p:nvSpPr>
          <p:spPr>
            <a:xfrm flipH="false" flipV="false" rot="0">
              <a:off x="0" y="0"/>
              <a:ext cx="5242560" cy="1511808"/>
            </a:xfrm>
            <a:custGeom>
              <a:avLst/>
              <a:gdLst/>
              <a:ahLst/>
              <a:cxnLst/>
              <a:rect r="r" b="b" t="t" l="l"/>
              <a:pathLst>
                <a:path h="1511808" w="5242560">
                  <a:moveTo>
                    <a:pt x="0" y="0"/>
                  </a:moveTo>
                  <a:lnTo>
                    <a:pt x="5242560" y="0"/>
                  </a:lnTo>
                  <a:lnTo>
                    <a:pt x="5242560" y="1511808"/>
                  </a:lnTo>
                  <a:lnTo>
                    <a:pt x="0" y="1511808"/>
                  </a:lnTo>
                  <a:close/>
                </a:path>
              </a:pathLst>
            </a:custGeom>
            <a:blipFill>
              <a:blip r:embed="rId3">
                <a:alphaModFix amt="0"/>
              </a:blip>
              <a:stretch>
                <a:fillRect l="0" t="-17569" r="0" b="-17569"/>
              </a:stretch>
            </a:blipFill>
          </p:spPr>
        </p:sp>
        <p:sp>
          <p:nvSpPr>
            <p:cNvPr name="TextBox 22" id="22"/>
            <p:cNvSpPr txBox="true"/>
            <p:nvPr/>
          </p:nvSpPr>
          <p:spPr>
            <a:xfrm>
              <a:off x="0" y="-85725"/>
              <a:ext cx="5242560" cy="1597533"/>
            </a:xfrm>
            <a:prstGeom prst="rect">
              <a:avLst/>
            </a:prstGeom>
          </p:spPr>
          <p:txBody>
            <a:bodyPr anchor="ctr" rtlCol="false" tIns="0" lIns="0" bIns="0" rIns="0"/>
            <a:lstStyle/>
            <a:p>
              <a:pPr algn="ctr">
                <a:lnSpc>
                  <a:spcPts val="5759"/>
                </a:lnSpc>
              </a:pPr>
              <a:r>
                <a:rPr lang="en-US" sz="4800" b="true">
                  <a:solidFill>
                    <a:srgbClr val="7C3AED"/>
                  </a:solidFill>
                  <a:latin typeface="Calibri (MS) Bold"/>
                  <a:ea typeface="Calibri (MS) Bold"/>
                  <a:cs typeface="Calibri (MS) Bold"/>
                  <a:sym typeface="Calibri (MS) Bold"/>
                </a:rPr>
                <a:t>97.6%</a:t>
              </a:r>
            </a:p>
          </p:txBody>
        </p:sp>
      </p:grpSp>
      <p:grpSp>
        <p:nvGrpSpPr>
          <p:cNvPr name="Group 23" id="23"/>
          <p:cNvGrpSpPr/>
          <p:nvPr/>
        </p:nvGrpSpPr>
        <p:grpSpPr>
          <a:xfrm rot="0">
            <a:off x="5029200" y="3054096"/>
            <a:ext cx="3931920" cy="548640"/>
            <a:chOff x="0" y="0"/>
            <a:chExt cx="5242560" cy="731520"/>
          </a:xfrm>
        </p:grpSpPr>
        <p:sp>
          <p:nvSpPr>
            <p:cNvPr name="Freeform 24" id="24"/>
            <p:cNvSpPr/>
            <p:nvPr/>
          </p:nvSpPr>
          <p:spPr>
            <a:xfrm flipH="false" flipV="false" rot="0">
              <a:off x="0" y="0"/>
              <a:ext cx="5242560" cy="731520"/>
            </a:xfrm>
            <a:custGeom>
              <a:avLst/>
              <a:gdLst/>
              <a:ahLst/>
              <a:cxnLst/>
              <a:rect r="r" b="b" t="t" l="l"/>
              <a:pathLst>
                <a:path h="731520" w="5242560">
                  <a:moveTo>
                    <a:pt x="0" y="0"/>
                  </a:moveTo>
                  <a:lnTo>
                    <a:pt x="5242560" y="0"/>
                  </a:lnTo>
                  <a:lnTo>
                    <a:pt x="5242560" y="731520"/>
                  </a:lnTo>
                  <a:lnTo>
                    <a:pt x="0" y="731520"/>
                  </a:lnTo>
                  <a:close/>
                </a:path>
              </a:pathLst>
            </a:custGeom>
            <a:blipFill>
              <a:blip r:embed="rId3">
                <a:alphaModFix amt="0"/>
              </a:blip>
              <a:stretch>
                <a:fillRect l="0" t="-89642" r="0" b="-89642"/>
              </a:stretch>
            </a:blipFill>
          </p:spPr>
        </p:sp>
        <p:sp>
          <p:nvSpPr>
            <p:cNvPr name="TextBox 25" id="25"/>
            <p:cNvSpPr txBox="true"/>
            <p:nvPr/>
          </p:nvSpPr>
          <p:spPr>
            <a:xfrm>
              <a:off x="0" y="-38100"/>
              <a:ext cx="5242560" cy="769620"/>
            </a:xfrm>
            <a:prstGeom prst="rect">
              <a:avLst/>
            </a:prstGeom>
          </p:spPr>
          <p:txBody>
            <a:bodyPr anchor="ctr" rtlCol="false" tIns="0" lIns="0" bIns="0" rIns="0"/>
            <a:lstStyle/>
            <a:p>
              <a:pPr algn="ctr">
                <a:lnSpc>
                  <a:spcPts val="2400"/>
                </a:lnSpc>
              </a:pPr>
              <a:r>
                <a:rPr lang="en-US" sz="2000">
                  <a:solidFill>
                    <a:srgbClr val="64748B"/>
                  </a:solidFill>
                  <a:latin typeface="Calibri (MS)"/>
                  <a:ea typeface="Calibri (MS)"/>
                  <a:cs typeface="Calibri (MS)"/>
                  <a:sym typeface="Calibri (MS)"/>
                </a:rPr>
                <a:t>AUC-ROC</a:t>
              </a:r>
            </a:p>
          </p:txBody>
        </p:sp>
      </p:grpSp>
      <p:grpSp>
        <p:nvGrpSpPr>
          <p:cNvPr name="Group 26" id="26"/>
          <p:cNvGrpSpPr/>
          <p:nvPr/>
        </p:nvGrpSpPr>
        <p:grpSpPr>
          <a:xfrm rot="0">
            <a:off x="9405623" y="1724663"/>
            <a:ext cx="3957323" cy="2037083"/>
            <a:chOff x="0" y="0"/>
            <a:chExt cx="5276431" cy="2716111"/>
          </a:xfrm>
        </p:grpSpPr>
        <p:sp>
          <p:nvSpPr>
            <p:cNvPr name="Freeform 27" id="27"/>
            <p:cNvSpPr/>
            <p:nvPr/>
          </p:nvSpPr>
          <p:spPr>
            <a:xfrm flipH="false" flipV="false" rot="0">
              <a:off x="16891" y="16891"/>
              <a:ext cx="5242560" cy="2682240"/>
            </a:xfrm>
            <a:custGeom>
              <a:avLst/>
              <a:gdLst/>
              <a:ahLst/>
              <a:cxnLst/>
              <a:rect r="r" b="b" t="t" l="l"/>
              <a:pathLst>
                <a:path h="2682240" w="5242560">
                  <a:moveTo>
                    <a:pt x="0" y="0"/>
                  </a:moveTo>
                  <a:lnTo>
                    <a:pt x="5242560" y="0"/>
                  </a:lnTo>
                  <a:lnTo>
                    <a:pt x="5242560" y="2682240"/>
                  </a:lnTo>
                  <a:lnTo>
                    <a:pt x="0" y="2682240"/>
                  </a:lnTo>
                  <a:close/>
                </a:path>
              </a:pathLst>
            </a:custGeom>
            <a:solidFill>
              <a:srgbClr val="F5F0FF"/>
            </a:solidFill>
          </p:spPr>
        </p:sp>
        <p:sp>
          <p:nvSpPr>
            <p:cNvPr name="Freeform 28" id="28"/>
            <p:cNvSpPr/>
            <p:nvPr/>
          </p:nvSpPr>
          <p:spPr>
            <a:xfrm flipH="false" flipV="false" rot="0">
              <a:off x="0" y="0"/>
              <a:ext cx="5276342" cy="2716022"/>
            </a:xfrm>
            <a:custGeom>
              <a:avLst/>
              <a:gdLst/>
              <a:ahLst/>
              <a:cxnLst/>
              <a:rect r="r" b="b" t="t" l="l"/>
              <a:pathLst>
                <a:path h="2716022" w="5276342">
                  <a:moveTo>
                    <a:pt x="16891" y="0"/>
                  </a:moveTo>
                  <a:lnTo>
                    <a:pt x="5259451" y="0"/>
                  </a:lnTo>
                  <a:cubicBezTo>
                    <a:pt x="5268849" y="0"/>
                    <a:pt x="5276342" y="7620"/>
                    <a:pt x="5276342" y="16891"/>
                  </a:cubicBezTo>
                  <a:lnTo>
                    <a:pt x="5276342" y="2699131"/>
                  </a:lnTo>
                  <a:cubicBezTo>
                    <a:pt x="5276342" y="2708529"/>
                    <a:pt x="5268722" y="2716022"/>
                    <a:pt x="5259451"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5259451" y="2682240"/>
                  </a:lnTo>
                  <a:lnTo>
                    <a:pt x="5259451" y="2699131"/>
                  </a:lnTo>
                  <a:lnTo>
                    <a:pt x="5242560" y="2699131"/>
                  </a:lnTo>
                  <a:lnTo>
                    <a:pt x="5242560" y="16891"/>
                  </a:lnTo>
                  <a:lnTo>
                    <a:pt x="5259451" y="16891"/>
                  </a:lnTo>
                  <a:lnTo>
                    <a:pt x="5259451" y="33909"/>
                  </a:lnTo>
                  <a:lnTo>
                    <a:pt x="16891" y="33909"/>
                  </a:lnTo>
                  <a:close/>
                </a:path>
              </a:pathLst>
            </a:custGeom>
            <a:solidFill>
              <a:srgbClr val="C4B5FD"/>
            </a:solidFill>
          </p:spPr>
        </p:sp>
      </p:grpSp>
      <p:grpSp>
        <p:nvGrpSpPr>
          <p:cNvPr name="Group 29" id="29"/>
          <p:cNvGrpSpPr/>
          <p:nvPr/>
        </p:nvGrpSpPr>
        <p:grpSpPr>
          <a:xfrm rot="0">
            <a:off x="9418320" y="1920240"/>
            <a:ext cx="3931920" cy="1133856"/>
            <a:chOff x="0" y="0"/>
            <a:chExt cx="5242560" cy="1511808"/>
          </a:xfrm>
        </p:grpSpPr>
        <p:sp>
          <p:nvSpPr>
            <p:cNvPr name="Freeform 30" id="30"/>
            <p:cNvSpPr/>
            <p:nvPr/>
          </p:nvSpPr>
          <p:spPr>
            <a:xfrm flipH="false" flipV="false" rot="0">
              <a:off x="0" y="0"/>
              <a:ext cx="5242560" cy="1511808"/>
            </a:xfrm>
            <a:custGeom>
              <a:avLst/>
              <a:gdLst/>
              <a:ahLst/>
              <a:cxnLst/>
              <a:rect r="r" b="b" t="t" l="l"/>
              <a:pathLst>
                <a:path h="1511808" w="5242560">
                  <a:moveTo>
                    <a:pt x="0" y="0"/>
                  </a:moveTo>
                  <a:lnTo>
                    <a:pt x="5242560" y="0"/>
                  </a:lnTo>
                  <a:lnTo>
                    <a:pt x="5242560" y="1511808"/>
                  </a:lnTo>
                  <a:lnTo>
                    <a:pt x="0" y="1511808"/>
                  </a:lnTo>
                  <a:close/>
                </a:path>
              </a:pathLst>
            </a:custGeom>
            <a:blipFill>
              <a:blip r:embed="rId3">
                <a:alphaModFix amt="0"/>
              </a:blip>
              <a:stretch>
                <a:fillRect l="0" t="-17569" r="0" b="-17569"/>
              </a:stretch>
            </a:blipFill>
          </p:spPr>
        </p:sp>
        <p:sp>
          <p:nvSpPr>
            <p:cNvPr name="TextBox 31" id="31"/>
            <p:cNvSpPr txBox="true"/>
            <p:nvPr/>
          </p:nvSpPr>
          <p:spPr>
            <a:xfrm>
              <a:off x="0" y="-85725"/>
              <a:ext cx="5242560" cy="1597533"/>
            </a:xfrm>
            <a:prstGeom prst="rect">
              <a:avLst/>
            </a:prstGeom>
          </p:spPr>
          <p:txBody>
            <a:bodyPr anchor="ctr" rtlCol="false" tIns="0" lIns="0" bIns="0" rIns="0"/>
            <a:lstStyle/>
            <a:p>
              <a:pPr algn="ctr">
                <a:lnSpc>
                  <a:spcPts val="5759"/>
                </a:lnSpc>
              </a:pPr>
              <a:r>
                <a:rPr lang="en-US" sz="4800" b="true">
                  <a:solidFill>
                    <a:srgbClr val="7C3AED"/>
                  </a:solidFill>
                  <a:latin typeface="Calibri (MS) Bold"/>
                  <a:ea typeface="Calibri (MS) Bold"/>
                  <a:cs typeface="Calibri (MS) Bold"/>
                  <a:sym typeface="Calibri (MS) Bold"/>
                </a:rPr>
                <a:t>88.03%</a:t>
              </a:r>
            </a:p>
          </p:txBody>
        </p:sp>
      </p:grpSp>
      <p:grpSp>
        <p:nvGrpSpPr>
          <p:cNvPr name="Group 32" id="32"/>
          <p:cNvGrpSpPr/>
          <p:nvPr/>
        </p:nvGrpSpPr>
        <p:grpSpPr>
          <a:xfrm rot="0">
            <a:off x="9418320" y="3054096"/>
            <a:ext cx="3931920" cy="548640"/>
            <a:chOff x="0" y="0"/>
            <a:chExt cx="5242560" cy="731520"/>
          </a:xfrm>
        </p:grpSpPr>
        <p:sp>
          <p:nvSpPr>
            <p:cNvPr name="Freeform 33" id="33"/>
            <p:cNvSpPr/>
            <p:nvPr/>
          </p:nvSpPr>
          <p:spPr>
            <a:xfrm flipH="false" flipV="false" rot="0">
              <a:off x="0" y="0"/>
              <a:ext cx="5242560" cy="731520"/>
            </a:xfrm>
            <a:custGeom>
              <a:avLst/>
              <a:gdLst/>
              <a:ahLst/>
              <a:cxnLst/>
              <a:rect r="r" b="b" t="t" l="l"/>
              <a:pathLst>
                <a:path h="731520" w="5242560">
                  <a:moveTo>
                    <a:pt x="0" y="0"/>
                  </a:moveTo>
                  <a:lnTo>
                    <a:pt x="5242560" y="0"/>
                  </a:lnTo>
                  <a:lnTo>
                    <a:pt x="5242560" y="731520"/>
                  </a:lnTo>
                  <a:lnTo>
                    <a:pt x="0" y="731520"/>
                  </a:lnTo>
                  <a:close/>
                </a:path>
              </a:pathLst>
            </a:custGeom>
            <a:blipFill>
              <a:blip r:embed="rId3">
                <a:alphaModFix amt="0"/>
              </a:blip>
              <a:stretch>
                <a:fillRect l="0" t="-89642" r="0" b="-89642"/>
              </a:stretch>
            </a:blipFill>
          </p:spPr>
        </p:sp>
        <p:sp>
          <p:nvSpPr>
            <p:cNvPr name="TextBox 34" id="34"/>
            <p:cNvSpPr txBox="true"/>
            <p:nvPr/>
          </p:nvSpPr>
          <p:spPr>
            <a:xfrm>
              <a:off x="0" y="-38100"/>
              <a:ext cx="5242560" cy="769620"/>
            </a:xfrm>
            <a:prstGeom prst="rect">
              <a:avLst/>
            </a:prstGeom>
          </p:spPr>
          <p:txBody>
            <a:bodyPr anchor="ctr" rtlCol="false" tIns="0" lIns="0" bIns="0" rIns="0"/>
            <a:lstStyle/>
            <a:p>
              <a:pPr algn="ctr">
                <a:lnSpc>
                  <a:spcPts val="2400"/>
                </a:lnSpc>
              </a:pPr>
              <a:r>
                <a:rPr lang="en-US" sz="2000">
                  <a:solidFill>
                    <a:srgbClr val="64748B"/>
                  </a:solidFill>
                  <a:latin typeface="Calibri (MS)"/>
                  <a:ea typeface="Calibri (MS)"/>
                  <a:cs typeface="Calibri (MS)"/>
                  <a:sym typeface="Calibri (MS)"/>
                </a:rPr>
                <a:t>F1 Score</a:t>
              </a:r>
            </a:p>
          </p:txBody>
        </p:sp>
      </p:grpSp>
      <p:grpSp>
        <p:nvGrpSpPr>
          <p:cNvPr name="Group 35" id="35"/>
          <p:cNvGrpSpPr/>
          <p:nvPr/>
        </p:nvGrpSpPr>
        <p:grpSpPr>
          <a:xfrm rot="0">
            <a:off x="548640" y="3931920"/>
            <a:ext cx="7680960" cy="5852160"/>
            <a:chOff x="0" y="0"/>
            <a:chExt cx="10241280" cy="7802880"/>
          </a:xfrm>
        </p:grpSpPr>
        <p:sp>
          <p:nvSpPr>
            <p:cNvPr name="Freeform 36" id="36" descr="preencoded.png"/>
            <p:cNvSpPr/>
            <p:nvPr/>
          </p:nvSpPr>
          <p:spPr>
            <a:xfrm flipH="false" flipV="false" rot="0">
              <a:off x="0" y="0"/>
              <a:ext cx="10241280" cy="7802880"/>
            </a:xfrm>
            <a:custGeom>
              <a:avLst/>
              <a:gdLst/>
              <a:ahLst/>
              <a:cxnLst/>
              <a:rect r="r" b="b" t="t" l="l"/>
              <a:pathLst>
                <a:path h="7802880" w="10241280">
                  <a:moveTo>
                    <a:pt x="0" y="0"/>
                  </a:moveTo>
                  <a:lnTo>
                    <a:pt x="10241280" y="0"/>
                  </a:lnTo>
                  <a:lnTo>
                    <a:pt x="10241280" y="7802880"/>
                  </a:lnTo>
                  <a:lnTo>
                    <a:pt x="0" y="7802880"/>
                  </a:lnTo>
                  <a:lnTo>
                    <a:pt x="0" y="0"/>
                  </a:lnTo>
                  <a:close/>
                </a:path>
              </a:pathLst>
            </a:custGeom>
            <a:blipFill>
              <a:blip r:embed="rId4"/>
              <a:stretch>
                <a:fillRect l="0" t="-4687" r="0" b="-4687"/>
              </a:stretch>
            </a:blipFill>
          </p:spPr>
        </p:sp>
      </p:grpSp>
      <p:grpSp>
        <p:nvGrpSpPr>
          <p:cNvPr name="Group 37" id="37"/>
          <p:cNvGrpSpPr/>
          <p:nvPr/>
        </p:nvGrpSpPr>
        <p:grpSpPr>
          <a:xfrm rot="0">
            <a:off x="8765543" y="3919223"/>
            <a:ext cx="8986523" cy="5877563"/>
            <a:chOff x="0" y="0"/>
            <a:chExt cx="11982031" cy="7836751"/>
          </a:xfrm>
        </p:grpSpPr>
        <p:sp>
          <p:nvSpPr>
            <p:cNvPr name="Freeform 38" id="38"/>
            <p:cNvSpPr/>
            <p:nvPr/>
          </p:nvSpPr>
          <p:spPr>
            <a:xfrm flipH="false" flipV="false" rot="0">
              <a:off x="16891" y="16891"/>
              <a:ext cx="11948160" cy="7802881"/>
            </a:xfrm>
            <a:custGeom>
              <a:avLst/>
              <a:gdLst/>
              <a:ahLst/>
              <a:cxnLst/>
              <a:rect r="r" b="b" t="t" l="l"/>
              <a:pathLst>
                <a:path h="7802881" w="11948160">
                  <a:moveTo>
                    <a:pt x="0" y="0"/>
                  </a:moveTo>
                  <a:lnTo>
                    <a:pt x="11948160" y="0"/>
                  </a:lnTo>
                  <a:lnTo>
                    <a:pt x="11948160" y="7802881"/>
                  </a:lnTo>
                  <a:lnTo>
                    <a:pt x="0" y="7802881"/>
                  </a:lnTo>
                  <a:close/>
                </a:path>
              </a:pathLst>
            </a:custGeom>
            <a:solidFill>
              <a:srgbClr val="F1F5F9"/>
            </a:solidFill>
          </p:spPr>
        </p:sp>
        <p:sp>
          <p:nvSpPr>
            <p:cNvPr name="Freeform 39" id="39"/>
            <p:cNvSpPr/>
            <p:nvPr/>
          </p:nvSpPr>
          <p:spPr>
            <a:xfrm flipH="false" flipV="false" rot="0">
              <a:off x="0" y="0"/>
              <a:ext cx="11981942" cy="7836662"/>
            </a:xfrm>
            <a:custGeom>
              <a:avLst/>
              <a:gdLst/>
              <a:ahLst/>
              <a:cxnLst/>
              <a:rect r="r" b="b" t="t" l="l"/>
              <a:pathLst>
                <a:path h="7836662" w="11981942">
                  <a:moveTo>
                    <a:pt x="16891" y="0"/>
                  </a:moveTo>
                  <a:lnTo>
                    <a:pt x="11965051" y="0"/>
                  </a:lnTo>
                  <a:cubicBezTo>
                    <a:pt x="11974449" y="0"/>
                    <a:pt x="11981942" y="7620"/>
                    <a:pt x="11981942" y="16891"/>
                  </a:cubicBezTo>
                  <a:lnTo>
                    <a:pt x="11981942" y="7819772"/>
                  </a:lnTo>
                  <a:cubicBezTo>
                    <a:pt x="11981942" y="7829169"/>
                    <a:pt x="11974322" y="7836662"/>
                    <a:pt x="11965051" y="7836662"/>
                  </a:cubicBezTo>
                  <a:lnTo>
                    <a:pt x="16891" y="7836662"/>
                  </a:lnTo>
                  <a:cubicBezTo>
                    <a:pt x="7493" y="7836662"/>
                    <a:pt x="0" y="7829042"/>
                    <a:pt x="0" y="7819772"/>
                  </a:cubicBezTo>
                  <a:lnTo>
                    <a:pt x="0" y="16891"/>
                  </a:lnTo>
                  <a:cubicBezTo>
                    <a:pt x="0" y="7620"/>
                    <a:pt x="7620" y="0"/>
                    <a:pt x="16891" y="0"/>
                  </a:cubicBezTo>
                  <a:moveTo>
                    <a:pt x="16891" y="33909"/>
                  </a:moveTo>
                  <a:lnTo>
                    <a:pt x="16891" y="16891"/>
                  </a:lnTo>
                  <a:lnTo>
                    <a:pt x="33909" y="16891"/>
                  </a:lnTo>
                  <a:lnTo>
                    <a:pt x="33909" y="7819772"/>
                  </a:lnTo>
                  <a:lnTo>
                    <a:pt x="16891" y="7819772"/>
                  </a:lnTo>
                  <a:lnTo>
                    <a:pt x="16891" y="7802880"/>
                  </a:lnTo>
                  <a:lnTo>
                    <a:pt x="11965051" y="7802880"/>
                  </a:lnTo>
                  <a:lnTo>
                    <a:pt x="11965051" y="7819772"/>
                  </a:lnTo>
                  <a:lnTo>
                    <a:pt x="11948160" y="7819772"/>
                  </a:lnTo>
                  <a:lnTo>
                    <a:pt x="11948160" y="16891"/>
                  </a:lnTo>
                  <a:lnTo>
                    <a:pt x="11965051" y="16891"/>
                  </a:lnTo>
                  <a:lnTo>
                    <a:pt x="11965051" y="33909"/>
                  </a:lnTo>
                  <a:lnTo>
                    <a:pt x="16891" y="33909"/>
                  </a:lnTo>
                  <a:close/>
                </a:path>
              </a:pathLst>
            </a:custGeom>
            <a:solidFill>
              <a:srgbClr val="C4B5FD"/>
            </a:solidFill>
          </p:spPr>
        </p:sp>
      </p:grpSp>
      <p:grpSp>
        <p:nvGrpSpPr>
          <p:cNvPr name="Group 40" id="40"/>
          <p:cNvGrpSpPr/>
          <p:nvPr/>
        </p:nvGrpSpPr>
        <p:grpSpPr>
          <a:xfrm rot="0">
            <a:off x="9052560" y="4206240"/>
            <a:ext cx="8412480" cy="731520"/>
            <a:chOff x="0" y="0"/>
            <a:chExt cx="11216640" cy="975360"/>
          </a:xfrm>
        </p:grpSpPr>
        <p:sp>
          <p:nvSpPr>
            <p:cNvPr name="Freeform 41" id="41"/>
            <p:cNvSpPr/>
            <p:nvPr/>
          </p:nvSpPr>
          <p:spPr>
            <a:xfrm flipH="false" flipV="false" rot="0">
              <a:off x="0" y="0"/>
              <a:ext cx="11216640" cy="975360"/>
            </a:xfrm>
            <a:custGeom>
              <a:avLst/>
              <a:gdLst/>
              <a:ahLst/>
              <a:cxnLst/>
              <a:rect r="r" b="b" t="t" l="l"/>
              <a:pathLst>
                <a:path h="975360" w="11216640">
                  <a:moveTo>
                    <a:pt x="0" y="0"/>
                  </a:moveTo>
                  <a:lnTo>
                    <a:pt x="11216640" y="0"/>
                  </a:lnTo>
                  <a:lnTo>
                    <a:pt x="11216640" y="975360"/>
                  </a:lnTo>
                  <a:lnTo>
                    <a:pt x="0" y="975360"/>
                  </a:lnTo>
                  <a:close/>
                </a:path>
              </a:pathLst>
            </a:custGeom>
            <a:blipFill>
              <a:blip r:embed="rId3">
                <a:alphaModFix amt="0"/>
              </a:blip>
              <a:stretch>
                <a:fillRect l="0" t="-174077" r="0" b="-174077"/>
              </a:stretch>
            </a:blipFill>
          </p:spPr>
        </p:sp>
        <p:sp>
          <p:nvSpPr>
            <p:cNvPr name="TextBox 42" id="42"/>
            <p:cNvSpPr txBox="true"/>
            <p:nvPr/>
          </p:nvSpPr>
          <p:spPr>
            <a:xfrm>
              <a:off x="0" y="-47625"/>
              <a:ext cx="11216640" cy="1022985"/>
            </a:xfrm>
            <a:prstGeom prst="rect">
              <a:avLst/>
            </a:prstGeom>
          </p:spPr>
          <p:txBody>
            <a:bodyPr anchor="ctr" rtlCol="false" tIns="0" lIns="0" bIns="0" rIns="0"/>
            <a:lstStyle/>
            <a:p>
              <a:pPr algn="l">
                <a:lnSpc>
                  <a:spcPts val="2640"/>
                </a:lnSpc>
              </a:pPr>
              <a:r>
                <a:rPr lang="en-US" sz="2200" b="true">
                  <a:solidFill>
                    <a:srgbClr val="7C3AED"/>
                  </a:solidFill>
                  <a:latin typeface="Calibri (MS) Bold"/>
                  <a:ea typeface="Calibri (MS) Bold"/>
                  <a:cs typeface="Calibri (MS) Bold"/>
                  <a:sym typeface="Calibri (MS) Bold"/>
                </a:rPr>
                <a:t>Meilleurs hyperparamètres (GridSearchCV 5-fold)</a:t>
              </a:r>
            </a:p>
          </p:txBody>
        </p:sp>
      </p:grpSp>
      <p:grpSp>
        <p:nvGrpSpPr>
          <p:cNvPr name="Group 43" id="43"/>
          <p:cNvGrpSpPr/>
          <p:nvPr/>
        </p:nvGrpSpPr>
        <p:grpSpPr>
          <a:xfrm rot="0">
            <a:off x="9144000" y="5120640"/>
            <a:ext cx="5120640" cy="585216"/>
            <a:chOff x="0" y="0"/>
            <a:chExt cx="6827520" cy="780288"/>
          </a:xfrm>
        </p:grpSpPr>
        <p:sp>
          <p:nvSpPr>
            <p:cNvPr name="Freeform 44" id="44"/>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3">
                <a:alphaModFix amt="0"/>
              </a:blip>
              <a:stretch>
                <a:fillRect l="0" t="-120494" r="0" b="-120494"/>
              </a:stretch>
            </a:blipFill>
          </p:spPr>
        </p:sp>
        <p:sp>
          <p:nvSpPr>
            <p:cNvPr name="TextBox 45" id="45"/>
            <p:cNvSpPr txBox="true"/>
            <p:nvPr/>
          </p:nvSpPr>
          <p:spPr>
            <a:xfrm>
              <a:off x="0" y="-47625"/>
              <a:ext cx="6827520" cy="827913"/>
            </a:xfrm>
            <a:prstGeom prst="rect">
              <a:avLst/>
            </a:prstGeom>
          </p:spPr>
          <p:txBody>
            <a:bodyPr anchor="ctr" rtlCol="false" tIns="0" lIns="0" bIns="0" rIns="0"/>
            <a:lstStyle/>
            <a:p>
              <a:pPr algn="l">
                <a:lnSpc>
                  <a:spcPts val="2520"/>
                </a:lnSpc>
              </a:pPr>
              <a:r>
                <a:rPr lang="en-US" sz="2100">
                  <a:solidFill>
                    <a:srgbClr val="64748B"/>
                  </a:solidFill>
                  <a:latin typeface="Calibri (MS)"/>
                  <a:ea typeface="Calibri (MS)"/>
                  <a:cs typeface="Calibri (MS)"/>
                  <a:sym typeface="Calibri (MS)"/>
                </a:rPr>
                <a:t>n_estimators</a:t>
              </a:r>
            </a:p>
          </p:txBody>
        </p:sp>
      </p:grpSp>
      <p:grpSp>
        <p:nvGrpSpPr>
          <p:cNvPr name="Group 46" id="46"/>
          <p:cNvGrpSpPr/>
          <p:nvPr/>
        </p:nvGrpSpPr>
        <p:grpSpPr>
          <a:xfrm rot="0">
            <a:off x="14343383" y="5107943"/>
            <a:ext cx="3134363" cy="574043"/>
            <a:chOff x="0" y="0"/>
            <a:chExt cx="4179151" cy="765391"/>
          </a:xfrm>
        </p:grpSpPr>
        <p:sp>
          <p:nvSpPr>
            <p:cNvPr name="Freeform 47" id="47"/>
            <p:cNvSpPr/>
            <p:nvPr/>
          </p:nvSpPr>
          <p:spPr>
            <a:xfrm flipH="false" flipV="false" rot="0">
              <a:off x="16891" y="16891"/>
              <a:ext cx="4145280" cy="731520"/>
            </a:xfrm>
            <a:custGeom>
              <a:avLst/>
              <a:gdLst/>
              <a:ahLst/>
              <a:cxnLst/>
              <a:rect r="r" b="b" t="t" l="l"/>
              <a:pathLst>
                <a:path h="731520" w="4145280">
                  <a:moveTo>
                    <a:pt x="0" y="0"/>
                  </a:moveTo>
                  <a:lnTo>
                    <a:pt x="4145280" y="0"/>
                  </a:lnTo>
                  <a:lnTo>
                    <a:pt x="4145280" y="731520"/>
                  </a:lnTo>
                  <a:lnTo>
                    <a:pt x="0" y="731520"/>
                  </a:lnTo>
                  <a:close/>
                </a:path>
              </a:pathLst>
            </a:custGeom>
            <a:solidFill>
              <a:srgbClr val="7C3AED"/>
            </a:solidFill>
          </p:spPr>
        </p:sp>
        <p:sp>
          <p:nvSpPr>
            <p:cNvPr name="Freeform 48" id="48"/>
            <p:cNvSpPr/>
            <p:nvPr/>
          </p:nvSpPr>
          <p:spPr>
            <a:xfrm flipH="false" flipV="false" rot="0">
              <a:off x="0" y="0"/>
              <a:ext cx="4179062" cy="765304"/>
            </a:xfrm>
            <a:custGeom>
              <a:avLst/>
              <a:gdLst/>
              <a:ahLst/>
              <a:cxnLst/>
              <a:rect r="r" b="b" t="t" l="l"/>
              <a:pathLst>
                <a:path h="765304" w="4179062">
                  <a:moveTo>
                    <a:pt x="16891" y="0"/>
                  </a:moveTo>
                  <a:lnTo>
                    <a:pt x="4162171" y="0"/>
                  </a:lnTo>
                  <a:cubicBezTo>
                    <a:pt x="4171569" y="0"/>
                    <a:pt x="4179062" y="7620"/>
                    <a:pt x="4179062" y="16891"/>
                  </a:cubicBezTo>
                  <a:lnTo>
                    <a:pt x="4179062" y="748411"/>
                  </a:lnTo>
                  <a:cubicBezTo>
                    <a:pt x="4179062" y="757809"/>
                    <a:pt x="4171442" y="765302"/>
                    <a:pt x="416217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4162171" y="731520"/>
                  </a:lnTo>
                  <a:lnTo>
                    <a:pt x="4162171" y="748411"/>
                  </a:lnTo>
                  <a:lnTo>
                    <a:pt x="4145280" y="748411"/>
                  </a:lnTo>
                  <a:lnTo>
                    <a:pt x="4145280" y="16891"/>
                  </a:lnTo>
                  <a:lnTo>
                    <a:pt x="4162171" y="16891"/>
                  </a:lnTo>
                  <a:lnTo>
                    <a:pt x="4162171" y="33909"/>
                  </a:lnTo>
                  <a:lnTo>
                    <a:pt x="16891" y="33909"/>
                  </a:lnTo>
                  <a:close/>
                </a:path>
              </a:pathLst>
            </a:custGeom>
            <a:solidFill>
              <a:srgbClr val="7C3AED"/>
            </a:solidFill>
          </p:spPr>
        </p:sp>
      </p:grpSp>
      <p:grpSp>
        <p:nvGrpSpPr>
          <p:cNvPr name="Group 49" id="49"/>
          <p:cNvGrpSpPr/>
          <p:nvPr/>
        </p:nvGrpSpPr>
        <p:grpSpPr>
          <a:xfrm rot="0">
            <a:off x="14356080" y="5120640"/>
            <a:ext cx="3108960" cy="548640"/>
            <a:chOff x="0" y="0"/>
            <a:chExt cx="4145280" cy="731520"/>
          </a:xfrm>
        </p:grpSpPr>
        <p:sp>
          <p:nvSpPr>
            <p:cNvPr name="Freeform 50" id="50"/>
            <p:cNvSpPr/>
            <p:nvPr/>
          </p:nvSpPr>
          <p:spPr>
            <a:xfrm flipH="false" flipV="false" rot="0">
              <a:off x="0" y="0"/>
              <a:ext cx="4145280" cy="731520"/>
            </a:xfrm>
            <a:custGeom>
              <a:avLst/>
              <a:gdLst/>
              <a:ahLst/>
              <a:cxnLst/>
              <a:rect r="r" b="b" t="t" l="l"/>
              <a:pathLst>
                <a:path h="731520" w="4145280">
                  <a:moveTo>
                    <a:pt x="0" y="0"/>
                  </a:moveTo>
                  <a:lnTo>
                    <a:pt x="4145280" y="0"/>
                  </a:lnTo>
                  <a:lnTo>
                    <a:pt x="4145280" y="731520"/>
                  </a:lnTo>
                  <a:lnTo>
                    <a:pt x="0" y="731520"/>
                  </a:lnTo>
                  <a:close/>
                </a:path>
              </a:pathLst>
            </a:custGeom>
            <a:blipFill>
              <a:blip r:embed="rId3">
                <a:alphaModFix amt="0"/>
              </a:blip>
              <a:stretch>
                <a:fillRect l="0" t="-60415" r="0" b="-60415"/>
              </a:stretch>
            </a:blipFill>
          </p:spPr>
        </p:sp>
        <p:sp>
          <p:nvSpPr>
            <p:cNvPr name="TextBox 51" id="51"/>
            <p:cNvSpPr txBox="true"/>
            <p:nvPr/>
          </p:nvSpPr>
          <p:spPr>
            <a:xfrm>
              <a:off x="0" y="-47625"/>
              <a:ext cx="4145280" cy="7791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500</a:t>
              </a:r>
            </a:p>
          </p:txBody>
        </p:sp>
      </p:grpSp>
      <p:grpSp>
        <p:nvGrpSpPr>
          <p:cNvPr name="Group 52" id="52"/>
          <p:cNvGrpSpPr/>
          <p:nvPr/>
        </p:nvGrpSpPr>
        <p:grpSpPr>
          <a:xfrm rot="0">
            <a:off x="9144000" y="5815584"/>
            <a:ext cx="5120640" cy="585216"/>
            <a:chOff x="0" y="0"/>
            <a:chExt cx="6827520" cy="780288"/>
          </a:xfrm>
        </p:grpSpPr>
        <p:sp>
          <p:nvSpPr>
            <p:cNvPr name="Freeform 53" id="53"/>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3">
                <a:alphaModFix amt="0"/>
              </a:blip>
              <a:stretch>
                <a:fillRect l="0" t="-120494" r="0" b="-120494"/>
              </a:stretch>
            </a:blipFill>
          </p:spPr>
        </p:sp>
        <p:sp>
          <p:nvSpPr>
            <p:cNvPr name="TextBox 54" id="54"/>
            <p:cNvSpPr txBox="true"/>
            <p:nvPr/>
          </p:nvSpPr>
          <p:spPr>
            <a:xfrm>
              <a:off x="0" y="-47625"/>
              <a:ext cx="6827520" cy="827913"/>
            </a:xfrm>
            <a:prstGeom prst="rect">
              <a:avLst/>
            </a:prstGeom>
          </p:spPr>
          <p:txBody>
            <a:bodyPr anchor="ctr" rtlCol="false" tIns="0" lIns="0" bIns="0" rIns="0"/>
            <a:lstStyle/>
            <a:p>
              <a:pPr algn="l">
                <a:lnSpc>
                  <a:spcPts val="2520"/>
                </a:lnSpc>
              </a:pPr>
              <a:r>
                <a:rPr lang="en-US" sz="2100">
                  <a:solidFill>
                    <a:srgbClr val="64748B"/>
                  </a:solidFill>
                  <a:latin typeface="Calibri (MS)"/>
                  <a:ea typeface="Calibri (MS)"/>
                  <a:cs typeface="Calibri (MS)"/>
                  <a:sym typeface="Calibri (MS)"/>
                </a:rPr>
                <a:t>max_depth</a:t>
              </a:r>
            </a:p>
          </p:txBody>
        </p:sp>
      </p:grpSp>
      <p:grpSp>
        <p:nvGrpSpPr>
          <p:cNvPr name="Group 55" id="55"/>
          <p:cNvGrpSpPr/>
          <p:nvPr/>
        </p:nvGrpSpPr>
        <p:grpSpPr>
          <a:xfrm rot="0">
            <a:off x="14343383" y="5802887"/>
            <a:ext cx="3134363" cy="574043"/>
            <a:chOff x="0" y="0"/>
            <a:chExt cx="4179151" cy="765391"/>
          </a:xfrm>
        </p:grpSpPr>
        <p:sp>
          <p:nvSpPr>
            <p:cNvPr name="Freeform 56" id="56"/>
            <p:cNvSpPr/>
            <p:nvPr/>
          </p:nvSpPr>
          <p:spPr>
            <a:xfrm flipH="false" flipV="false" rot="0">
              <a:off x="16891" y="16891"/>
              <a:ext cx="4145280" cy="731520"/>
            </a:xfrm>
            <a:custGeom>
              <a:avLst/>
              <a:gdLst/>
              <a:ahLst/>
              <a:cxnLst/>
              <a:rect r="r" b="b" t="t" l="l"/>
              <a:pathLst>
                <a:path h="731520" w="4145280">
                  <a:moveTo>
                    <a:pt x="0" y="0"/>
                  </a:moveTo>
                  <a:lnTo>
                    <a:pt x="4145280" y="0"/>
                  </a:lnTo>
                  <a:lnTo>
                    <a:pt x="4145280" y="731520"/>
                  </a:lnTo>
                  <a:lnTo>
                    <a:pt x="0" y="731520"/>
                  </a:lnTo>
                  <a:close/>
                </a:path>
              </a:pathLst>
            </a:custGeom>
            <a:solidFill>
              <a:srgbClr val="7C3AED"/>
            </a:solidFill>
          </p:spPr>
        </p:sp>
        <p:sp>
          <p:nvSpPr>
            <p:cNvPr name="Freeform 57" id="57"/>
            <p:cNvSpPr/>
            <p:nvPr/>
          </p:nvSpPr>
          <p:spPr>
            <a:xfrm flipH="false" flipV="false" rot="0">
              <a:off x="0" y="0"/>
              <a:ext cx="4179062" cy="765304"/>
            </a:xfrm>
            <a:custGeom>
              <a:avLst/>
              <a:gdLst/>
              <a:ahLst/>
              <a:cxnLst/>
              <a:rect r="r" b="b" t="t" l="l"/>
              <a:pathLst>
                <a:path h="765304" w="4179062">
                  <a:moveTo>
                    <a:pt x="16891" y="0"/>
                  </a:moveTo>
                  <a:lnTo>
                    <a:pt x="4162171" y="0"/>
                  </a:lnTo>
                  <a:cubicBezTo>
                    <a:pt x="4171569" y="0"/>
                    <a:pt x="4179062" y="7620"/>
                    <a:pt x="4179062" y="16891"/>
                  </a:cubicBezTo>
                  <a:lnTo>
                    <a:pt x="4179062" y="748411"/>
                  </a:lnTo>
                  <a:cubicBezTo>
                    <a:pt x="4179062" y="757809"/>
                    <a:pt x="4171442" y="765302"/>
                    <a:pt x="416217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4162171" y="731520"/>
                  </a:lnTo>
                  <a:lnTo>
                    <a:pt x="4162171" y="748411"/>
                  </a:lnTo>
                  <a:lnTo>
                    <a:pt x="4145280" y="748411"/>
                  </a:lnTo>
                  <a:lnTo>
                    <a:pt x="4145280" y="16891"/>
                  </a:lnTo>
                  <a:lnTo>
                    <a:pt x="4162171" y="16891"/>
                  </a:lnTo>
                  <a:lnTo>
                    <a:pt x="4162171" y="33909"/>
                  </a:lnTo>
                  <a:lnTo>
                    <a:pt x="16891" y="33909"/>
                  </a:lnTo>
                  <a:close/>
                </a:path>
              </a:pathLst>
            </a:custGeom>
            <a:solidFill>
              <a:srgbClr val="7C3AED"/>
            </a:solidFill>
          </p:spPr>
        </p:sp>
      </p:grpSp>
      <p:grpSp>
        <p:nvGrpSpPr>
          <p:cNvPr name="Group 58" id="58"/>
          <p:cNvGrpSpPr/>
          <p:nvPr/>
        </p:nvGrpSpPr>
        <p:grpSpPr>
          <a:xfrm rot="0">
            <a:off x="14356080" y="5815584"/>
            <a:ext cx="3108960" cy="548640"/>
            <a:chOff x="0" y="0"/>
            <a:chExt cx="4145280" cy="731520"/>
          </a:xfrm>
        </p:grpSpPr>
        <p:sp>
          <p:nvSpPr>
            <p:cNvPr name="Freeform 59" id="59"/>
            <p:cNvSpPr/>
            <p:nvPr/>
          </p:nvSpPr>
          <p:spPr>
            <a:xfrm flipH="false" flipV="false" rot="0">
              <a:off x="0" y="0"/>
              <a:ext cx="4145280" cy="731520"/>
            </a:xfrm>
            <a:custGeom>
              <a:avLst/>
              <a:gdLst/>
              <a:ahLst/>
              <a:cxnLst/>
              <a:rect r="r" b="b" t="t" l="l"/>
              <a:pathLst>
                <a:path h="731520" w="4145280">
                  <a:moveTo>
                    <a:pt x="0" y="0"/>
                  </a:moveTo>
                  <a:lnTo>
                    <a:pt x="4145280" y="0"/>
                  </a:lnTo>
                  <a:lnTo>
                    <a:pt x="4145280" y="731520"/>
                  </a:lnTo>
                  <a:lnTo>
                    <a:pt x="0" y="731520"/>
                  </a:lnTo>
                  <a:close/>
                </a:path>
              </a:pathLst>
            </a:custGeom>
            <a:blipFill>
              <a:blip r:embed="rId3">
                <a:alphaModFix amt="0"/>
              </a:blip>
              <a:stretch>
                <a:fillRect l="0" t="-60415" r="0" b="-60415"/>
              </a:stretch>
            </a:blipFill>
          </p:spPr>
        </p:sp>
        <p:sp>
          <p:nvSpPr>
            <p:cNvPr name="TextBox 60" id="60"/>
            <p:cNvSpPr txBox="true"/>
            <p:nvPr/>
          </p:nvSpPr>
          <p:spPr>
            <a:xfrm>
              <a:off x="0" y="-47625"/>
              <a:ext cx="4145280" cy="7791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30</a:t>
              </a:r>
            </a:p>
          </p:txBody>
        </p:sp>
      </p:grpSp>
      <p:grpSp>
        <p:nvGrpSpPr>
          <p:cNvPr name="Group 61" id="61"/>
          <p:cNvGrpSpPr/>
          <p:nvPr/>
        </p:nvGrpSpPr>
        <p:grpSpPr>
          <a:xfrm rot="0">
            <a:off x="9144000" y="6510528"/>
            <a:ext cx="5120640" cy="585216"/>
            <a:chOff x="0" y="0"/>
            <a:chExt cx="6827520" cy="780288"/>
          </a:xfrm>
        </p:grpSpPr>
        <p:sp>
          <p:nvSpPr>
            <p:cNvPr name="Freeform 62" id="62"/>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3">
                <a:alphaModFix amt="0"/>
              </a:blip>
              <a:stretch>
                <a:fillRect l="0" t="-120494" r="0" b="-120494"/>
              </a:stretch>
            </a:blipFill>
          </p:spPr>
        </p:sp>
        <p:sp>
          <p:nvSpPr>
            <p:cNvPr name="TextBox 63" id="63"/>
            <p:cNvSpPr txBox="true"/>
            <p:nvPr/>
          </p:nvSpPr>
          <p:spPr>
            <a:xfrm>
              <a:off x="0" y="-47625"/>
              <a:ext cx="6827520" cy="827913"/>
            </a:xfrm>
            <a:prstGeom prst="rect">
              <a:avLst/>
            </a:prstGeom>
          </p:spPr>
          <p:txBody>
            <a:bodyPr anchor="ctr" rtlCol="false" tIns="0" lIns="0" bIns="0" rIns="0"/>
            <a:lstStyle/>
            <a:p>
              <a:pPr algn="l">
                <a:lnSpc>
                  <a:spcPts val="2520"/>
                </a:lnSpc>
              </a:pPr>
              <a:r>
                <a:rPr lang="en-US" sz="2100">
                  <a:solidFill>
                    <a:srgbClr val="64748B"/>
                  </a:solidFill>
                  <a:latin typeface="Calibri (MS)"/>
                  <a:ea typeface="Calibri (MS)"/>
                  <a:cs typeface="Calibri (MS)"/>
                  <a:sym typeface="Calibri (MS)"/>
                </a:rPr>
                <a:t>min_samples_split</a:t>
              </a:r>
            </a:p>
          </p:txBody>
        </p:sp>
      </p:grpSp>
      <p:grpSp>
        <p:nvGrpSpPr>
          <p:cNvPr name="Group 64" id="64"/>
          <p:cNvGrpSpPr/>
          <p:nvPr/>
        </p:nvGrpSpPr>
        <p:grpSpPr>
          <a:xfrm rot="0">
            <a:off x="14343383" y="6497831"/>
            <a:ext cx="3134363" cy="574043"/>
            <a:chOff x="0" y="0"/>
            <a:chExt cx="4179151" cy="765391"/>
          </a:xfrm>
        </p:grpSpPr>
        <p:sp>
          <p:nvSpPr>
            <p:cNvPr name="Freeform 65" id="65"/>
            <p:cNvSpPr/>
            <p:nvPr/>
          </p:nvSpPr>
          <p:spPr>
            <a:xfrm flipH="false" flipV="false" rot="0">
              <a:off x="16891" y="16891"/>
              <a:ext cx="4145280" cy="731520"/>
            </a:xfrm>
            <a:custGeom>
              <a:avLst/>
              <a:gdLst/>
              <a:ahLst/>
              <a:cxnLst/>
              <a:rect r="r" b="b" t="t" l="l"/>
              <a:pathLst>
                <a:path h="731520" w="4145280">
                  <a:moveTo>
                    <a:pt x="0" y="0"/>
                  </a:moveTo>
                  <a:lnTo>
                    <a:pt x="4145280" y="0"/>
                  </a:lnTo>
                  <a:lnTo>
                    <a:pt x="4145280" y="731520"/>
                  </a:lnTo>
                  <a:lnTo>
                    <a:pt x="0" y="731520"/>
                  </a:lnTo>
                  <a:close/>
                </a:path>
              </a:pathLst>
            </a:custGeom>
            <a:solidFill>
              <a:srgbClr val="7C3AED"/>
            </a:solidFill>
          </p:spPr>
        </p:sp>
        <p:sp>
          <p:nvSpPr>
            <p:cNvPr name="Freeform 66" id="66"/>
            <p:cNvSpPr/>
            <p:nvPr/>
          </p:nvSpPr>
          <p:spPr>
            <a:xfrm flipH="false" flipV="false" rot="0">
              <a:off x="0" y="0"/>
              <a:ext cx="4179062" cy="765304"/>
            </a:xfrm>
            <a:custGeom>
              <a:avLst/>
              <a:gdLst/>
              <a:ahLst/>
              <a:cxnLst/>
              <a:rect r="r" b="b" t="t" l="l"/>
              <a:pathLst>
                <a:path h="765304" w="4179062">
                  <a:moveTo>
                    <a:pt x="16891" y="0"/>
                  </a:moveTo>
                  <a:lnTo>
                    <a:pt x="4162171" y="0"/>
                  </a:lnTo>
                  <a:cubicBezTo>
                    <a:pt x="4171569" y="0"/>
                    <a:pt x="4179062" y="7620"/>
                    <a:pt x="4179062" y="16891"/>
                  </a:cubicBezTo>
                  <a:lnTo>
                    <a:pt x="4179062" y="748411"/>
                  </a:lnTo>
                  <a:cubicBezTo>
                    <a:pt x="4179062" y="757809"/>
                    <a:pt x="4171442" y="765302"/>
                    <a:pt x="416217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4162171" y="731520"/>
                  </a:lnTo>
                  <a:lnTo>
                    <a:pt x="4162171" y="748411"/>
                  </a:lnTo>
                  <a:lnTo>
                    <a:pt x="4145280" y="748411"/>
                  </a:lnTo>
                  <a:lnTo>
                    <a:pt x="4145280" y="16891"/>
                  </a:lnTo>
                  <a:lnTo>
                    <a:pt x="4162171" y="16891"/>
                  </a:lnTo>
                  <a:lnTo>
                    <a:pt x="4162171" y="33909"/>
                  </a:lnTo>
                  <a:lnTo>
                    <a:pt x="16891" y="33909"/>
                  </a:lnTo>
                  <a:close/>
                </a:path>
              </a:pathLst>
            </a:custGeom>
            <a:solidFill>
              <a:srgbClr val="7C3AED"/>
            </a:solidFill>
          </p:spPr>
        </p:sp>
      </p:grpSp>
      <p:grpSp>
        <p:nvGrpSpPr>
          <p:cNvPr name="Group 67" id="67"/>
          <p:cNvGrpSpPr/>
          <p:nvPr/>
        </p:nvGrpSpPr>
        <p:grpSpPr>
          <a:xfrm rot="0">
            <a:off x="14356080" y="6510528"/>
            <a:ext cx="3108960" cy="548640"/>
            <a:chOff x="0" y="0"/>
            <a:chExt cx="4145280" cy="731520"/>
          </a:xfrm>
        </p:grpSpPr>
        <p:sp>
          <p:nvSpPr>
            <p:cNvPr name="Freeform 68" id="68"/>
            <p:cNvSpPr/>
            <p:nvPr/>
          </p:nvSpPr>
          <p:spPr>
            <a:xfrm flipH="false" flipV="false" rot="0">
              <a:off x="0" y="0"/>
              <a:ext cx="4145280" cy="731520"/>
            </a:xfrm>
            <a:custGeom>
              <a:avLst/>
              <a:gdLst/>
              <a:ahLst/>
              <a:cxnLst/>
              <a:rect r="r" b="b" t="t" l="l"/>
              <a:pathLst>
                <a:path h="731520" w="4145280">
                  <a:moveTo>
                    <a:pt x="0" y="0"/>
                  </a:moveTo>
                  <a:lnTo>
                    <a:pt x="4145280" y="0"/>
                  </a:lnTo>
                  <a:lnTo>
                    <a:pt x="4145280" y="731520"/>
                  </a:lnTo>
                  <a:lnTo>
                    <a:pt x="0" y="731520"/>
                  </a:lnTo>
                  <a:close/>
                </a:path>
              </a:pathLst>
            </a:custGeom>
            <a:blipFill>
              <a:blip r:embed="rId3">
                <a:alphaModFix amt="0"/>
              </a:blip>
              <a:stretch>
                <a:fillRect l="0" t="-60415" r="0" b="-60415"/>
              </a:stretch>
            </a:blipFill>
          </p:spPr>
        </p:sp>
        <p:sp>
          <p:nvSpPr>
            <p:cNvPr name="TextBox 69" id="69"/>
            <p:cNvSpPr txBox="true"/>
            <p:nvPr/>
          </p:nvSpPr>
          <p:spPr>
            <a:xfrm>
              <a:off x="0" y="-47625"/>
              <a:ext cx="4145280" cy="7791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2</a:t>
              </a:r>
            </a:p>
          </p:txBody>
        </p:sp>
      </p:grpSp>
      <p:grpSp>
        <p:nvGrpSpPr>
          <p:cNvPr name="Group 70" id="70"/>
          <p:cNvGrpSpPr/>
          <p:nvPr/>
        </p:nvGrpSpPr>
        <p:grpSpPr>
          <a:xfrm rot="0">
            <a:off x="9144000" y="7205472"/>
            <a:ext cx="5120640" cy="585216"/>
            <a:chOff x="0" y="0"/>
            <a:chExt cx="6827520" cy="780288"/>
          </a:xfrm>
        </p:grpSpPr>
        <p:sp>
          <p:nvSpPr>
            <p:cNvPr name="Freeform 71" id="71"/>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3">
                <a:alphaModFix amt="0"/>
              </a:blip>
              <a:stretch>
                <a:fillRect l="0" t="-120494" r="0" b="-120494"/>
              </a:stretch>
            </a:blipFill>
          </p:spPr>
        </p:sp>
        <p:sp>
          <p:nvSpPr>
            <p:cNvPr name="TextBox 72" id="72"/>
            <p:cNvSpPr txBox="true"/>
            <p:nvPr/>
          </p:nvSpPr>
          <p:spPr>
            <a:xfrm>
              <a:off x="0" y="-47625"/>
              <a:ext cx="6827520" cy="827913"/>
            </a:xfrm>
            <a:prstGeom prst="rect">
              <a:avLst/>
            </a:prstGeom>
          </p:spPr>
          <p:txBody>
            <a:bodyPr anchor="ctr" rtlCol="false" tIns="0" lIns="0" bIns="0" rIns="0"/>
            <a:lstStyle/>
            <a:p>
              <a:pPr algn="l">
                <a:lnSpc>
                  <a:spcPts val="2520"/>
                </a:lnSpc>
              </a:pPr>
              <a:r>
                <a:rPr lang="en-US" sz="2100">
                  <a:solidFill>
                    <a:srgbClr val="64748B"/>
                  </a:solidFill>
                  <a:latin typeface="Calibri (MS)"/>
                  <a:ea typeface="Calibri (MS)"/>
                  <a:cs typeface="Calibri (MS)"/>
                  <a:sym typeface="Calibri (MS)"/>
                </a:rPr>
                <a:t>min_samples_leaf</a:t>
              </a:r>
            </a:p>
          </p:txBody>
        </p:sp>
      </p:grpSp>
      <p:grpSp>
        <p:nvGrpSpPr>
          <p:cNvPr name="Group 73" id="73"/>
          <p:cNvGrpSpPr/>
          <p:nvPr/>
        </p:nvGrpSpPr>
        <p:grpSpPr>
          <a:xfrm rot="0">
            <a:off x="14343383" y="7192775"/>
            <a:ext cx="3134363" cy="574043"/>
            <a:chOff x="0" y="0"/>
            <a:chExt cx="4179151" cy="765391"/>
          </a:xfrm>
        </p:grpSpPr>
        <p:sp>
          <p:nvSpPr>
            <p:cNvPr name="Freeform 74" id="74"/>
            <p:cNvSpPr/>
            <p:nvPr/>
          </p:nvSpPr>
          <p:spPr>
            <a:xfrm flipH="false" flipV="false" rot="0">
              <a:off x="16891" y="16891"/>
              <a:ext cx="4145280" cy="731520"/>
            </a:xfrm>
            <a:custGeom>
              <a:avLst/>
              <a:gdLst/>
              <a:ahLst/>
              <a:cxnLst/>
              <a:rect r="r" b="b" t="t" l="l"/>
              <a:pathLst>
                <a:path h="731520" w="4145280">
                  <a:moveTo>
                    <a:pt x="0" y="0"/>
                  </a:moveTo>
                  <a:lnTo>
                    <a:pt x="4145280" y="0"/>
                  </a:lnTo>
                  <a:lnTo>
                    <a:pt x="4145280" y="731520"/>
                  </a:lnTo>
                  <a:lnTo>
                    <a:pt x="0" y="731520"/>
                  </a:lnTo>
                  <a:close/>
                </a:path>
              </a:pathLst>
            </a:custGeom>
            <a:solidFill>
              <a:srgbClr val="7C3AED"/>
            </a:solidFill>
          </p:spPr>
        </p:sp>
        <p:sp>
          <p:nvSpPr>
            <p:cNvPr name="Freeform 75" id="75"/>
            <p:cNvSpPr/>
            <p:nvPr/>
          </p:nvSpPr>
          <p:spPr>
            <a:xfrm flipH="false" flipV="false" rot="0">
              <a:off x="0" y="0"/>
              <a:ext cx="4179062" cy="765304"/>
            </a:xfrm>
            <a:custGeom>
              <a:avLst/>
              <a:gdLst/>
              <a:ahLst/>
              <a:cxnLst/>
              <a:rect r="r" b="b" t="t" l="l"/>
              <a:pathLst>
                <a:path h="765304" w="4179062">
                  <a:moveTo>
                    <a:pt x="16891" y="0"/>
                  </a:moveTo>
                  <a:lnTo>
                    <a:pt x="4162171" y="0"/>
                  </a:lnTo>
                  <a:cubicBezTo>
                    <a:pt x="4171569" y="0"/>
                    <a:pt x="4179062" y="7620"/>
                    <a:pt x="4179062" y="16891"/>
                  </a:cubicBezTo>
                  <a:lnTo>
                    <a:pt x="4179062" y="748411"/>
                  </a:lnTo>
                  <a:cubicBezTo>
                    <a:pt x="4179062" y="757809"/>
                    <a:pt x="4171442" y="765302"/>
                    <a:pt x="416217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4162171" y="731520"/>
                  </a:lnTo>
                  <a:lnTo>
                    <a:pt x="4162171" y="748411"/>
                  </a:lnTo>
                  <a:lnTo>
                    <a:pt x="4145280" y="748411"/>
                  </a:lnTo>
                  <a:lnTo>
                    <a:pt x="4145280" y="16891"/>
                  </a:lnTo>
                  <a:lnTo>
                    <a:pt x="4162171" y="16891"/>
                  </a:lnTo>
                  <a:lnTo>
                    <a:pt x="4162171" y="33909"/>
                  </a:lnTo>
                  <a:lnTo>
                    <a:pt x="16891" y="33909"/>
                  </a:lnTo>
                  <a:close/>
                </a:path>
              </a:pathLst>
            </a:custGeom>
            <a:solidFill>
              <a:srgbClr val="7C3AED"/>
            </a:solidFill>
          </p:spPr>
        </p:sp>
      </p:grpSp>
      <p:grpSp>
        <p:nvGrpSpPr>
          <p:cNvPr name="Group 76" id="76"/>
          <p:cNvGrpSpPr/>
          <p:nvPr/>
        </p:nvGrpSpPr>
        <p:grpSpPr>
          <a:xfrm rot="0">
            <a:off x="14356080" y="7205472"/>
            <a:ext cx="3108960" cy="548640"/>
            <a:chOff x="0" y="0"/>
            <a:chExt cx="4145280" cy="731520"/>
          </a:xfrm>
        </p:grpSpPr>
        <p:sp>
          <p:nvSpPr>
            <p:cNvPr name="Freeform 77" id="77"/>
            <p:cNvSpPr/>
            <p:nvPr/>
          </p:nvSpPr>
          <p:spPr>
            <a:xfrm flipH="false" flipV="false" rot="0">
              <a:off x="0" y="0"/>
              <a:ext cx="4145280" cy="731520"/>
            </a:xfrm>
            <a:custGeom>
              <a:avLst/>
              <a:gdLst/>
              <a:ahLst/>
              <a:cxnLst/>
              <a:rect r="r" b="b" t="t" l="l"/>
              <a:pathLst>
                <a:path h="731520" w="4145280">
                  <a:moveTo>
                    <a:pt x="0" y="0"/>
                  </a:moveTo>
                  <a:lnTo>
                    <a:pt x="4145280" y="0"/>
                  </a:lnTo>
                  <a:lnTo>
                    <a:pt x="4145280" y="731520"/>
                  </a:lnTo>
                  <a:lnTo>
                    <a:pt x="0" y="731520"/>
                  </a:lnTo>
                  <a:close/>
                </a:path>
              </a:pathLst>
            </a:custGeom>
            <a:blipFill>
              <a:blip r:embed="rId3">
                <a:alphaModFix amt="0"/>
              </a:blip>
              <a:stretch>
                <a:fillRect l="0" t="-60415" r="0" b="-60415"/>
              </a:stretch>
            </a:blipFill>
          </p:spPr>
        </p:sp>
        <p:sp>
          <p:nvSpPr>
            <p:cNvPr name="TextBox 78" id="78"/>
            <p:cNvSpPr txBox="true"/>
            <p:nvPr/>
          </p:nvSpPr>
          <p:spPr>
            <a:xfrm>
              <a:off x="0" y="-47625"/>
              <a:ext cx="4145280" cy="7791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1</a:t>
              </a:r>
            </a:p>
          </p:txBody>
        </p:sp>
      </p:grpSp>
      <p:grpSp>
        <p:nvGrpSpPr>
          <p:cNvPr name="Group 79" id="79"/>
          <p:cNvGrpSpPr/>
          <p:nvPr/>
        </p:nvGrpSpPr>
        <p:grpSpPr>
          <a:xfrm rot="0">
            <a:off x="9144000" y="7900416"/>
            <a:ext cx="5120640" cy="585216"/>
            <a:chOff x="0" y="0"/>
            <a:chExt cx="6827520" cy="780288"/>
          </a:xfrm>
        </p:grpSpPr>
        <p:sp>
          <p:nvSpPr>
            <p:cNvPr name="Freeform 80" id="80"/>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3">
                <a:alphaModFix amt="0"/>
              </a:blip>
              <a:stretch>
                <a:fillRect l="0" t="-120494" r="0" b="-120494"/>
              </a:stretch>
            </a:blipFill>
          </p:spPr>
        </p:sp>
        <p:sp>
          <p:nvSpPr>
            <p:cNvPr name="TextBox 81" id="81"/>
            <p:cNvSpPr txBox="true"/>
            <p:nvPr/>
          </p:nvSpPr>
          <p:spPr>
            <a:xfrm>
              <a:off x="0" y="-47625"/>
              <a:ext cx="6827520" cy="827913"/>
            </a:xfrm>
            <a:prstGeom prst="rect">
              <a:avLst/>
            </a:prstGeom>
          </p:spPr>
          <p:txBody>
            <a:bodyPr anchor="ctr" rtlCol="false" tIns="0" lIns="0" bIns="0" rIns="0"/>
            <a:lstStyle/>
            <a:p>
              <a:pPr algn="l">
                <a:lnSpc>
                  <a:spcPts val="2520"/>
                </a:lnSpc>
              </a:pPr>
              <a:r>
                <a:rPr lang="en-US" sz="2100">
                  <a:solidFill>
                    <a:srgbClr val="64748B"/>
                  </a:solidFill>
                  <a:latin typeface="Calibri (MS)"/>
                  <a:ea typeface="Calibri (MS)"/>
                  <a:cs typeface="Calibri (MS)"/>
                  <a:sym typeface="Calibri (MS)"/>
                </a:rPr>
                <a:t>Scoring CV</a:t>
              </a:r>
            </a:p>
          </p:txBody>
        </p:sp>
      </p:grpSp>
      <p:grpSp>
        <p:nvGrpSpPr>
          <p:cNvPr name="Group 82" id="82"/>
          <p:cNvGrpSpPr/>
          <p:nvPr/>
        </p:nvGrpSpPr>
        <p:grpSpPr>
          <a:xfrm rot="0">
            <a:off x="14343383" y="7887719"/>
            <a:ext cx="3134363" cy="574043"/>
            <a:chOff x="0" y="0"/>
            <a:chExt cx="4179151" cy="765391"/>
          </a:xfrm>
        </p:grpSpPr>
        <p:sp>
          <p:nvSpPr>
            <p:cNvPr name="Freeform 83" id="83"/>
            <p:cNvSpPr/>
            <p:nvPr/>
          </p:nvSpPr>
          <p:spPr>
            <a:xfrm flipH="false" flipV="false" rot="0">
              <a:off x="16891" y="16891"/>
              <a:ext cx="4145280" cy="731520"/>
            </a:xfrm>
            <a:custGeom>
              <a:avLst/>
              <a:gdLst/>
              <a:ahLst/>
              <a:cxnLst/>
              <a:rect r="r" b="b" t="t" l="l"/>
              <a:pathLst>
                <a:path h="731520" w="4145280">
                  <a:moveTo>
                    <a:pt x="0" y="0"/>
                  </a:moveTo>
                  <a:lnTo>
                    <a:pt x="4145280" y="0"/>
                  </a:lnTo>
                  <a:lnTo>
                    <a:pt x="4145280" y="731520"/>
                  </a:lnTo>
                  <a:lnTo>
                    <a:pt x="0" y="731520"/>
                  </a:lnTo>
                  <a:close/>
                </a:path>
              </a:pathLst>
            </a:custGeom>
            <a:solidFill>
              <a:srgbClr val="7C3AED"/>
            </a:solidFill>
          </p:spPr>
        </p:sp>
        <p:sp>
          <p:nvSpPr>
            <p:cNvPr name="Freeform 84" id="84"/>
            <p:cNvSpPr/>
            <p:nvPr/>
          </p:nvSpPr>
          <p:spPr>
            <a:xfrm flipH="false" flipV="false" rot="0">
              <a:off x="0" y="0"/>
              <a:ext cx="4179062" cy="765304"/>
            </a:xfrm>
            <a:custGeom>
              <a:avLst/>
              <a:gdLst/>
              <a:ahLst/>
              <a:cxnLst/>
              <a:rect r="r" b="b" t="t" l="l"/>
              <a:pathLst>
                <a:path h="765304" w="4179062">
                  <a:moveTo>
                    <a:pt x="16891" y="0"/>
                  </a:moveTo>
                  <a:lnTo>
                    <a:pt x="4162171" y="0"/>
                  </a:lnTo>
                  <a:cubicBezTo>
                    <a:pt x="4171569" y="0"/>
                    <a:pt x="4179062" y="7620"/>
                    <a:pt x="4179062" y="16891"/>
                  </a:cubicBezTo>
                  <a:lnTo>
                    <a:pt x="4179062" y="748411"/>
                  </a:lnTo>
                  <a:cubicBezTo>
                    <a:pt x="4179062" y="757809"/>
                    <a:pt x="4171442" y="765302"/>
                    <a:pt x="416217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4162171" y="731520"/>
                  </a:lnTo>
                  <a:lnTo>
                    <a:pt x="4162171" y="748411"/>
                  </a:lnTo>
                  <a:lnTo>
                    <a:pt x="4145280" y="748411"/>
                  </a:lnTo>
                  <a:lnTo>
                    <a:pt x="4145280" y="16891"/>
                  </a:lnTo>
                  <a:lnTo>
                    <a:pt x="4162171" y="16891"/>
                  </a:lnTo>
                  <a:lnTo>
                    <a:pt x="4162171" y="33909"/>
                  </a:lnTo>
                  <a:lnTo>
                    <a:pt x="16891" y="33909"/>
                  </a:lnTo>
                  <a:close/>
                </a:path>
              </a:pathLst>
            </a:custGeom>
            <a:solidFill>
              <a:srgbClr val="7C3AED"/>
            </a:solidFill>
          </p:spPr>
        </p:sp>
      </p:grpSp>
      <p:grpSp>
        <p:nvGrpSpPr>
          <p:cNvPr name="Group 85" id="85"/>
          <p:cNvGrpSpPr/>
          <p:nvPr/>
        </p:nvGrpSpPr>
        <p:grpSpPr>
          <a:xfrm rot="0">
            <a:off x="14356080" y="7900416"/>
            <a:ext cx="3108960" cy="548640"/>
            <a:chOff x="0" y="0"/>
            <a:chExt cx="4145280" cy="731520"/>
          </a:xfrm>
        </p:grpSpPr>
        <p:sp>
          <p:nvSpPr>
            <p:cNvPr name="Freeform 86" id="86"/>
            <p:cNvSpPr/>
            <p:nvPr/>
          </p:nvSpPr>
          <p:spPr>
            <a:xfrm flipH="false" flipV="false" rot="0">
              <a:off x="0" y="0"/>
              <a:ext cx="4145280" cy="731520"/>
            </a:xfrm>
            <a:custGeom>
              <a:avLst/>
              <a:gdLst/>
              <a:ahLst/>
              <a:cxnLst/>
              <a:rect r="r" b="b" t="t" l="l"/>
              <a:pathLst>
                <a:path h="731520" w="4145280">
                  <a:moveTo>
                    <a:pt x="0" y="0"/>
                  </a:moveTo>
                  <a:lnTo>
                    <a:pt x="4145280" y="0"/>
                  </a:lnTo>
                  <a:lnTo>
                    <a:pt x="4145280" y="731520"/>
                  </a:lnTo>
                  <a:lnTo>
                    <a:pt x="0" y="731520"/>
                  </a:lnTo>
                  <a:close/>
                </a:path>
              </a:pathLst>
            </a:custGeom>
            <a:blipFill>
              <a:blip r:embed="rId3">
                <a:alphaModFix amt="0"/>
              </a:blip>
              <a:stretch>
                <a:fillRect l="0" t="-60415" r="0" b="-60415"/>
              </a:stretch>
            </a:blipFill>
          </p:spPr>
        </p:sp>
        <p:sp>
          <p:nvSpPr>
            <p:cNvPr name="TextBox 87" id="87"/>
            <p:cNvSpPr txBox="true"/>
            <p:nvPr/>
          </p:nvSpPr>
          <p:spPr>
            <a:xfrm>
              <a:off x="0" y="-47625"/>
              <a:ext cx="4145280" cy="7791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AUC-ROC</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1397003"/>
            <a:chOff x="0" y="0"/>
            <a:chExt cx="24417871" cy="1862671"/>
          </a:xfrm>
        </p:grpSpPr>
        <p:sp>
          <p:nvSpPr>
            <p:cNvPr name="Freeform 3" id="3"/>
            <p:cNvSpPr/>
            <p:nvPr/>
          </p:nvSpPr>
          <p:spPr>
            <a:xfrm flipH="false" flipV="false" rot="0">
              <a:off x="16891" y="16891"/>
              <a:ext cx="24383999" cy="1828800"/>
            </a:xfrm>
            <a:custGeom>
              <a:avLst/>
              <a:gdLst/>
              <a:ahLst/>
              <a:cxnLst/>
              <a:rect r="r" b="b" t="t" l="l"/>
              <a:pathLst>
                <a:path h="1828800" w="24383999">
                  <a:moveTo>
                    <a:pt x="0" y="0"/>
                  </a:moveTo>
                  <a:lnTo>
                    <a:pt x="24383999" y="0"/>
                  </a:lnTo>
                  <a:lnTo>
                    <a:pt x="24383999" y="1828800"/>
                  </a:lnTo>
                  <a:lnTo>
                    <a:pt x="0" y="1828800"/>
                  </a:lnTo>
                  <a:close/>
                </a:path>
              </a:pathLst>
            </a:custGeom>
            <a:solidFill>
              <a:srgbClr val="7C3AED"/>
            </a:solidFill>
          </p:spPr>
        </p:sp>
        <p:sp>
          <p:nvSpPr>
            <p:cNvPr name="Freeform 4" id="4"/>
            <p:cNvSpPr/>
            <p:nvPr/>
          </p:nvSpPr>
          <p:spPr>
            <a:xfrm flipH="false" flipV="false" rot="0">
              <a:off x="0" y="0"/>
              <a:ext cx="24417782" cy="1862582"/>
            </a:xfrm>
            <a:custGeom>
              <a:avLst/>
              <a:gdLst/>
              <a:ahLst/>
              <a:cxnLst/>
              <a:rect r="r" b="b" t="t" l="l"/>
              <a:pathLst>
                <a:path h="1862582" w="24417782">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7C3AED"/>
            </a:solidFill>
          </p:spPr>
        </p:sp>
      </p:grpSp>
      <p:grpSp>
        <p:nvGrpSpPr>
          <p:cNvPr name="Group 5" id="5"/>
          <p:cNvGrpSpPr/>
          <p:nvPr/>
        </p:nvGrpSpPr>
        <p:grpSpPr>
          <a:xfrm rot="0">
            <a:off x="731520" y="0"/>
            <a:ext cx="16824960" cy="1371600"/>
            <a:chOff x="0" y="0"/>
            <a:chExt cx="22433280" cy="1828800"/>
          </a:xfrm>
        </p:grpSpPr>
        <p:sp>
          <p:nvSpPr>
            <p:cNvPr name="Freeform 6" id="6"/>
            <p:cNvSpPr/>
            <p:nvPr/>
          </p:nvSpPr>
          <p:spPr>
            <a:xfrm flipH="false" flipV="false" rot="0">
              <a:off x="0" y="0"/>
              <a:ext cx="22433280" cy="1828800"/>
            </a:xfrm>
            <a:custGeom>
              <a:avLst/>
              <a:gdLst/>
              <a:ahLst/>
              <a:cxnLst/>
              <a:rect r="r" b="b" t="t" l="l"/>
              <a:pathLst>
                <a:path h="1828800" w="22433280">
                  <a:moveTo>
                    <a:pt x="0" y="0"/>
                  </a:moveTo>
                  <a:lnTo>
                    <a:pt x="22433280" y="0"/>
                  </a:lnTo>
                  <a:lnTo>
                    <a:pt x="22433280" y="1828800"/>
                  </a:lnTo>
                  <a:lnTo>
                    <a:pt x="0" y="1828800"/>
                  </a:lnTo>
                  <a:close/>
                </a:path>
              </a:pathLst>
            </a:custGeom>
            <a:blipFill>
              <a:blip r:embed="rId3">
                <a:alphaModFix amt="0"/>
              </a:blip>
              <a:stretch>
                <a:fillRect l="0" t="-189016" r="0" b="-189016"/>
              </a:stretch>
            </a:blipFill>
          </p:spPr>
        </p:sp>
        <p:sp>
          <p:nvSpPr>
            <p:cNvPr name="TextBox 7" id="7"/>
            <p:cNvSpPr txBox="true"/>
            <p:nvPr/>
          </p:nvSpPr>
          <p:spPr>
            <a:xfrm>
              <a:off x="0" y="-76200"/>
              <a:ext cx="22433280" cy="190500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Feature Importance — Top 20</a:t>
              </a:r>
            </a:p>
          </p:txBody>
        </p:sp>
      </p:grpSp>
      <p:grpSp>
        <p:nvGrpSpPr>
          <p:cNvPr name="Group 8" id="8"/>
          <p:cNvGrpSpPr/>
          <p:nvPr/>
        </p:nvGrpSpPr>
        <p:grpSpPr>
          <a:xfrm rot="0">
            <a:off x="11508743" y="1633223"/>
            <a:ext cx="6426203" cy="8072123"/>
            <a:chOff x="0" y="0"/>
            <a:chExt cx="8568271" cy="10762831"/>
          </a:xfrm>
        </p:grpSpPr>
        <p:sp>
          <p:nvSpPr>
            <p:cNvPr name="Freeform 9" id="9"/>
            <p:cNvSpPr/>
            <p:nvPr/>
          </p:nvSpPr>
          <p:spPr>
            <a:xfrm flipH="false" flipV="false" rot="0">
              <a:off x="16891" y="16891"/>
              <a:ext cx="8534400" cy="10728960"/>
            </a:xfrm>
            <a:custGeom>
              <a:avLst/>
              <a:gdLst/>
              <a:ahLst/>
              <a:cxnLst/>
              <a:rect r="r" b="b" t="t" l="l"/>
              <a:pathLst>
                <a:path h="10728960" w="8534400">
                  <a:moveTo>
                    <a:pt x="0" y="0"/>
                  </a:moveTo>
                  <a:lnTo>
                    <a:pt x="8534400" y="0"/>
                  </a:lnTo>
                  <a:lnTo>
                    <a:pt x="8534400" y="10728960"/>
                  </a:lnTo>
                  <a:lnTo>
                    <a:pt x="0" y="10728960"/>
                  </a:lnTo>
                  <a:close/>
                </a:path>
              </a:pathLst>
            </a:custGeom>
            <a:solidFill>
              <a:srgbClr val="F5F0FF"/>
            </a:solidFill>
          </p:spPr>
        </p:sp>
        <p:sp>
          <p:nvSpPr>
            <p:cNvPr name="Freeform 10" id="10"/>
            <p:cNvSpPr/>
            <p:nvPr/>
          </p:nvSpPr>
          <p:spPr>
            <a:xfrm flipH="false" flipV="false" rot="0">
              <a:off x="0" y="0"/>
              <a:ext cx="8568182" cy="10762742"/>
            </a:xfrm>
            <a:custGeom>
              <a:avLst/>
              <a:gdLst/>
              <a:ahLst/>
              <a:cxnLst/>
              <a:rect r="r" b="b" t="t" l="l"/>
              <a:pathLst>
                <a:path h="10762742" w="8568182">
                  <a:moveTo>
                    <a:pt x="16891" y="0"/>
                  </a:moveTo>
                  <a:lnTo>
                    <a:pt x="8551291" y="0"/>
                  </a:lnTo>
                  <a:cubicBezTo>
                    <a:pt x="8560689" y="0"/>
                    <a:pt x="8568182" y="7620"/>
                    <a:pt x="8568182" y="16891"/>
                  </a:cubicBezTo>
                  <a:lnTo>
                    <a:pt x="8568182" y="10745851"/>
                  </a:lnTo>
                  <a:cubicBezTo>
                    <a:pt x="8568182" y="10755249"/>
                    <a:pt x="8560562" y="10762742"/>
                    <a:pt x="8551291" y="10762742"/>
                  </a:cubicBezTo>
                  <a:lnTo>
                    <a:pt x="16891" y="10762742"/>
                  </a:lnTo>
                  <a:cubicBezTo>
                    <a:pt x="7493" y="10762742"/>
                    <a:pt x="0" y="10755122"/>
                    <a:pt x="0" y="10745851"/>
                  </a:cubicBezTo>
                  <a:lnTo>
                    <a:pt x="0" y="16891"/>
                  </a:lnTo>
                  <a:cubicBezTo>
                    <a:pt x="0" y="7620"/>
                    <a:pt x="7620" y="0"/>
                    <a:pt x="16891" y="0"/>
                  </a:cubicBezTo>
                  <a:moveTo>
                    <a:pt x="16891" y="33909"/>
                  </a:moveTo>
                  <a:lnTo>
                    <a:pt x="16891" y="16891"/>
                  </a:lnTo>
                  <a:lnTo>
                    <a:pt x="33909" y="16891"/>
                  </a:lnTo>
                  <a:lnTo>
                    <a:pt x="33909" y="10745851"/>
                  </a:lnTo>
                  <a:lnTo>
                    <a:pt x="16891" y="10745851"/>
                  </a:lnTo>
                  <a:lnTo>
                    <a:pt x="16891" y="10728960"/>
                  </a:lnTo>
                  <a:lnTo>
                    <a:pt x="8551291" y="10728960"/>
                  </a:lnTo>
                  <a:lnTo>
                    <a:pt x="8551291" y="10745851"/>
                  </a:lnTo>
                  <a:lnTo>
                    <a:pt x="8534400" y="10745851"/>
                  </a:lnTo>
                  <a:lnTo>
                    <a:pt x="8534400" y="16891"/>
                  </a:lnTo>
                  <a:lnTo>
                    <a:pt x="8551291" y="16891"/>
                  </a:lnTo>
                  <a:lnTo>
                    <a:pt x="8551291" y="33909"/>
                  </a:lnTo>
                  <a:lnTo>
                    <a:pt x="16891" y="33909"/>
                  </a:lnTo>
                  <a:close/>
                </a:path>
              </a:pathLst>
            </a:custGeom>
            <a:solidFill>
              <a:srgbClr val="C4B5FD"/>
            </a:solidFill>
          </p:spPr>
        </p:sp>
      </p:grpSp>
      <p:grpSp>
        <p:nvGrpSpPr>
          <p:cNvPr name="Group 11" id="11"/>
          <p:cNvGrpSpPr/>
          <p:nvPr/>
        </p:nvGrpSpPr>
        <p:grpSpPr>
          <a:xfrm rot="0">
            <a:off x="11795760" y="1920240"/>
            <a:ext cx="5852160" cy="694944"/>
            <a:chOff x="0" y="0"/>
            <a:chExt cx="7802880" cy="926592"/>
          </a:xfrm>
        </p:grpSpPr>
        <p:sp>
          <p:nvSpPr>
            <p:cNvPr name="Freeform 12" id="12"/>
            <p:cNvSpPr/>
            <p:nvPr/>
          </p:nvSpPr>
          <p:spPr>
            <a:xfrm flipH="false" flipV="false" rot="0">
              <a:off x="0" y="0"/>
              <a:ext cx="7802880" cy="926592"/>
            </a:xfrm>
            <a:custGeom>
              <a:avLst/>
              <a:gdLst/>
              <a:ahLst/>
              <a:cxnLst/>
              <a:rect r="r" b="b" t="t" l="l"/>
              <a:pathLst>
                <a:path h="926592" w="7802880">
                  <a:moveTo>
                    <a:pt x="0" y="0"/>
                  </a:moveTo>
                  <a:lnTo>
                    <a:pt x="7802880" y="0"/>
                  </a:lnTo>
                  <a:lnTo>
                    <a:pt x="7802880" y="926592"/>
                  </a:lnTo>
                  <a:lnTo>
                    <a:pt x="0" y="926592"/>
                  </a:lnTo>
                  <a:close/>
                </a:path>
              </a:pathLst>
            </a:custGeom>
            <a:blipFill>
              <a:blip r:embed="rId3">
                <a:alphaModFix amt="0"/>
              </a:blip>
              <a:stretch>
                <a:fillRect l="0" t="-114084" r="0" b="-114084"/>
              </a:stretch>
            </a:blipFill>
          </p:spPr>
        </p:sp>
        <p:sp>
          <p:nvSpPr>
            <p:cNvPr name="TextBox 13" id="13"/>
            <p:cNvSpPr txBox="true"/>
            <p:nvPr/>
          </p:nvSpPr>
          <p:spPr>
            <a:xfrm>
              <a:off x="0" y="-57150"/>
              <a:ext cx="7802880" cy="983742"/>
            </a:xfrm>
            <a:prstGeom prst="rect">
              <a:avLst/>
            </a:prstGeom>
          </p:spPr>
          <p:txBody>
            <a:bodyPr anchor="ctr" rtlCol="false" tIns="0" lIns="0" bIns="0" rIns="0"/>
            <a:lstStyle/>
            <a:p>
              <a:pPr algn="l">
                <a:lnSpc>
                  <a:spcPts val="3120"/>
                </a:lnSpc>
              </a:pPr>
              <a:r>
                <a:rPr lang="en-US" sz="2600" b="true">
                  <a:solidFill>
                    <a:srgbClr val="7C3AED"/>
                  </a:solidFill>
                  <a:latin typeface="Calibri (MS) Bold"/>
                  <a:ea typeface="Calibri (MS) Bold"/>
                  <a:cs typeface="Calibri (MS) Bold"/>
                  <a:sym typeface="Calibri (MS) Bold"/>
                </a:rPr>
                <a:t>Observations clés</a:t>
              </a:r>
            </a:p>
          </p:txBody>
        </p:sp>
      </p:grpSp>
      <p:grpSp>
        <p:nvGrpSpPr>
          <p:cNvPr name="Group 14" id="14"/>
          <p:cNvGrpSpPr/>
          <p:nvPr/>
        </p:nvGrpSpPr>
        <p:grpSpPr>
          <a:xfrm rot="0">
            <a:off x="11783063" y="2821943"/>
            <a:ext cx="574043" cy="574043"/>
            <a:chOff x="0" y="0"/>
            <a:chExt cx="765391" cy="765391"/>
          </a:xfrm>
        </p:grpSpPr>
        <p:sp>
          <p:nvSpPr>
            <p:cNvPr name="Freeform 15" id="15"/>
            <p:cNvSpPr/>
            <p:nvPr/>
          </p:nvSpPr>
          <p:spPr>
            <a:xfrm flipH="false" flipV="false" rot="0">
              <a:off x="16891" y="16891"/>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7C3AED"/>
            </a:solidFill>
          </p:spPr>
        </p:sp>
        <p:sp>
          <p:nvSpPr>
            <p:cNvPr name="Freeform 16" id="16"/>
            <p:cNvSpPr/>
            <p:nvPr/>
          </p:nvSpPr>
          <p:spPr>
            <a:xfrm flipH="false" flipV="false" rot="0">
              <a:off x="0" y="0"/>
              <a:ext cx="765429" cy="765302"/>
            </a:xfrm>
            <a:custGeom>
              <a:avLst/>
              <a:gdLst/>
              <a:ahLst/>
              <a:cxnLst/>
              <a:rect r="r" b="b" t="t" l="l"/>
              <a:pathLst>
                <a:path h="765302" w="765429">
                  <a:moveTo>
                    <a:pt x="0" y="382651"/>
                  </a:moveTo>
                  <a:cubicBezTo>
                    <a:pt x="0" y="171323"/>
                    <a:pt x="171323" y="0"/>
                    <a:pt x="382651" y="0"/>
                  </a:cubicBezTo>
                  <a:lnTo>
                    <a:pt x="382651" y="16891"/>
                  </a:lnTo>
                  <a:lnTo>
                    <a:pt x="382651" y="0"/>
                  </a:lnTo>
                  <a:cubicBezTo>
                    <a:pt x="594106" y="0"/>
                    <a:pt x="765429" y="171323"/>
                    <a:pt x="765429" y="382651"/>
                  </a:cubicBezTo>
                  <a:cubicBezTo>
                    <a:pt x="765429" y="593979"/>
                    <a:pt x="594106" y="765302"/>
                    <a:pt x="382778" y="765302"/>
                  </a:cubicBezTo>
                  <a:lnTo>
                    <a:pt x="382778" y="748411"/>
                  </a:lnTo>
                  <a:lnTo>
                    <a:pt x="382778" y="765302"/>
                  </a:lnTo>
                  <a:cubicBezTo>
                    <a:pt x="171323" y="765429"/>
                    <a:pt x="0" y="594106"/>
                    <a:pt x="0" y="382651"/>
                  </a:cubicBezTo>
                  <a:lnTo>
                    <a:pt x="16891" y="382651"/>
                  </a:lnTo>
                  <a:lnTo>
                    <a:pt x="31369" y="391414"/>
                  </a:lnTo>
                  <a:cubicBezTo>
                    <a:pt x="27432" y="397891"/>
                    <a:pt x="19685" y="400939"/>
                    <a:pt x="12319" y="398907"/>
                  </a:cubicBezTo>
                  <a:cubicBezTo>
                    <a:pt x="4953" y="396875"/>
                    <a:pt x="0" y="390271"/>
                    <a:pt x="0" y="382651"/>
                  </a:cubicBezTo>
                  <a:moveTo>
                    <a:pt x="33909" y="382651"/>
                  </a:moveTo>
                  <a:lnTo>
                    <a:pt x="16891" y="382651"/>
                  </a:lnTo>
                  <a:lnTo>
                    <a:pt x="2413" y="373888"/>
                  </a:lnTo>
                  <a:cubicBezTo>
                    <a:pt x="6350" y="367411"/>
                    <a:pt x="14097" y="364363"/>
                    <a:pt x="21463" y="366395"/>
                  </a:cubicBezTo>
                  <a:cubicBezTo>
                    <a:pt x="28829" y="368427"/>
                    <a:pt x="33782" y="375158"/>
                    <a:pt x="33782" y="382651"/>
                  </a:cubicBezTo>
                  <a:cubicBezTo>
                    <a:pt x="33782" y="575310"/>
                    <a:pt x="189992" y="731520"/>
                    <a:pt x="382651" y="731520"/>
                  </a:cubicBezTo>
                  <a:cubicBezTo>
                    <a:pt x="575310" y="731520"/>
                    <a:pt x="731520" y="575310"/>
                    <a:pt x="731520" y="382651"/>
                  </a:cubicBezTo>
                  <a:lnTo>
                    <a:pt x="748411" y="382651"/>
                  </a:lnTo>
                  <a:lnTo>
                    <a:pt x="731520" y="382651"/>
                  </a:lnTo>
                  <a:cubicBezTo>
                    <a:pt x="731520" y="189992"/>
                    <a:pt x="575310" y="33782"/>
                    <a:pt x="382651" y="33782"/>
                  </a:cubicBezTo>
                  <a:lnTo>
                    <a:pt x="382651" y="16891"/>
                  </a:lnTo>
                  <a:lnTo>
                    <a:pt x="382651" y="33909"/>
                  </a:lnTo>
                  <a:cubicBezTo>
                    <a:pt x="189992" y="33909"/>
                    <a:pt x="33782" y="190119"/>
                    <a:pt x="33782" y="382778"/>
                  </a:cubicBezTo>
                  <a:close/>
                </a:path>
              </a:pathLst>
            </a:custGeom>
            <a:solidFill>
              <a:srgbClr val="7C3AED"/>
            </a:solidFill>
          </p:spPr>
        </p:sp>
      </p:grpSp>
      <p:grpSp>
        <p:nvGrpSpPr>
          <p:cNvPr name="Group 17" id="17"/>
          <p:cNvGrpSpPr/>
          <p:nvPr/>
        </p:nvGrpSpPr>
        <p:grpSpPr>
          <a:xfrm rot="0">
            <a:off x="11795760" y="2834640"/>
            <a:ext cx="548640" cy="548640"/>
            <a:chOff x="0" y="0"/>
            <a:chExt cx="731520" cy="731520"/>
          </a:xfrm>
        </p:grpSpPr>
        <p:sp>
          <p:nvSpPr>
            <p:cNvPr name="Freeform 18" id="18"/>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19" id="19"/>
            <p:cNvSpPr txBox="true"/>
            <p:nvPr/>
          </p:nvSpPr>
          <p:spPr>
            <a:xfrm>
              <a:off x="0" y="-38100"/>
              <a:ext cx="73152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1</a:t>
              </a:r>
            </a:p>
          </p:txBody>
        </p:sp>
      </p:grpSp>
      <p:grpSp>
        <p:nvGrpSpPr>
          <p:cNvPr name="Group 20" id="20"/>
          <p:cNvGrpSpPr/>
          <p:nvPr/>
        </p:nvGrpSpPr>
        <p:grpSpPr>
          <a:xfrm rot="0">
            <a:off x="12472416" y="2798064"/>
            <a:ext cx="5212080" cy="1005840"/>
            <a:chOff x="0" y="0"/>
            <a:chExt cx="6949440" cy="1341120"/>
          </a:xfrm>
        </p:grpSpPr>
        <p:sp>
          <p:nvSpPr>
            <p:cNvPr name="Freeform 21" id="21"/>
            <p:cNvSpPr/>
            <p:nvPr/>
          </p:nvSpPr>
          <p:spPr>
            <a:xfrm flipH="false" flipV="false" rot="0">
              <a:off x="0" y="0"/>
              <a:ext cx="6949440" cy="1341120"/>
            </a:xfrm>
            <a:custGeom>
              <a:avLst/>
              <a:gdLst/>
              <a:ahLst/>
              <a:cxnLst/>
              <a:rect r="r" b="b" t="t" l="l"/>
              <a:pathLst>
                <a:path h="1341120" w="6949440">
                  <a:moveTo>
                    <a:pt x="0" y="0"/>
                  </a:moveTo>
                  <a:lnTo>
                    <a:pt x="6949440" y="0"/>
                  </a:lnTo>
                  <a:lnTo>
                    <a:pt x="6949440" y="1341120"/>
                  </a:lnTo>
                  <a:lnTo>
                    <a:pt x="0" y="1341120"/>
                  </a:lnTo>
                  <a:close/>
                </a:path>
              </a:pathLst>
            </a:custGeom>
            <a:blipFill>
              <a:blip r:embed="rId4">
                <a:alphaModFix amt="0"/>
              </a:blip>
              <a:stretch>
                <a:fillRect l="0" t="-115668" r="0" b="-115668"/>
              </a:stretch>
            </a:blipFill>
          </p:spPr>
        </p:sp>
        <p:sp>
          <p:nvSpPr>
            <p:cNvPr name="TextBox 22" id="22"/>
            <p:cNvSpPr txBox="true"/>
            <p:nvPr/>
          </p:nvSpPr>
          <p:spPr>
            <a:xfrm>
              <a:off x="0" y="-85725"/>
              <a:ext cx="6949440" cy="1426845"/>
            </a:xfrm>
            <a:prstGeom prst="rect">
              <a:avLst/>
            </a:prstGeom>
          </p:spPr>
          <p:txBody>
            <a:bodyPr anchor="ctr" rtlCol="false" tIns="0" lIns="0" bIns="0" rIns="0"/>
            <a:lstStyle/>
            <a:p>
              <a:pPr algn="l">
                <a:lnSpc>
                  <a:spcPts val="2735"/>
                </a:lnSpc>
              </a:pPr>
              <a:r>
                <a:rPr lang="en-US" sz="1899">
                  <a:solidFill>
                    <a:srgbClr val="1E293B"/>
                  </a:solidFill>
                  <a:latin typeface="Calibri (MS)"/>
                  <a:ea typeface="Calibri (MS)"/>
                  <a:cs typeface="Calibri (MS)"/>
                  <a:sym typeface="Calibri (MS)"/>
                </a:rPr>
                <a:t>PreferredMonth domine avec ~17%</a:t>
              </a:r>
            </a:p>
            <a:p>
              <a:pPr algn="l">
                <a:lnSpc>
                  <a:spcPts val="2736"/>
                </a:lnSpc>
              </a:pPr>
              <a:r>
                <a:rPr lang="en-US" sz="1900">
                  <a:solidFill>
                    <a:srgbClr val="1E293B"/>
                  </a:solidFill>
                  <a:latin typeface="Calibri (MS)"/>
                  <a:ea typeface="Calibri (MS)"/>
                  <a:cs typeface="Calibri (MS)"/>
                  <a:sym typeface="Calibri (MS)"/>
                </a:rPr>
                <a:t> → signal comportemental fort</a:t>
              </a:r>
            </a:p>
          </p:txBody>
        </p:sp>
      </p:grpSp>
      <p:grpSp>
        <p:nvGrpSpPr>
          <p:cNvPr name="Group 23" id="23"/>
          <p:cNvGrpSpPr/>
          <p:nvPr/>
        </p:nvGrpSpPr>
        <p:grpSpPr>
          <a:xfrm rot="0">
            <a:off x="11783063" y="4010663"/>
            <a:ext cx="574043" cy="574043"/>
            <a:chOff x="0" y="0"/>
            <a:chExt cx="765391" cy="765391"/>
          </a:xfrm>
        </p:grpSpPr>
        <p:sp>
          <p:nvSpPr>
            <p:cNvPr name="Freeform 24" id="24"/>
            <p:cNvSpPr/>
            <p:nvPr/>
          </p:nvSpPr>
          <p:spPr>
            <a:xfrm flipH="false" flipV="false" rot="0">
              <a:off x="16891" y="16891"/>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7C3AED"/>
            </a:solidFill>
          </p:spPr>
        </p:sp>
        <p:sp>
          <p:nvSpPr>
            <p:cNvPr name="Freeform 25" id="25"/>
            <p:cNvSpPr/>
            <p:nvPr/>
          </p:nvSpPr>
          <p:spPr>
            <a:xfrm flipH="false" flipV="false" rot="0">
              <a:off x="0" y="0"/>
              <a:ext cx="765429" cy="765302"/>
            </a:xfrm>
            <a:custGeom>
              <a:avLst/>
              <a:gdLst/>
              <a:ahLst/>
              <a:cxnLst/>
              <a:rect r="r" b="b" t="t" l="l"/>
              <a:pathLst>
                <a:path h="765302" w="765429">
                  <a:moveTo>
                    <a:pt x="0" y="382651"/>
                  </a:moveTo>
                  <a:cubicBezTo>
                    <a:pt x="0" y="171323"/>
                    <a:pt x="171323" y="0"/>
                    <a:pt x="382651" y="0"/>
                  </a:cubicBezTo>
                  <a:lnTo>
                    <a:pt x="382651" y="16891"/>
                  </a:lnTo>
                  <a:lnTo>
                    <a:pt x="382651" y="0"/>
                  </a:lnTo>
                  <a:cubicBezTo>
                    <a:pt x="594106" y="0"/>
                    <a:pt x="765429" y="171323"/>
                    <a:pt x="765429" y="382651"/>
                  </a:cubicBezTo>
                  <a:cubicBezTo>
                    <a:pt x="765429" y="593979"/>
                    <a:pt x="594106" y="765302"/>
                    <a:pt x="382778" y="765302"/>
                  </a:cubicBezTo>
                  <a:lnTo>
                    <a:pt x="382778" y="748411"/>
                  </a:lnTo>
                  <a:lnTo>
                    <a:pt x="382778" y="765302"/>
                  </a:lnTo>
                  <a:cubicBezTo>
                    <a:pt x="171323" y="765429"/>
                    <a:pt x="0" y="594106"/>
                    <a:pt x="0" y="382651"/>
                  </a:cubicBezTo>
                  <a:lnTo>
                    <a:pt x="16891" y="382651"/>
                  </a:lnTo>
                  <a:lnTo>
                    <a:pt x="31369" y="391414"/>
                  </a:lnTo>
                  <a:cubicBezTo>
                    <a:pt x="27432" y="397891"/>
                    <a:pt x="19685" y="400939"/>
                    <a:pt x="12319" y="398907"/>
                  </a:cubicBezTo>
                  <a:cubicBezTo>
                    <a:pt x="4953" y="396875"/>
                    <a:pt x="0" y="390271"/>
                    <a:pt x="0" y="382651"/>
                  </a:cubicBezTo>
                  <a:moveTo>
                    <a:pt x="33909" y="382651"/>
                  </a:moveTo>
                  <a:lnTo>
                    <a:pt x="16891" y="382651"/>
                  </a:lnTo>
                  <a:lnTo>
                    <a:pt x="2413" y="373888"/>
                  </a:lnTo>
                  <a:cubicBezTo>
                    <a:pt x="6350" y="367411"/>
                    <a:pt x="14097" y="364363"/>
                    <a:pt x="21463" y="366395"/>
                  </a:cubicBezTo>
                  <a:cubicBezTo>
                    <a:pt x="28829" y="368427"/>
                    <a:pt x="33782" y="375158"/>
                    <a:pt x="33782" y="382651"/>
                  </a:cubicBezTo>
                  <a:cubicBezTo>
                    <a:pt x="33782" y="575310"/>
                    <a:pt x="189992" y="731520"/>
                    <a:pt x="382651" y="731520"/>
                  </a:cubicBezTo>
                  <a:cubicBezTo>
                    <a:pt x="575310" y="731520"/>
                    <a:pt x="731520" y="575310"/>
                    <a:pt x="731520" y="382651"/>
                  </a:cubicBezTo>
                  <a:lnTo>
                    <a:pt x="748411" y="382651"/>
                  </a:lnTo>
                  <a:lnTo>
                    <a:pt x="731520" y="382651"/>
                  </a:lnTo>
                  <a:cubicBezTo>
                    <a:pt x="731520" y="189992"/>
                    <a:pt x="575310" y="33782"/>
                    <a:pt x="382651" y="33782"/>
                  </a:cubicBezTo>
                  <a:lnTo>
                    <a:pt x="382651" y="16891"/>
                  </a:lnTo>
                  <a:lnTo>
                    <a:pt x="382651" y="33909"/>
                  </a:lnTo>
                  <a:cubicBezTo>
                    <a:pt x="189992" y="33909"/>
                    <a:pt x="33782" y="190119"/>
                    <a:pt x="33782" y="382778"/>
                  </a:cubicBezTo>
                  <a:close/>
                </a:path>
              </a:pathLst>
            </a:custGeom>
            <a:solidFill>
              <a:srgbClr val="7C3AED"/>
            </a:solidFill>
          </p:spPr>
        </p:sp>
      </p:grpSp>
      <p:grpSp>
        <p:nvGrpSpPr>
          <p:cNvPr name="Group 26" id="26"/>
          <p:cNvGrpSpPr/>
          <p:nvPr/>
        </p:nvGrpSpPr>
        <p:grpSpPr>
          <a:xfrm rot="0">
            <a:off x="11795760" y="4023360"/>
            <a:ext cx="548640" cy="548640"/>
            <a:chOff x="0" y="0"/>
            <a:chExt cx="731520" cy="731520"/>
          </a:xfrm>
        </p:grpSpPr>
        <p:sp>
          <p:nvSpPr>
            <p:cNvPr name="Freeform 27" id="27"/>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28" id="28"/>
            <p:cNvSpPr txBox="true"/>
            <p:nvPr/>
          </p:nvSpPr>
          <p:spPr>
            <a:xfrm>
              <a:off x="0" y="-38100"/>
              <a:ext cx="73152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2</a:t>
              </a:r>
            </a:p>
          </p:txBody>
        </p:sp>
      </p:grpSp>
      <p:grpSp>
        <p:nvGrpSpPr>
          <p:cNvPr name="Group 29" id="29"/>
          <p:cNvGrpSpPr/>
          <p:nvPr/>
        </p:nvGrpSpPr>
        <p:grpSpPr>
          <a:xfrm rot="0">
            <a:off x="12472416" y="3986784"/>
            <a:ext cx="5212080" cy="1005840"/>
            <a:chOff x="0" y="0"/>
            <a:chExt cx="6949440" cy="1341120"/>
          </a:xfrm>
        </p:grpSpPr>
        <p:sp>
          <p:nvSpPr>
            <p:cNvPr name="Freeform 30" id="30"/>
            <p:cNvSpPr/>
            <p:nvPr/>
          </p:nvSpPr>
          <p:spPr>
            <a:xfrm flipH="false" flipV="false" rot="0">
              <a:off x="0" y="0"/>
              <a:ext cx="6949440" cy="1341120"/>
            </a:xfrm>
            <a:custGeom>
              <a:avLst/>
              <a:gdLst/>
              <a:ahLst/>
              <a:cxnLst/>
              <a:rect r="r" b="b" t="t" l="l"/>
              <a:pathLst>
                <a:path h="1341120" w="6949440">
                  <a:moveTo>
                    <a:pt x="0" y="0"/>
                  </a:moveTo>
                  <a:lnTo>
                    <a:pt x="6949440" y="0"/>
                  </a:lnTo>
                  <a:lnTo>
                    <a:pt x="6949440" y="1341120"/>
                  </a:lnTo>
                  <a:lnTo>
                    <a:pt x="0" y="1341120"/>
                  </a:lnTo>
                  <a:close/>
                </a:path>
              </a:pathLst>
            </a:custGeom>
            <a:blipFill>
              <a:blip r:embed="rId3">
                <a:alphaModFix amt="0"/>
              </a:blip>
              <a:stretch>
                <a:fillRect l="0" t="-50967" r="0" b="-50967"/>
              </a:stretch>
            </a:blipFill>
          </p:spPr>
        </p:sp>
        <p:sp>
          <p:nvSpPr>
            <p:cNvPr name="TextBox 31" id="31"/>
            <p:cNvSpPr txBox="true"/>
            <p:nvPr/>
          </p:nvSpPr>
          <p:spPr>
            <a:xfrm>
              <a:off x="0" y="-85725"/>
              <a:ext cx="6949440" cy="1426845"/>
            </a:xfrm>
            <a:prstGeom prst="rect">
              <a:avLst/>
            </a:prstGeom>
          </p:spPr>
          <p:txBody>
            <a:bodyPr anchor="ctr" rtlCol="false" tIns="0" lIns="0" bIns="0" rIns="0"/>
            <a:lstStyle/>
            <a:p>
              <a:pPr algn="l">
                <a:lnSpc>
                  <a:spcPts val="2735"/>
                </a:lnSpc>
              </a:pPr>
              <a:r>
                <a:rPr lang="en-US" sz="1899">
                  <a:solidFill>
                    <a:srgbClr val="1E293B"/>
                  </a:solidFill>
                  <a:latin typeface="Calibri (MS)"/>
                  <a:ea typeface="Calibri (MS)"/>
                  <a:cs typeface="Calibri (MS)"/>
                  <a:sym typeface="Calibri (MS)"/>
                </a:rPr>
                <a:t>FirstPurchaseDaysAgo (~13%)</a:t>
              </a:r>
            </a:p>
            <a:p>
              <a:pPr algn="l">
                <a:lnSpc>
                  <a:spcPts val="2736"/>
                </a:lnSpc>
              </a:pPr>
              <a:r>
                <a:rPr lang="en-US" sz="1900">
                  <a:solidFill>
                    <a:srgbClr val="1E293B"/>
                  </a:solidFill>
                  <a:latin typeface="Calibri (MS)"/>
                  <a:ea typeface="Calibri (MS)"/>
                  <a:cs typeface="Calibri (MS)"/>
                  <a:sym typeface="Calibri (MS)"/>
                </a:rPr>
                <a:t> → importance du cycle de vie client</a:t>
              </a:r>
            </a:p>
          </p:txBody>
        </p:sp>
      </p:grpSp>
      <p:grpSp>
        <p:nvGrpSpPr>
          <p:cNvPr name="Group 32" id="32"/>
          <p:cNvGrpSpPr/>
          <p:nvPr/>
        </p:nvGrpSpPr>
        <p:grpSpPr>
          <a:xfrm rot="0">
            <a:off x="11783063" y="5199383"/>
            <a:ext cx="574043" cy="574043"/>
            <a:chOff x="0" y="0"/>
            <a:chExt cx="765391" cy="765391"/>
          </a:xfrm>
        </p:grpSpPr>
        <p:sp>
          <p:nvSpPr>
            <p:cNvPr name="Freeform 33" id="33"/>
            <p:cNvSpPr/>
            <p:nvPr/>
          </p:nvSpPr>
          <p:spPr>
            <a:xfrm flipH="false" flipV="false" rot="0">
              <a:off x="16891" y="16891"/>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7C3AED"/>
            </a:solidFill>
          </p:spPr>
        </p:sp>
        <p:sp>
          <p:nvSpPr>
            <p:cNvPr name="Freeform 34" id="34"/>
            <p:cNvSpPr/>
            <p:nvPr/>
          </p:nvSpPr>
          <p:spPr>
            <a:xfrm flipH="false" flipV="false" rot="0">
              <a:off x="0" y="0"/>
              <a:ext cx="765429" cy="765302"/>
            </a:xfrm>
            <a:custGeom>
              <a:avLst/>
              <a:gdLst/>
              <a:ahLst/>
              <a:cxnLst/>
              <a:rect r="r" b="b" t="t" l="l"/>
              <a:pathLst>
                <a:path h="765302" w="765429">
                  <a:moveTo>
                    <a:pt x="0" y="382651"/>
                  </a:moveTo>
                  <a:cubicBezTo>
                    <a:pt x="0" y="171323"/>
                    <a:pt x="171323" y="0"/>
                    <a:pt x="382651" y="0"/>
                  </a:cubicBezTo>
                  <a:lnTo>
                    <a:pt x="382651" y="16891"/>
                  </a:lnTo>
                  <a:lnTo>
                    <a:pt x="382651" y="0"/>
                  </a:lnTo>
                  <a:cubicBezTo>
                    <a:pt x="594106" y="0"/>
                    <a:pt x="765429" y="171323"/>
                    <a:pt x="765429" y="382651"/>
                  </a:cubicBezTo>
                  <a:cubicBezTo>
                    <a:pt x="765429" y="593979"/>
                    <a:pt x="594106" y="765302"/>
                    <a:pt x="382778" y="765302"/>
                  </a:cubicBezTo>
                  <a:lnTo>
                    <a:pt x="382778" y="748411"/>
                  </a:lnTo>
                  <a:lnTo>
                    <a:pt x="382778" y="765302"/>
                  </a:lnTo>
                  <a:cubicBezTo>
                    <a:pt x="171323" y="765429"/>
                    <a:pt x="0" y="594106"/>
                    <a:pt x="0" y="382651"/>
                  </a:cubicBezTo>
                  <a:lnTo>
                    <a:pt x="16891" y="382651"/>
                  </a:lnTo>
                  <a:lnTo>
                    <a:pt x="31369" y="391414"/>
                  </a:lnTo>
                  <a:cubicBezTo>
                    <a:pt x="27432" y="397891"/>
                    <a:pt x="19685" y="400939"/>
                    <a:pt x="12319" y="398907"/>
                  </a:cubicBezTo>
                  <a:cubicBezTo>
                    <a:pt x="4953" y="396875"/>
                    <a:pt x="0" y="390271"/>
                    <a:pt x="0" y="382651"/>
                  </a:cubicBezTo>
                  <a:moveTo>
                    <a:pt x="33909" y="382651"/>
                  </a:moveTo>
                  <a:lnTo>
                    <a:pt x="16891" y="382651"/>
                  </a:lnTo>
                  <a:lnTo>
                    <a:pt x="2413" y="373888"/>
                  </a:lnTo>
                  <a:cubicBezTo>
                    <a:pt x="6350" y="367411"/>
                    <a:pt x="14097" y="364363"/>
                    <a:pt x="21463" y="366395"/>
                  </a:cubicBezTo>
                  <a:cubicBezTo>
                    <a:pt x="28829" y="368427"/>
                    <a:pt x="33782" y="375158"/>
                    <a:pt x="33782" y="382651"/>
                  </a:cubicBezTo>
                  <a:cubicBezTo>
                    <a:pt x="33782" y="575310"/>
                    <a:pt x="189992" y="731520"/>
                    <a:pt x="382651" y="731520"/>
                  </a:cubicBezTo>
                  <a:cubicBezTo>
                    <a:pt x="575310" y="731520"/>
                    <a:pt x="731520" y="575310"/>
                    <a:pt x="731520" y="382651"/>
                  </a:cubicBezTo>
                  <a:lnTo>
                    <a:pt x="748411" y="382651"/>
                  </a:lnTo>
                  <a:lnTo>
                    <a:pt x="731520" y="382651"/>
                  </a:lnTo>
                  <a:cubicBezTo>
                    <a:pt x="731520" y="189992"/>
                    <a:pt x="575310" y="33782"/>
                    <a:pt x="382651" y="33782"/>
                  </a:cubicBezTo>
                  <a:lnTo>
                    <a:pt x="382651" y="16891"/>
                  </a:lnTo>
                  <a:lnTo>
                    <a:pt x="382651" y="33909"/>
                  </a:lnTo>
                  <a:cubicBezTo>
                    <a:pt x="189992" y="33909"/>
                    <a:pt x="33782" y="190119"/>
                    <a:pt x="33782" y="382778"/>
                  </a:cubicBezTo>
                  <a:close/>
                </a:path>
              </a:pathLst>
            </a:custGeom>
            <a:solidFill>
              <a:srgbClr val="7C3AED"/>
            </a:solidFill>
          </p:spPr>
        </p:sp>
      </p:grpSp>
      <p:grpSp>
        <p:nvGrpSpPr>
          <p:cNvPr name="Group 35" id="35"/>
          <p:cNvGrpSpPr/>
          <p:nvPr/>
        </p:nvGrpSpPr>
        <p:grpSpPr>
          <a:xfrm rot="0">
            <a:off x="11795760" y="5212080"/>
            <a:ext cx="548640" cy="548640"/>
            <a:chOff x="0" y="0"/>
            <a:chExt cx="731520" cy="731520"/>
          </a:xfrm>
        </p:grpSpPr>
        <p:sp>
          <p:nvSpPr>
            <p:cNvPr name="Freeform 36" id="36"/>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37" id="37"/>
            <p:cNvSpPr txBox="true"/>
            <p:nvPr/>
          </p:nvSpPr>
          <p:spPr>
            <a:xfrm>
              <a:off x="0" y="-38100"/>
              <a:ext cx="73152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3</a:t>
              </a:r>
            </a:p>
          </p:txBody>
        </p:sp>
      </p:grpSp>
      <p:grpSp>
        <p:nvGrpSpPr>
          <p:cNvPr name="Group 38" id="38"/>
          <p:cNvGrpSpPr/>
          <p:nvPr/>
        </p:nvGrpSpPr>
        <p:grpSpPr>
          <a:xfrm rot="0">
            <a:off x="12472416" y="5175504"/>
            <a:ext cx="5212080" cy="1005840"/>
            <a:chOff x="0" y="0"/>
            <a:chExt cx="6949440" cy="1341120"/>
          </a:xfrm>
        </p:grpSpPr>
        <p:sp>
          <p:nvSpPr>
            <p:cNvPr name="Freeform 39" id="39"/>
            <p:cNvSpPr/>
            <p:nvPr/>
          </p:nvSpPr>
          <p:spPr>
            <a:xfrm flipH="false" flipV="false" rot="0">
              <a:off x="0" y="0"/>
              <a:ext cx="6949440" cy="1341120"/>
            </a:xfrm>
            <a:custGeom>
              <a:avLst/>
              <a:gdLst/>
              <a:ahLst/>
              <a:cxnLst/>
              <a:rect r="r" b="b" t="t" l="l"/>
              <a:pathLst>
                <a:path h="1341120" w="6949440">
                  <a:moveTo>
                    <a:pt x="0" y="0"/>
                  </a:moveTo>
                  <a:lnTo>
                    <a:pt x="6949440" y="0"/>
                  </a:lnTo>
                  <a:lnTo>
                    <a:pt x="6949440" y="1341120"/>
                  </a:lnTo>
                  <a:lnTo>
                    <a:pt x="0" y="1341120"/>
                  </a:lnTo>
                  <a:close/>
                </a:path>
              </a:pathLst>
            </a:custGeom>
            <a:blipFill>
              <a:blip r:embed="rId3">
                <a:alphaModFix amt="0"/>
              </a:blip>
              <a:stretch>
                <a:fillRect l="0" t="-50967" r="0" b="-50967"/>
              </a:stretch>
            </a:blipFill>
          </p:spPr>
        </p:sp>
        <p:sp>
          <p:nvSpPr>
            <p:cNvPr name="TextBox 40" id="40"/>
            <p:cNvSpPr txBox="true"/>
            <p:nvPr/>
          </p:nvSpPr>
          <p:spPr>
            <a:xfrm>
              <a:off x="0" y="-85725"/>
              <a:ext cx="6949440" cy="1426845"/>
            </a:xfrm>
            <a:prstGeom prst="rect">
              <a:avLst/>
            </a:prstGeom>
          </p:spPr>
          <p:txBody>
            <a:bodyPr anchor="ctr" rtlCol="false" tIns="0" lIns="0" bIns="0" rIns="0"/>
            <a:lstStyle/>
            <a:p>
              <a:pPr algn="l">
                <a:lnSpc>
                  <a:spcPts val="2735"/>
                </a:lnSpc>
              </a:pPr>
              <a:r>
                <a:rPr lang="en-US" sz="1899">
                  <a:solidFill>
                    <a:srgbClr val="1E293B"/>
                  </a:solidFill>
                  <a:latin typeface="Calibri (MS)"/>
                  <a:ea typeface="Calibri (MS)"/>
                  <a:cs typeface="Calibri (MS)"/>
                  <a:sym typeface="Calibri (MS)"/>
                </a:rPr>
                <a:t>Frequency (~9.6%)</a:t>
              </a:r>
            </a:p>
            <a:p>
              <a:pPr algn="l">
                <a:lnSpc>
                  <a:spcPts val="2736"/>
                </a:lnSpc>
              </a:pPr>
              <a:r>
                <a:rPr lang="en-US" sz="1900">
                  <a:solidFill>
                    <a:srgbClr val="1E293B"/>
                  </a:solidFill>
                  <a:latin typeface="Calibri (MS)"/>
                  <a:ea typeface="Calibri (MS)"/>
                  <a:cs typeface="Calibri (MS)"/>
                  <a:sym typeface="Calibri (MS)"/>
                </a:rPr>
                <a:t> → confirme la logique RFM</a:t>
              </a:r>
            </a:p>
          </p:txBody>
        </p:sp>
      </p:grpSp>
      <p:grpSp>
        <p:nvGrpSpPr>
          <p:cNvPr name="Group 41" id="41"/>
          <p:cNvGrpSpPr/>
          <p:nvPr/>
        </p:nvGrpSpPr>
        <p:grpSpPr>
          <a:xfrm rot="0">
            <a:off x="11783063" y="6388103"/>
            <a:ext cx="574043" cy="574043"/>
            <a:chOff x="0" y="0"/>
            <a:chExt cx="765391" cy="765391"/>
          </a:xfrm>
        </p:grpSpPr>
        <p:sp>
          <p:nvSpPr>
            <p:cNvPr name="Freeform 42" id="42"/>
            <p:cNvSpPr/>
            <p:nvPr/>
          </p:nvSpPr>
          <p:spPr>
            <a:xfrm flipH="false" flipV="false" rot="0">
              <a:off x="16891" y="16891"/>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7C3AED"/>
            </a:solidFill>
          </p:spPr>
        </p:sp>
        <p:sp>
          <p:nvSpPr>
            <p:cNvPr name="Freeform 43" id="43"/>
            <p:cNvSpPr/>
            <p:nvPr/>
          </p:nvSpPr>
          <p:spPr>
            <a:xfrm flipH="false" flipV="false" rot="0">
              <a:off x="0" y="0"/>
              <a:ext cx="765429" cy="765302"/>
            </a:xfrm>
            <a:custGeom>
              <a:avLst/>
              <a:gdLst/>
              <a:ahLst/>
              <a:cxnLst/>
              <a:rect r="r" b="b" t="t" l="l"/>
              <a:pathLst>
                <a:path h="765302" w="765429">
                  <a:moveTo>
                    <a:pt x="0" y="382651"/>
                  </a:moveTo>
                  <a:cubicBezTo>
                    <a:pt x="0" y="171323"/>
                    <a:pt x="171323" y="0"/>
                    <a:pt x="382651" y="0"/>
                  </a:cubicBezTo>
                  <a:lnTo>
                    <a:pt x="382651" y="16891"/>
                  </a:lnTo>
                  <a:lnTo>
                    <a:pt x="382651" y="0"/>
                  </a:lnTo>
                  <a:cubicBezTo>
                    <a:pt x="594106" y="0"/>
                    <a:pt x="765429" y="171323"/>
                    <a:pt x="765429" y="382651"/>
                  </a:cubicBezTo>
                  <a:cubicBezTo>
                    <a:pt x="765429" y="593979"/>
                    <a:pt x="594106" y="765302"/>
                    <a:pt x="382778" y="765302"/>
                  </a:cubicBezTo>
                  <a:lnTo>
                    <a:pt x="382778" y="748411"/>
                  </a:lnTo>
                  <a:lnTo>
                    <a:pt x="382778" y="765302"/>
                  </a:lnTo>
                  <a:cubicBezTo>
                    <a:pt x="171323" y="765429"/>
                    <a:pt x="0" y="594106"/>
                    <a:pt x="0" y="382651"/>
                  </a:cubicBezTo>
                  <a:lnTo>
                    <a:pt x="16891" y="382651"/>
                  </a:lnTo>
                  <a:lnTo>
                    <a:pt x="31369" y="391414"/>
                  </a:lnTo>
                  <a:cubicBezTo>
                    <a:pt x="27432" y="397891"/>
                    <a:pt x="19685" y="400939"/>
                    <a:pt x="12319" y="398907"/>
                  </a:cubicBezTo>
                  <a:cubicBezTo>
                    <a:pt x="4953" y="396875"/>
                    <a:pt x="0" y="390271"/>
                    <a:pt x="0" y="382651"/>
                  </a:cubicBezTo>
                  <a:moveTo>
                    <a:pt x="33909" y="382651"/>
                  </a:moveTo>
                  <a:lnTo>
                    <a:pt x="16891" y="382651"/>
                  </a:lnTo>
                  <a:lnTo>
                    <a:pt x="2413" y="373888"/>
                  </a:lnTo>
                  <a:cubicBezTo>
                    <a:pt x="6350" y="367411"/>
                    <a:pt x="14097" y="364363"/>
                    <a:pt x="21463" y="366395"/>
                  </a:cubicBezTo>
                  <a:cubicBezTo>
                    <a:pt x="28829" y="368427"/>
                    <a:pt x="33782" y="375158"/>
                    <a:pt x="33782" y="382651"/>
                  </a:cubicBezTo>
                  <a:cubicBezTo>
                    <a:pt x="33782" y="575310"/>
                    <a:pt x="189992" y="731520"/>
                    <a:pt x="382651" y="731520"/>
                  </a:cubicBezTo>
                  <a:cubicBezTo>
                    <a:pt x="575310" y="731520"/>
                    <a:pt x="731520" y="575310"/>
                    <a:pt x="731520" y="382651"/>
                  </a:cubicBezTo>
                  <a:lnTo>
                    <a:pt x="748411" y="382651"/>
                  </a:lnTo>
                  <a:lnTo>
                    <a:pt x="731520" y="382651"/>
                  </a:lnTo>
                  <a:cubicBezTo>
                    <a:pt x="731520" y="189992"/>
                    <a:pt x="575310" y="33782"/>
                    <a:pt x="382651" y="33782"/>
                  </a:cubicBezTo>
                  <a:lnTo>
                    <a:pt x="382651" y="16891"/>
                  </a:lnTo>
                  <a:lnTo>
                    <a:pt x="382651" y="33909"/>
                  </a:lnTo>
                  <a:cubicBezTo>
                    <a:pt x="189992" y="33909"/>
                    <a:pt x="33782" y="190119"/>
                    <a:pt x="33782" y="382778"/>
                  </a:cubicBezTo>
                  <a:close/>
                </a:path>
              </a:pathLst>
            </a:custGeom>
            <a:solidFill>
              <a:srgbClr val="7C3AED"/>
            </a:solidFill>
          </p:spPr>
        </p:sp>
      </p:grpSp>
      <p:grpSp>
        <p:nvGrpSpPr>
          <p:cNvPr name="Group 44" id="44"/>
          <p:cNvGrpSpPr/>
          <p:nvPr/>
        </p:nvGrpSpPr>
        <p:grpSpPr>
          <a:xfrm rot="0">
            <a:off x="11795760" y="6400800"/>
            <a:ext cx="548640" cy="548640"/>
            <a:chOff x="0" y="0"/>
            <a:chExt cx="731520" cy="731520"/>
          </a:xfrm>
        </p:grpSpPr>
        <p:sp>
          <p:nvSpPr>
            <p:cNvPr name="Freeform 45" id="45"/>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46" id="46"/>
            <p:cNvSpPr txBox="true"/>
            <p:nvPr/>
          </p:nvSpPr>
          <p:spPr>
            <a:xfrm>
              <a:off x="0" y="-38100"/>
              <a:ext cx="73152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4</a:t>
              </a:r>
            </a:p>
          </p:txBody>
        </p:sp>
      </p:grpSp>
      <p:grpSp>
        <p:nvGrpSpPr>
          <p:cNvPr name="Group 47" id="47"/>
          <p:cNvGrpSpPr/>
          <p:nvPr/>
        </p:nvGrpSpPr>
        <p:grpSpPr>
          <a:xfrm rot="0">
            <a:off x="12472416" y="6364224"/>
            <a:ext cx="5212080" cy="1005840"/>
            <a:chOff x="0" y="0"/>
            <a:chExt cx="6949440" cy="1341120"/>
          </a:xfrm>
        </p:grpSpPr>
        <p:sp>
          <p:nvSpPr>
            <p:cNvPr name="Freeform 48" id="48"/>
            <p:cNvSpPr/>
            <p:nvPr/>
          </p:nvSpPr>
          <p:spPr>
            <a:xfrm flipH="false" flipV="false" rot="0">
              <a:off x="0" y="0"/>
              <a:ext cx="6949440" cy="1341120"/>
            </a:xfrm>
            <a:custGeom>
              <a:avLst/>
              <a:gdLst/>
              <a:ahLst/>
              <a:cxnLst/>
              <a:rect r="r" b="b" t="t" l="l"/>
              <a:pathLst>
                <a:path h="1341120" w="6949440">
                  <a:moveTo>
                    <a:pt x="0" y="0"/>
                  </a:moveTo>
                  <a:lnTo>
                    <a:pt x="6949440" y="0"/>
                  </a:lnTo>
                  <a:lnTo>
                    <a:pt x="6949440" y="1341120"/>
                  </a:lnTo>
                  <a:lnTo>
                    <a:pt x="0" y="1341120"/>
                  </a:lnTo>
                  <a:close/>
                </a:path>
              </a:pathLst>
            </a:custGeom>
            <a:blipFill>
              <a:blip r:embed="rId3">
                <a:alphaModFix amt="0"/>
              </a:blip>
              <a:stretch>
                <a:fillRect l="0" t="-50967" r="0" b="-50967"/>
              </a:stretch>
            </a:blipFill>
          </p:spPr>
        </p:sp>
        <p:sp>
          <p:nvSpPr>
            <p:cNvPr name="TextBox 49" id="49"/>
            <p:cNvSpPr txBox="true"/>
            <p:nvPr/>
          </p:nvSpPr>
          <p:spPr>
            <a:xfrm>
              <a:off x="0" y="-85725"/>
              <a:ext cx="6949440" cy="1426845"/>
            </a:xfrm>
            <a:prstGeom prst="rect">
              <a:avLst/>
            </a:prstGeom>
          </p:spPr>
          <p:txBody>
            <a:bodyPr anchor="ctr" rtlCol="false" tIns="0" lIns="0" bIns="0" rIns="0"/>
            <a:lstStyle/>
            <a:p>
              <a:pPr algn="l">
                <a:lnSpc>
                  <a:spcPts val="2735"/>
                </a:lnSpc>
              </a:pPr>
              <a:r>
                <a:rPr lang="en-US" sz="1899">
                  <a:solidFill>
                    <a:srgbClr val="1E293B"/>
                  </a:solidFill>
                  <a:latin typeface="Calibri (MS)"/>
                  <a:ea typeface="Calibri (MS)"/>
                  <a:cs typeface="Calibri (MS)"/>
                  <a:sym typeface="Calibri (MS)"/>
                </a:rPr>
                <a:t>AvgD</a:t>
              </a:r>
              <a:r>
                <a:rPr lang="en-US" sz="1899">
                  <a:solidFill>
                    <a:srgbClr val="1E293B"/>
                  </a:solidFill>
                  <a:latin typeface="Calibri (MS)"/>
                  <a:ea typeface="Calibri (MS)"/>
                  <a:cs typeface="Calibri (MS)"/>
                  <a:sym typeface="Calibri (MS)"/>
                </a:rPr>
                <a:t>aysBetweenPurchases (~6.1%)</a:t>
              </a:r>
            </a:p>
            <a:p>
              <a:pPr algn="l">
                <a:lnSpc>
                  <a:spcPts val="2736"/>
                </a:lnSpc>
              </a:pPr>
              <a:r>
                <a:rPr lang="en-US" sz="1900">
                  <a:solidFill>
                    <a:srgbClr val="1E293B"/>
                  </a:solidFill>
                  <a:latin typeface="Calibri (MS)"/>
                  <a:ea typeface="Calibri (MS)"/>
                  <a:cs typeface="Calibri (MS)"/>
                  <a:sym typeface="Calibri (MS)"/>
                </a:rPr>
                <a:t> → capte la régularité d’achat</a:t>
              </a:r>
            </a:p>
          </p:txBody>
        </p:sp>
      </p:grpSp>
      <p:grpSp>
        <p:nvGrpSpPr>
          <p:cNvPr name="Group 50" id="50"/>
          <p:cNvGrpSpPr/>
          <p:nvPr/>
        </p:nvGrpSpPr>
        <p:grpSpPr>
          <a:xfrm rot="0">
            <a:off x="11783063" y="7576823"/>
            <a:ext cx="574043" cy="574043"/>
            <a:chOff x="0" y="0"/>
            <a:chExt cx="765391" cy="765391"/>
          </a:xfrm>
        </p:grpSpPr>
        <p:sp>
          <p:nvSpPr>
            <p:cNvPr name="Freeform 51" id="51"/>
            <p:cNvSpPr/>
            <p:nvPr/>
          </p:nvSpPr>
          <p:spPr>
            <a:xfrm flipH="false" flipV="false" rot="0">
              <a:off x="16891" y="16891"/>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7C3AED"/>
            </a:solidFill>
          </p:spPr>
        </p:sp>
        <p:sp>
          <p:nvSpPr>
            <p:cNvPr name="Freeform 52" id="52"/>
            <p:cNvSpPr/>
            <p:nvPr/>
          </p:nvSpPr>
          <p:spPr>
            <a:xfrm flipH="false" flipV="false" rot="0">
              <a:off x="0" y="0"/>
              <a:ext cx="765429" cy="765302"/>
            </a:xfrm>
            <a:custGeom>
              <a:avLst/>
              <a:gdLst/>
              <a:ahLst/>
              <a:cxnLst/>
              <a:rect r="r" b="b" t="t" l="l"/>
              <a:pathLst>
                <a:path h="765302" w="765429">
                  <a:moveTo>
                    <a:pt x="0" y="382651"/>
                  </a:moveTo>
                  <a:cubicBezTo>
                    <a:pt x="0" y="171323"/>
                    <a:pt x="171323" y="0"/>
                    <a:pt x="382651" y="0"/>
                  </a:cubicBezTo>
                  <a:lnTo>
                    <a:pt x="382651" y="16891"/>
                  </a:lnTo>
                  <a:lnTo>
                    <a:pt x="382651" y="0"/>
                  </a:lnTo>
                  <a:cubicBezTo>
                    <a:pt x="594106" y="0"/>
                    <a:pt x="765429" y="171323"/>
                    <a:pt x="765429" y="382651"/>
                  </a:cubicBezTo>
                  <a:cubicBezTo>
                    <a:pt x="765429" y="593979"/>
                    <a:pt x="594106" y="765302"/>
                    <a:pt x="382778" y="765302"/>
                  </a:cubicBezTo>
                  <a:lnTo>
                    <a:pt x="382778" y="748411"/>
                  </a:lnTo>
                  <a:lnTo>
                    <a:pt x="382778" y="765302"/>
                  </a:lnTo>
                  <a:cubicBezTo>
                    <a:pt x="171323" y="765429"/>
                    <a:pt x="0" y="594106"/>
                    <a:pt x="0" y="382651"/>
                  </a:cubicBezTo>
                  <a:lnTo>
                    <a:pt x="16891" y="382651"/>
                  </a:lnTo>
                  <a:lnTo>
                    <a:pt x="31369" y="391414"/>
                  </a:lnTo>
                  <a:cubicBezTo>
                    <a:pt x="27432" y="397891"/>
                    <a:pt x="19685" y="400939"/>
                    <a:pt x="12319" y="398907"/>
                  </a:cubicBezTo>
                  <a:cubicBezTo>
                    <a:pt x="4953" y="396875"/>
                    <a:pt x="0" y="390271"/>
                    <a:pt x="0" y="382651"/>
                  </a:cubicBezTo>
                  <a:moveTo>
                    <a:pt x="33909" y="382651"/>
                  </a:moveTo>
                  <a:lnTo>
                    <a:pt x="16891" y="382651"/>
                  </a:lnTo>
                  <a:lnTo>
                    <a:pt x="2413" y="373888"/>
                  </a:lnTo>
                  <a:cubicBezTo>
                    <a:pt x="6350" y="367411"/>
                    <a:pt x="14097" y="364363"/>
                    <a:pt x="21463" y="366395"/>
                  </a:cubicBezTo>
                  <a:cubicBezTo>
                    <a:pt x="28829" y="368427"/>
                    <a:pt x="33782" y="375158"/>
                    <a:pt x="33782" y="382651"/>
                  </a:cubicBezTo>
                  <a:cubicBezTo>
                    <a:pt x="33782" y="575310"/>
                    <a:pt x="189992" y="731520"/>
                    <a:pt x="382651" y="731520"/>
                  </a:cubicBezTo>
                  <a:cubicBezTo>
                    <a:pt x="575310" y="731520"/>
                    <a:pt x="731520" y="575310"/>
                    <a:pt x="731520" y="382651"/>
                  </a:cubicBezTo>
                  <a:lnTo>
                    <a:pt x="748411" y="382651"/>
                  </a:lnTo>
                  <a:lnTo>
                    <a:pt x="731520" y="382651"/>
                  </a:lnTo>
                  <a:cubicBezTo>
                    <a:pt x="731520" y="189992"/>
                    <a:pt x="575310" y="33782"/>
                    <a:pt x="382651" y="33782"/>
                  </a:cubicBezTo>
                  <a:lnTo>
                    <a:pt x="382651" y="16891"/>
                  </a:lnTo>
                  <a:lnTo>
                    <a:pt x="382651" y="33909"/>
                  </a:lnTo>
                  <a:cubicBezTo>
                    <a:pt x="189992" y="33909"/>
                    <a:pt x="33782" y="190119"/>
                    <a:pt x="33782" y="382778"/>
                  </a:cubicBezTo>
                  <a:close/>
                </a:path>
              </a:pathLst>
            </a:custGeom>
            <a:solidFill>
              <a:srgbClr val="7C3AED"/>
            </a:solidFill>
          </p:spPr>
        </p:sp>
      </p:grpSp>
      <p:grpSp>
        <p:nvGrpSpPr>
          <p:cNvPr name="Group 53" id="53"/>
          <p:cNvGrpSpPr/>
          <p:nvPr/>
        </p:nvGrpSpPr>
        <p:grpSpPr>
          <a:xfrm rot="0">
            <a:off x="11795760" y="7589520"/>
            <a:ext cx="548640" cy="548640"/>
            <a:chOff x="0" y="0"/>
            <a:chExt cx="731520" cy="731520"/>
          </a:xfrm>
        </p:grpSpPr>
        <p:sp>
          <p:nvSpPr>
            <p:cNvPr name="Freeform 54" id="54"/>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55" id="55"/>
            <p:cNvSpPr txBox="true"/>
            <p:nvPr/>
          </p:nvSpPr>
          <p:spPr>
            <a:xfrm>
              <a:off x="0" y="-38100"/>
              <a:ext cx="73152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5</a:t>
              </a:r>
            </a:p>
          </p:txBody>
        </p:sp>
      </p:grpSp>
      <p:grpSp>
        <p:nvGrpSpPr>
          <p:cNvPr name="Group 56" id="56"/>
          <p:cNvGrpSpPr/>
          <p:nvPr/>
        </p:nvGrpSpPr>
        <p:grpSpPr>
          <a:xfrm rot="0">
            <a:off x="12472416" y="7552944"/>
            <a:ext cx="5212080" cy="1005840"/>
            <a:chOff x="0" y="0"/>
            <a:chExt cx="6949440" cy="1341120"/>
          </a:xfrm>
        </p:grpSpPr>
        <p:sp>
          <p:nvSpPr>
            <p:cNvPr name="Freeform 57" id="57"/>
            <p:cNvSpPr/>
            <p:nvPr/>
          </p:nvSpPr>
          <p:spPr>
            <a:xfrm flipH="false" flipV="false" rot="0">
              <a:off x="0" y="0"/>
              <a:ext cx="6949440" cy="1341120"/>
            </a:xfrm>
            <a:custGeom>
              <a:avLst/>
              <a:gdLst/>
              <a:ahLst/>
              <a:cxnLst/>
              <a:rect r="r" b="b" t="t" l="l"/>
              <a:pathLst>
                <a:path h="1341120" w="6949440">
                  <a:moveTo>
                    <a:pt x="0" y="0"/>
                  </a:moveTo>
                  <a:lnTo>
                    <a:pt x="6949440" y="0"/>
                  </a:lnTo>
                  <a:lnTo>
                    <a:pt x="6949440" y="1341120"/>
                  </a:lnTo>
                  <a:lnTo>
                    <a:pt x="0" y="1341120"/>
                  </a:lnTo>
                  <a:close/>
                </a:path>
              </a:pathLst>
            </a:custGeom>
            <a:blipFill>
              <a:blip r:embed="rId3">
                <a:alphaModFix amt="0"/>
              </a:blip>
              <a:stretch>
                <a:fillRect l="0" t="-50967" r="0" b="-50967"/>
              </a:stretch>
            </a:blipFill>
          </p:spPr>
        </p:sp>
        <p:sp>
          <p:nvSpPr>
            <p:cNvPr name="TextBox 58" id="58"/>
            <p:cNvSpPr txBox="true"/>
            <p:nvPr/>
          </p:nvSpPr>
          <p:spPr>
            <a:xfrm>
              <a:off x="0" y="-85725"/>
              <a:ext cx="6949440" cy="1426845"/>
            </a:xfrm>
            <a:prstGeom prst="rect">
              <a:avLst/>
            </a:prstGeom>
          </p:spPr>
          <p:txBody>
            <a:bodyPr anchor="ctr" rtlCol="false" tIns="0" lIns="0" bIns="0" rIns="0"/>
            <a:lstStyle/>
            <a:p>
              <a:pPr algn="l">
                <a:lnSpc>
                  <a:spcPts val="2735"/>
                </a:lnSpc>
              </a:pPr>
              <a:r>
                <a:rPr lang="en-US" sz="1899">
                  <a:solidFill>
                    <a:srgbClr val="1E293B"/>
                  </a:solidFill>
                  <a:latin typeface="Calibri (MS)"/>
                  <a:ea typeface="Calibri (MS)"/>
                  <a:cs typeface="Calibri (MS)"/>
                  <a:sym typeface="Calibri (MS)"/>
                </a:rPr>
                <a:t>Sp</a:t>
              </a:r>
              <a:r>
                <a:rPr lang="en-US" sz="1899">
                  <a:solidFill>
                    <a:srgbClr val="1E293B"/>
                  </a:solidFill>
                  <a:latin typeface="Calibri (MS)"/>
                  <a:ea typeface="Calibri (MS)"/>
                  <a:cs typeface="Calibri (MS)"/>
                  <a:sym typeface="Calibri (MS)"/>
                </a:rPr>
                <a:t>endingCategory (~6.0%) et MonetaryTotal (~5.7%)</a:t>
              </a:r>
            </a:p>
            <a:p>
              <a:pPr algn="l">
                <a:lnSpc>
                  <a:spcPts val="2736"/>
                </a:lnSpc>
              </a:pPr>
              <a:r>
                <a:rPr lang="en-US" sz="1900">
                  <a:solidFill>
                    <a:srgbClr val="1E293B"/>
                  </a:solidFill>
                  <a:latin typeface="Calibri (MS)"/>
                  <a:ea typeface="Calibri (MS)"/>
                  <a:cs typeface="Calibri (MS)"/>
                  <a:sym typeface="Calibri (MS)"/>
                </a:rPr>
                <a:t> → reflètent la valeur client</a:t>
              </a:r>
            </a:p>
          </p:txBody>
        </p:sp>
      </p:grpSp>
      <p:sp>
        <p:nvSpPr>
          <p:cNvPr name="Freeform 59" id="59"/>
          <p:cNvSpPr/>
          <p:nvPr/>
        </p:nvSpPr>
        <p:spPr>
          <a:xfrm flipH="false" flipV="false" rot="0">
            <a:off x="500454" y="2267712"/>
            <a:ext cx="10497061" cy="6712063"/>
          </a:xfrm>
          <a:custGeom>
            <a:avLst/>
            <a:gdLst/>
            <a:ahLst/>
            <a:cxnLst/>
            <a:rect r="r" b="b" t="t" l="l"/>
            <a:pathLst>
              <a:path h="6712063" w="10497061">
                <a:moveTo>
                  <a:pt x="0" y="0"/>
                </a:moveTo>
                <a:lnTo>
                  <a:pt x="10497062" y="0"/>
                </a:lnTo>
                <a:lnTo>
                  <a:pt x="10497062" y="6712063"/>
                </a:lnTo>
                <a:lnTo>
                  <a:pt x="0" y="6712063"/>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1397003"/>
            <a:chOff x="0" y="0"/>
            <a:chExt cx="24417871" cy="1862671"/>
          </a:xfrm>
        </p:grpSpPr>
        <p:sp>
          <p:nvSpPr>
            <p:cNvPr name="Freeform 3" id="3"/>
            <p:cNvSpPr/>
            <p:nvPr/>
          </p:nvSpPr>
          <p:spPr>
            <a:xfrm flipH="false" flipV="false" rot="0">
              <a:off x="16891" y="16891"/>
              <a:ext cx="24383999" cy="1828800"/>
            </a:xfrm>
            <a:custGeom>
              <a:avLst/>
              <a:gdLst/>
              <a:ahLst/>
              <a:cxnLst/>
              <a:rect r="r" b="b" t="t" l="l"/>
              <a:pathLst>
                <a:path h="1828800" w="24383999">
                  <a:moveTo>
                    <a:pt x="0" y="0"/>
                  </a:moveTo>
                  <a:lnTo>
                    <a:pt x="24383999" y="0"/>
                  </a:lnTo>
                  <a:lnTo>
                    <a:pt x="24383999" y="1828800"/>
                  </a:lnTo>
                  <a:lnTo>
                    <a:pt x="0" y="1828800"/>
                  </a:lnTo>
                  <a:close/>
                </a:path>
              </a:pathLst>
            </a:custGeom>
            <a:solidFill>
              <a:srgbClr val="D97706"/>
            </a:solidFill>
          </p:spPr>
        </p:sp>
        <p:sp>
          <p:nvSpPr>
            <p:cNvPr name="Freeform 4" id="4"/>
            <p:cNvSpPr/>
            <p:nvPr/>
          </p:nvSpPr>
          <p:spPr>
            <a:xfrm flipH="false" flipV="false" rot="0">
              <a:off x="0" y="0"/>
              <a:ext cx="24417782" cy="1862582"/>
            </a:xfrm>
            <a:custGeom>
              <a:avLst/>
              <a:gdLst/>
              <a:ahLst/>
              <a:cxnLst/>
              <a:rect r="r" b="b" t="t" l="l"/>
              <a:pathLst>
                <a:path h="1862582" w="24417782">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D97706"/>
            </a:solidFill>
          </p:spPr>
        </p:sp>
      </p:grpSp>
      <p:grpSp>
        <p:nvGrpSpPr>
          <p:cNvPr name="Group 5" id="5"/>
          <p:cNvGrpSpPr/>
          <p:nvPr/>
        </p:nvGrpSpPr>
        <p:grpSpPr>
          <a:xfrm rot="0">
            <a:off x="731520" y="0"/>
            <a:ext cx="16824960" cy="1371600"/>
            <a:chOff x="0" y="0"/>
            <a:chExt cx="22433280" cy="1828800"/>
          </a:xfrm>
        </p:grpSpPr>
        <p:sp>
          <p:nvSpPr>
            <p:cNvPr name="Freeform 6" id="6"/>
            <p:cNvSpPr/>
            <p:nvPr/>
          </p:nvSpPr>
          <p:spPr>
            <a:xfrm flipH="false" flipV="false" rot="0">
              <a:off x="0" y="0"/>
              <a:ext cx="22433280" cy="1828800"/>
            </a:xfrm>
            <a:custGeom>
              <a:avLst/>
              <a:gdLst/>
              <a:ahLst/>
              <a:cxnLst/>
              <a:rect r="r" b="b" t="t" l="l"/>
              <a:pathLst>
                <a:path h="1828800" w="22433280">
                  <a:moveTo>
                    <a:pt x="0" y="0"/>
                  </a:moveTo>
                  <a:lnTo>
                    <a:pt x="22433280" y="0"/>
                  </a:lnTo>
                  <a:lnTo>
                    <a:pt x="22433280" y="1828800"/>
                  </a:lnTo>
                  <a:lnTo>
                    <a:pt x="0" y="1828800"/>
                  </a:lnTo>
                  <a:close/>
                </a:path>
              </a:pathLst>
            </a:custGeom>
            <a:blipFill>
              <a:blip r:embed="rId3">
                <a:alphaModFix amt="0"/>
              </a:blip>
              <a:stretch>
                <a:fillRect l="0" t="-189016" r="0" b="-189016"/>
              </a:stretch>
            </a:blipFill>
          </p:spPr>
        </p:sp>
        <p:sp>
          <p:nvSpPr>
            <p:cNvPr name="TextBox 7" id="7"/>
            <p:cNvSpPr txBox="true"/>
            <p:nvPr/>
          </p:nvSpPr>
          <p:spPr>
            <a:xfrm>
              <a:off x="0" y="-76200"/>
              <a:ext cx="22433280" cy="1905000"/>
            </a:xfrm>
            <a:prstGeom prst="rect">
              <a:avLst/>
            </a:prstGeom>
          </p:spPr>
          <p:txBody>
            <a:bodyPr anchor="ctr" rtlCol="false" tIns="0" lIns="0" bIns="0" rIns="0"/>
            <a:lstStyle/>
            <a:p>
              <a:pPr algn="l">
                <a:lnSpc>
                  <a:spcPts val="4800"/>
                </a:lnSpc>
              </a:pPr>
              <a:r>
                <a:rPr lang="en-US" sz="4000" b="true">
                  <a:solidFill>
                    <a:srgbClr val="FFFFFF"/>
                  </a:solidFill>
                  <a:latin typeface="Calibri (MS) Bold"/>
                  <a:ea typeface="Calibri (MS) Bold"/>
                  <a:cs typeface="Calibri (MS) Bold"/>
                  <a:sym typeface="Calibri (MS) Bold"/>
                </a:rPr>
                <a:t>Régression MonetaryTotal — Comparaison Modèles</a:t>
              </a:r>
            </a:p>
          </p:txBody>
        </p:sp>
      </p:grpSp>
      <p:grpSp>
        <p:nvGrpSpPr>
          <p:cNvPr name="Group 8" id="8"/>
          <p:cNvGrpSpPr/>
          <p:nvPr/>
        </p:nvGrpSpPr>
        <p:grpSpPr>
          <a:xfrm rot="0">
            <a:off x="365760" y="1554480"/>
            <a:ext cx="17556480" cy="5120640"/>
            <a:chOff x="0" y="0"/>
            <a:chExt cx="23408640" cy="6827520"/>
          </a:xfrm>
        </p:grpSpPr>
        <p:sp>
          <p:nvSpPr>
            <p:cNvPr name="Freeform 9" id="9" descr="preencoded.png"/>
            <p:cNvSpPr/>
            <p:nvPr/>
          </p:nvSpPr>
          <p:spPr>
            <a:xfrm flipH="false" flipV="false" rot="0">
              <a:off x="0" y="0"/>
              <a:ext cx="23408639" cy="6827520"/>
            </a:xfrm>
            <a:custGeom>
              <a:avLst/>
              <a:gdLst/>
              <a:ahLst/>
              <a:cxnLst/>
              <a:rect r="r" b="b" t="t" l="l"/>
              <a:pathLst>
                <a:path h="6827520" w="23408639">
                  <a:moveTo>
                    <a:pt x="0" y="0"/>
                  </a:moveTo>
                  <a:lnTo>
                    <a:pt x="23408639" y="0"/>
                  </a:lnTo>
                  <a:lnTo>
                    <a:pt x="23408639" y="6827520"/>
                  </a:lnTo>
                  <a:lnTo>
                    <a:pt x="0" y="6827520"/>
                  </a:lnTo>
                  <a:lnTo>
                    <a:pt x="0" y="0"/>
                  </a:lnTo>
                  <a:close/>
                </a:path>
              </a:pathLst>
            </a:custGeom>
            <a:blipFill>
              <a:blip r:embed="rId4"/>
              <a:stretch>
                <a:fillRect l="-1026" t="0" r="-1026" b="0"/>
              </a:stretch>
            </a:blipFill>
          </p:spPr>
        </p:sp>
      </p:grpSp>
      <p:graphicFrame>
        <p:nvGraphicFramePr>
          <p:cNvPr name="Table 10" id="10"/>
          <p:cNvGraphicFramePr>
            <a:graphicFrameLocks noGrp="true"/>
          </p:cNvGraphicFramePr>
          <p:nvPr/>
        </p:nvGraphicFramePr>
        <p:xfrm>
          <a:off x="548640" y="6986016"/>
          <a:ext cx="17145000" cy="2540000"/>
        </p:xfrm>
        <a:graphic>
          <a:graphicData uri="http://schemas.openxmlformats.org/drawingml/2006/table">
            <a:tbl>
              <a:tblPr/>
              <a:tblGrid>
                <a:gridCol w="3827323"/>
                <a:gridCol w="2922043"/>
                <a:gridCol w="2559931"/>
                <a:gridCol w="2740987"/>
                <a:gridCol w="5094715"/>
              </a:tblGrid>
              <a:tr h="635000">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Modèle</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solidFill>
                      <a:srgbClr val="0D1B3E"/>
                    </a:solidFill>
                  </a:tcPr>
                </a:tc>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MAPE %</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solidFill>
                      <a:srgbClr val="0D1B3E"/>
                    </a:solidFill>
                  </a:tcPr>
                </a:tc>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R²</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solidFill>
                      <a:srgbClr val="0D1B3E"/>
                    </a:solidFill>
                  </a:tcPr>
                </a:tc>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MAE €</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solidFill>
                      <a:srgbClr val="0D1B3E"/>
                    </a:solidFill>
                  </a:tcPr>
                </a:tc>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Verdict</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solidFill>
                      <a:srgbClr val="0D1B3E"/>
                    </a:solidFill>
                  </a:tcPr>
                </a:tc>
              </a:tr>
              <a:tr h="635000">
                <a:tc>
                  <a:txBody>
                    <a:bodyPr anchor="t" rtlCol="false"/>
                    <a:lstStyle/>
                    <a:p>
                      <a:pPr algn="ctr">
                        <a:lnSpc>
                          <a:spcPts val="2640"/>
                        </a:lnSpc>
                        <a:defRPr/>
                      </a:pPr>
                      <a:r>
                        <a:rPr lang="en-US" sz="2200" b="true">
                          <a:solidFill>
                            <a:srgbClr val="16A34A"/>
                          </a:solidFill>
                          <a:latin typeface="Calibri (MS) Bold"/>
                          <a:ea typeface="Calibri (MS) Bold"/>
                          <a:cs typeface="Calibri (MS) Bold"/>
                          <a:sym typeface="Calibri (MS) Bold"/>
                        </a:rPr>
                        <a:t>XGBoost ★</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solidFill>
                      <a:srgbClr val="ECFDF5"/>
                    </a:solidFill>
                  </a:tcPr>
                </a:tc>
                <a:tc>
                  <a:txBody>
                    <a:bodyPr anchor="t" rtlCol="false"/>
                    <a:lstStyle/>
                    <a:p>
                      <a:pPr algn="ctr">
                        <a:lnSpc>
                          <a:spcPts val="2640"/>
                        </a:lnSpc>
                        <a:defRPr/>
                      </a:pPr>
                      <a:r>
                        <a:rPr lang="en-US" sz="2200" b="true">
                          <a:solidFill>
                            <a:srgbClr val="16A34A"/>
                          </a:solidFill>
                          <a:latin typeface="Calibri (MS) Bold"/>
                          <a:ea typeface="Calibri (MS) Bold"/>
                          <a:cs typeface="Calibri (MS) Bold"/>
                          <a:sym typeface="Calibri (MS) Bold"/>
                        </a:rPr>
                        <a:t>0.9%</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solidFill>
                      <a:srgbClr val="ECFDF5"/>
                    </a:solidFill>
                  </a:tcPr>
                </a:tc>
                <a:tc>
                  <a:txBody>
                    <a:bodyPr anchor="t" rtlCol="false"/>
                    <a:lstStyle/>
                    <a:p>
                      <a:pPr algn="ctr">
                        <a:lnSpc>
                          <a:spcPts val="2640"/>
                        </a:lnSpc>
                        <a:defRPr/>
                      </a:pPr>
                      <a:r>
                        <a:rPr lang="en-US" sz="2200" b="true">
                          <a:solidFill>
                            <a:srgbClr val="16A34A"/>
                          </a:solidFill>
                          <a:latin typeface="Calibri (MS) Bold"/>
                          <a:ea typeface="Calibri (MS) Bold"/>
                          <a:cs typeface="Calibri (MS) Bold"/>
                          <a:sym typeface="Calibri (MS) Bold"/>
                        </a:rPr>
                        <a:t>0.950</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solidFill>
                      <a:srgbClr val="ECFDF5"/>
                    </a:solidFill>
                  </a:tcPr>
                </a:tc>
                <a:tc>
                  <a:txBody>
                    <a:bodyPr anchor="t" rtlCol="false"/>
                    <a:lstStyle/>
                    <a:p>
                      <a:pPr algn="ctr">
                        <a:lnSpc>
                          <a:spcPts val="2640"/>
                        </a:lnSpc>
                        <a:defRPr/>
                      </a:pPr>
                      <a:r>
                        <a:rPr lang="en-US" sz="2200" b="true">
                          <a:solidFill>
                            <a:srgbClr val="16A34A"/>
                          </a:solidFill>
                          <a:latin typeface="Calibri (MS) Bold"/>
                          <a:ea typeface="Calibri (MS) Bold"/>
                          <a:cs typeface="Calibri (MS) Bold"/>
                          <a:sym typeface="Calibri (MS) Bold"/>
                        </a:rPr>
                        <a:t>141 €</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solidFill>
                      <a:srgbClr val="ECFDF5"/>
                    </a:solidFill>
                  </a:tcPr>
                </a:tc>
                <a:tc>
                  <a:txBody>
                    <a:bodyPr anchor="t" rtlCol="false"/>
                    <a:lstStyle/>
                    <a:p>
                      <a:pPr algn="ctr">
                        <a:lnSpc>
                          <a:spcPts val="2640"/>
                        </a:lnSpc>
                        <a:defRPr/>
                      </a:pPr>
                      <a:r>
                        <a:rPr lang="en-US" sz="2200" b="true">
                          <a:solidFill>
                            <a:srgbClr val="16A34A"/>
                          </a:solidFill>
                          <a:latin typeface="Calibri (MS) Bold"/>
                          <a:ea typeface="Calibri (MS) Bold"/>
                          <a:cs typeface="Calibri (MS) Bold"/>
                          <a:sym typeface="Calibri (MS) Bold"/>
                        </a:rPr>
                        <a:t>Sélectionné</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solidFill>
                      <a:srgbClr val="ECFDF5"/>
                    </a:solidFill>
                  </a:tcPr>
                </a:tc>
              </a:tr>
              <a:tr h="635000">
                <a:tc>
                  <a:txBody>
                    <a:bodyPr anchor="t" rtlCol="false"/>
                    <a:lstStyle/>
                    <a:p>
                      <a:pPr algn="ctr">
                        <a:lnSpc>
                          <a:spcPts val="2640"/>
                        </a:lnSpc>
                        <a:defRPr/>
                      </a:pPr>
                      <a:r>
                        <a:rPr lang="en-US" sz="2200">
                          <a:solidFill>
                            <a:srgbClr val="000000"/>
                          </a:solidFill>
                          <a:latin typeface="Calibri (MS)"/>
                          <a:ea typeface="Calibri (MS)"/>
                          <a:cs typeface="Calibri (MS)"/>
                          <a:sym typeface="Calibri (MS)"/>
                        </a:rPr>
                        <a:t>LightGBM</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tcPr>
                </a:tc>
                <a:tc>
                  <a:txBody>
                    <a:bodyPr anchor="t" rtlCol="false"/>
                    <a:lstStyle/>
                    <a:p>
                      <a:pPr algn="ctr">
                        <a:lnSpc>
                          <a:spcPts val="2640"/>
                        </a:lnSpc>
                        <a:defRPr/>
                      </a:pPr>
                      <a:r>
                        <a:rPr lang="en-US" sz="2200">
                          <a:solidFill>
                            <a:srgbClr val="000000"/>
                          </a:solidFill>
                          <a:latin typeface="Calibri (MS)"/>
                          <a:ea typeface="Calibri (MS)"/>
                          <a:cs typeface="Calibri (MS)"/>
                          <a:sym typeface="Calibri (MS)"/>
                        </a:rPr>
                        <a:t>2.0%</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tcPr>
                </a:tc>
                <a:tc>
                  <a:txBody>
                    <a:bodyPr anchor="t" rtlCol="false"/>
                    <a:lstStyle/>
                    <a:p>
                      <a:pPr algn="ctr">
                        <a:lnSpc>
                          <a:spcPts val="2640"/>
                        </a:lnSpc>
                        <a:defRPr/>
                      </a:pPr>
                      <a:r>
                        <a:rPr lang="en-US" sz="2200">
                          <a:solidFill>
                            <a:srgbClr val="000000"/>
                          </a:solidFill>
                          <a:latin typeface="Calibri (MS)"/>
                          <a:ea typeface="Calibri (MS)"/>
                          <a:cs typeface="Calibri (MS)"/>
                          <a:sym typeface="Calibri (MS)"/>
                        </a:rPr>
                        <a:t>0.781</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tcPr>
                </a:tc>
                <a:tc>
                  <a:txBody>
                    <a:bodyPr anchor="t" rtlCol="false"/>
                    <a:lstStyle/>
                    <a:p>
                      <a:pPr algn="ctr">
                        <a:lnSpc>
                          <a:spcPts val="2640"/>
                        </a:lnSpc>
                        <a:defRPr/>
                      </a:pPr>
                      <a:r>
                        <a:rPr lang="en-US" sz="2200">
                          <a:solidFill>
                            <a:srgbClr val="000000"/>
                          </a:solidFill>
                          <a:latin typeface="Calibri (MS)"/>
                          <a:ea typeface="Calibri (MS)"/>
                          <a:cs typeface="Calibri (MS)"/>
                          <a:sym typeface="Calibri (MS)"/>
                        </a:rPr>
                        <a:t>249 €</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tcPr>
                </a:tc>
                <a:tc>
                  <a:txBody>
                    <a:bodyPr anchor="t" rtlCol="false"/>
                    <a:lstStyle/>
                    <a:p>
                      <a:pPr algn="ctr">
                        <a:lnSpc>
                          <a:spcPts val="2640"/>
                        </a:lnSpc>
                        <a:defRPr/>
                      </a:pPr>
                      <a:r>
                        <a:rPr lang="en-US" sz="2200">
                          <a:solidFill>
                            <a:srgbClr val="000000"/>
                          </a:solidFill>
                          <a:latin typeface="Calibri (MS)"/>
                          <a:ea typeface="Calibri (MS)"/>
                          <a:cs typeface="Calibri (MS)"/>
                          <a:sym typeface="Calibri (MS)"/>
                        </a:rPr>
                        <a:t>Écarté</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tcPr>
                </a:tc>
              </a:tr>
              <a:tr h="635000">
                <a:tc>
                  <a:txBody>
                    <a:bodyPr anchor="t" rtlCol="false"/>
                    <a:lstStyle/>
                    <a:p>
                      <a:pPr algn="ctr">
                        <a:lnSpc>
                          <a:spcPts val="2640"/>
                        </a:lnSpc>
                        <a:defRPr/>
                      </a:pPr>
                      <a:r>
                        <a:rPr lang="en-US" sz="2200">
                          <a:solidFill>
                            <a:srgbClr val="000000"/>
                          </a:solidFill>
                          <a:latin typeface="Calibri (MS)"/>
                          <a:ea typeface="Calibri (MS)"/>
                          <a:cs typeface="Calibri (MS)"/>
                          <a:sym typeface="Calibri (MS)"/>
                        </a:rPr>
                        <a:t>Random Forest</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tcPr>
                </a:tc>
                <a:tc>
                  <a:txBody>
                    <a:bodyPr anchor="t" rtlCol="false"/>
                    <a:lstStyle/>
                    <a:p>
                      <a:pPr algn="ctr">
                        <a:lnSpc>
                          <a:spcPts val="2640"/>
                        </a:lnSpc>
                        <a:defRPr/>
                      </a:pPr>
                      <a:r>
                        <a:rPr lang="en-US" sz="2200">
                          <a:solidFill>
                            <a:srgbClr val="000000"/>
                          </a:solidFill>
                          <a:latin typeface="Calibri (MS)"/>
                          <a:ea typeface="Calibri (MS)"/>
                          <a:cs typeface="Calibri (MS)"/>
                          <a:sym typeface="Calibri (MS)"/>
                        </a:rPr>
                        <a:t>7.2%</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tcPr>
                </a:tc>
                <a:tc>
                  <a:txBody>
                    <a:bodyPr anchor="t" rtlCol="false"/>
                    <a:lstStyle/>
                    <a:p>
                      <a:pPr algn="ctr">
                        <a:lnSpc>
                          <a:spcPts val="2640"/>
                        </a:lnSpc>
                        <a:defRPr/>
                      </a:pPr>
                      <a:r>
                        <a:rPr lang="en-US" sz="2200">
                          <a:solidFill>
                            <a:srgbClr val="000000"/>
                          </a:solidFill>
                          <a:latin typeface="Calibri (MS)"/>
                          <a:ea typeface="Calibri (MS)"/>
                          <a:cs typeface="Calibri (MS)"/>
                          <a:sym typeface="Calibri (MS)"/>
                        </a:rPr>
                        <a:t>0.412</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tcPr>
                </a:tc>
                <a:tc>
                  <a:txBody>
                    <a:bodyPr anchor="t" rtlCol="false"/>
                    <a:lstStyle/>
                    <a:p>
                      <a:pPr algn="ctr">
                        <a:lnSpc>
                          <a:spcPts val="2640"/>
                        </a:lnSpc>
                        <a:defRPr/>
                      </a:pPr>
                      <a:r>
                        <a:rPr lang="en-US" sz="2200">
                          <a:solidFill>
                            <a:srgbClr val="000000"/>
                          </a:solidFill>
                          <a:latin typeface="Calibri (MS)"/>
                          <a:ea typeface="Calibri (MS)"/>
                          <a:cs typeface="Calibri (MS)"/>
                          <a:sym typeface="Calibri (MS)"/>
                        </a:rPr>
                        <a:t>493 €</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tcPr>
                </a:tc>
                <a:tc>
                  <a:txBody>
                    <a:bodyPr anchor="t" rtlCol="false"/>
                    <a:lstStyle/>
                    <a:p>
                      <a:pPr algn="ctr">
                        <a:lnSpc>
                          <a:spcPts val="2640"/>
                        </a:lnSpc>
                        <a:defRPr/>
                      </a:pPr>
                      <a:r>
                        <a:rPr lang="en-US" sz="2200">
                          <a:solidFill>
                            <a:srgbClr val="000000"/>
                          </a:solidFill>
                          <a:latin typeface="Calibri (MS)"/>
                          <a:ea typeface="Calibri (MS)"/>
                          <a:cs typeface="Calibri (MS)"/>
                          <a:sym typeface="Calibri (MS)"/>
                        </a:rPr>
                        <a:t>Écarté</a:t>
                      </a:r>
                      <a:endParaRPr lang="en-US" sz="1100"/>
                    </a:p>
                  </a:txBody>
                  <a:tcPr marL="91440" marR="91440" marT="91440" marB="91440" anchor="ctr">
                    <a:lnL cmpd="sng" algn="ctr" cap="flat" w="6350">
                      <a:solidFill>
                        <a:srgbClr val="E2E8F0"/>
                      </a:solidFill>
                      <a:prstDash val="solid"/>
                      <a:round/>
                      <a:headEnd type="none" w="med" len="med"/>
                      <a:tailEnd type="none" w="med" len="med"/>
                    </a:lnL>
                    <a:lnR cmpd="sng" algn="ctr" cap="flat" w="6350">
                      <a:solidFill>
                        <a:srgbClr val="E2E8F0"/>
                      </a:solidFill>
                      <a:prstDash val="solid"/>
                      <a:round/>
                      <a:headEnd type="none" w="med" len="med"/>
                      <a:tailEnd type="none" w="med" len="med"/>
                    </a:lnR>
                    <a:lnT cmpd="sng" algn="ctr" cap="flat" w="6350">
                      <a:solidFill>
                        <a:srgbClr val="E2E8F0"/>
                      </a:solidFill>
                      <a:prstDash val="solid"/>
                      <a:round/>
                      <a:headEnd type="none" w="med" len="med"/>
                      <a:tailEnd type="none" w="med" len="med"/>
                    </a:lnT>
                    <a:lnB cmpd="sng" algn="ctr" cap="flat" w="6350">
                      <a:solidFill>
                        <a:srgbClr val="E2E8F0"/>
                      </a:solidFill>
                      <a:prstDash val="solid"/>
                      <a:round/>
                      <a:headEnd type="none" w="med" len="med"/>
                      <a:tailEnd type="none" w="med" len="med"/>
                    </a:lnB>
                  </a:tcPr>
                </a:tc>
              </a:tr>
            </a:tbl>
          </a:graphicData>
        </a:graphic>
      </p:graphicFrame>
      <p:grpSp>
        <p:nvGrpSpPr>
          <p:cNvPr name="Group 11" id="11"/>
          <p:cNvGrpSpPr/>
          <p:nvPr/>
        </p:nvGrpSpPr>
        <p:grpSpPr>
          <a:xfrm rot="0">
            <a:off x="548640" y="9601200"/>
            <a:ext cx="17190720" cy="585216"/>
            <a:chOff x="0" y="0"/>
            <a:chExt cx="22920960" cy="780288"/>
          </a:xfrm>
        </p:grpSpPr>
        <p:sp>
          <p:nvSpPr>
            <p:cNvPr name="Freeform 12" id="12"/>
            <p:cNvSpPr/>
            <p:nvPr/>
          </p:nvSpPr>
          <p:spPr>
            <a:xfrm flipH="false" flipV="false" rot="0">
              <a:off x="0" y="0"/>
              <a:ext cx="22920961" cy="780288"/>
            </a:xfrm>
            <a:custGeom>
              <a:avLst/>
              <a:gdLst/>
              <a:ahLst/>
              <a:cxnLst/>
              <a:rect r="r" b="b" t="t" l="l"/>
              <a:pathLst>
                <a:path h="780288" w="22920961">
                  <a:moveTo>
                    <a:pt x="0" y="0"/>
                  </a:moveTo>
                  <a:lnTo>
                    <a:pt x="22920961" y="0"/>
                  </a:lnTo>
                  <a:lnTo>
                    <a:pt x="22920961" y="780288"/>
                  </a:lnTo>
                  <a:lnTo>
                    <a:pt x="0" y="780288"/>
                  </a:lnTo>
                  <a:close/>
                </a:path>
              </a:pathLst>
            </a:custGeom>
            <a:blipFill>
              <a:blip r:embed="rId3">
                <a:alphaModFix amt="0"/>
              </a:blip>
              <a:stretch>
                <a:fillRect l="0" t="-522373" r="0" b="-522373"/>
              </a:stretch>
            </a:blipFill>
          </p:spPr>
        </p:sp>
        <p:sp>
          <p:nvSpPr>
            <p:cNvPr name="TextBox 13" id="13"/>
            <p:cNvSpPr txBox="true"/>
            <p:nvPr/>
          </p:nvSpPr>
          <p:spPr>
            <a:xfrm>
              <a:off x="0" y="-38100"/>
              <a:ext cx="22920960" cy="818388"/>
            </a:xfrm>
            <a:prstGeom prst="rect">
              <a:avLst/>
            </a:prstGeom>
          </p:spPr>
          <p:txBody>
            <a:bodyPr anchor="ctr" rtlCol="false" tIns="0" lIns="0" bIns="0" rIns="0"/>
            <a:lstStyle/>
            <a:p>
              <a:pPr algn="l">
                <a:lnSpc>
                  <a:spcPts val="2280"/>
                </a:lnSpc>
              </a:pPr>
              <a:r>
                <a:rPr lang="en-US" sz="1900" i="true">
                  <a:solidFill>
                    <a:srgbClr val="64748B"/>
                  </a:solidFill>
                  <a:latin typeface="Calibri (MS) Italics"/>
                  <a:ea typeface="Calibri (MS) Italics"/>
                  <a:cs typeface="Calibri (MS) Italics"/>
                  <a:sym typeface="Calibri (MS) Italics"/>
                </a:rPr>
                <a:t>Métrique principale : MAPE — mesure l'erreur en % de la valeur réelle, indépendamment de l'échelle (0–15 000 £)</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D1B3E"/>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0297246" cy="1666474"/>
            <a:chOff x="0" y="0"/>
            <a:chExt cx="13729662" cy="2221966"/>
          </a:xfrm>
        </p:grpSpPr>
        <p:sp>
          <p:nvSpPr>
            <p:cNvPr name="Freeform 3" id="3"/>
            <p:cNvSpPr/>
            <p:nvPr/>
          </p:nvSpPr>
          <p:spPr>
            <a:xfrm flipH="false" flipV="false" rot="0">
              <a:off x="0" y="0"/>
              <a:ext cx="13729661" cy="2221966"/>
            </a:xfrm>
            <a:custGeom>
              <a:avLst/>
              <a:gdLst/>
              <a:ahLst/>
              <a:cxnLst/>
              <a:rect r="r" b="b" t="t" l="l"/>
              <a:pathLst>
                <a:path h="2221966" w="13729661">
                  <a:moveTo>
                    <a:pt x="0" y="0"/>
                  </a:moveTo>
                  <a:lnTo>
                    <a:pt x="13729661" y="0"/>
                  </a:lnTo>
                  <a:lnTo>
                    <a:pt x="13729661" y="2221966"/>
                  </a:lnTo>
                  <a:lnTo>
                    <a:pt x="0" y="2221966"/>
                  </a:lnTo>
                  <a:close/>
                </a:path>
              </a:pathLst>
            </a:custGeom>
            <a:blipFill>
              <a:blip r:embed="rId3">
                <a:alphaModFix amt="0"/>
              </a:blip>
              <a:stretch>
                <a:fillRect l="0" t="-156781" r="-59840" b="-128112"/>
              </a:stretch>
            </a:blipFill>
          </p:spPr>
        </p:sp>
        <p:sp>
          <p:nvSpPr>
            <p:cNvPr name="TextBox 4" id="4"/>
            <p:cNvSpPr txBox="true"/>
            <p:nvPr/>
          </p:nvSpPr>
          <p:spPr>
            <a:xfrm>
              <a:off x="0" y="-171450"/>
              <a:ext cx="13729662" cy="2393416"/>
            </a:xfrm>
            <a:prstGeom prst="rect">
              <a:avLst/>
            </a:prstGeom>
          </p:spPr>
          <p:txBody>
            <a:bodyPr anchor="ctr" rtlCol="false" tIns="0" lIns="0" bIns="0" rIns="0"/>
            <a:lstStyle/>
            <a:p>
              <a:pPr algn="ctr">
                <a:lnSpc>
                  <a:spcPts val="9959"/>
                </a:lnSpc>
              </a:pPr>
              <a:r>
                <a:rPr lang="en-US" sz="8299" b="true">
                  <a:solidFill>
                    <a:srgbClr val="FFFFFF"/>
                  </a:solidFill>
                  <a:latin typeface="Calibri (MS) Bold"/>
                  <a:ea typeface="Calibri (MS) Bold"/>
                  <a:cs typeface="Calibri (MS) Bold"/>
                  <a:sym typeface="Calibri (MS) Bold"/>
                </a:rPr>
                <a:t>Conclusion</a:t>
              </a:r>
            </a:p>
          </p:txBody>
        </p:sp>
      </p:grpSp>
      <p:grpSp>
        <p:nvGrpSpPr>
          <p:cNvPr name="Group 5" id="5"/>
          <p:cNvGrpSpPr/>
          <p:nvPr/>
        </p:nvGrpSpPr>
        <p:grpSpPr>
          <a:xfrm rot="0">
            <a:off x="1028700" y="3477026"/>
            <a:ext cx="10297246" cy="1666474"/>
            <a:chOff x="0" y="0"/>
            <a:chExt cx="13729662" cy="2221966"/>
          </a:xfrm>
        </p:grpSpPr>
        <p:sp>
          <p:nvSpPr>
            <p:cNvPr name="Freeform 6" id="6"/>
            <p:cNvSpPr/>
            <p:nvPr/>
          </p:nvSpPr>
          <p:spPr>
            <a:xfrm flipH="false" flipV="false" rot="0">
              <a:off x="0" y="0"/>
              <a:ext cx="13729661" cy="2221966"/>
            </a:xfrm>
            <a:custGeom>
              <a:avLst/>
              <a:gdLst/>
              <a:ahLst/>
              <a:cxnLst/>
              <a:rect r="r" b="b" t="t" l="l"/>
              <a:pathLst>
                <a:path h="2221966" w="13729661">
                  <a:moveTo>
                    <a:pt x="0" y="0"/>
                  </a:moveTo>
                  <a:lnTo>
                    <a:pt x="13729661" y="0"/>
                  </a:lnTo>
                  <a:lnTo>
                    <a:pt x="13729661" y="2221966"/>
                  </a:lnTo>
                  <a:lnTo>
                    <a:pt x="0" y="2221966"/>
                  </a:lnTo>
                  <a:close/>
                </a:path>
              </a:pathLst>
            </a:custGeom>
            <a:blipFill>
              <a:blip r:embed="rId3">
                <a:alphaModFix amt="0"/>
              </a:blip>
              <a:stretch>
                <a:fillRect l="0" t="-156781" r="-59840" b="-128112"/>
              </a:stretch>
            </a:blipFill>
          </p:spPr>
        </p:sp>
        <p:sp>
          <p:nvSpPr>
            <p:cNvPr name="TextBox 7" id="7"/>
            <p:cNvSpPr txBox="true"/>
            <p:nvPr/>
          </p:nvSpPr>
          <p:spPr>
            <a:xfrm>
              <a:off x="0" y="-171450"/>
              <a:ext cx="13729662" cy="2393416"/>
            </a:xfrm>
            <a:prstGeom prst="rect">
              <a:avLst/>
            </a:prstGeom>
          </p:spPr>
          <p:txBody>
            <a:bodyPr anchor="ctr" rtlCol="false" tIns="0" lIns="0" bIns="0" rIns="0"/>
            <a:lstStyle/>
            <a:p>
              <a:pPr algn="ctr">
                <a:lnSpc>
                  <a:spcPts val="9959"/>
                </a:lnSpc>
              </a:pPr>
            </a:p>
          </p:txBody>
        </p:sp>
      </p:grpSp>
      <p:grpSp>
        <p:nvGrpSpPr>
          <p:cNvPr name="Group 8" id="8"/>
          <p:cNvGrpSpPr/>
          <p:nvPr/>
        </p:nvGrpSpPr>
        <p:grpSpPr>
          <a:xfrm rot="0">
            <a:off x="1367890" y="3150462"/>
            <a:ext cx="10297246" cy="6107838"/>
            <a:chOff x="0" y="0"/>
            <a:chExt cx="13729662" cy="8143785"/>
          </a:xfrm>
        </p:grpSpPr>
        <p:sp>
          <p:nvSpPr>
            <p:cNvPr name="Freeform 9" id="9"/>
            <p:cNvSpPr/>
            <p:nvPr/>
          </p:nvSpPr>
          <p:spPr>
            <a:xfrm flipH="false" flipV="false" rot="0">
              <a:off x="0" y="0"/>
              <a:ext cx="13729661" cy="8143784"/>
            </a:xfrm>
            <a:custGeom>
              <a:avLst/>
              <a:gdLst/>
              <a:ahLst/>
              <a:cxnLst/>
              <a:rect r="r" b="b" t="t" l="l"/>
              <a:pathLst>
                <a:path h="8143784" w="13729661">
                  <a:moveTo>
                    <a:pt x="0" y="0"/>
                  </a:moveTo>
                  <a:lnTo>
                    <a:pt x="13729661" y="0"/>
                  </a:lnTo>
                  <a:lnTo>
                    <a:pt x="13729661" y="8143784"/>
                  </a:lnTo>
                  <a:lnTo>
                    <a:pt x="0" y="8143784"/>
                  </a:lnTo>
                  <a:close/>
                </a:path>
              </a:pathLst>
            </a:custGeom>
            <a:blipFill>
              <a:blip r:embed="rId3">
                <a:alphaModFix amt="0"/>
              </a:blip>
              <a:stretch>
                <a:fillRect l="0" t="-42776" r="-59840" b="37761"/>
              </a:stretch>
            </a:blipFill>
          </p:spPr>
        </p:sp>
        <p:sp>
          <p:nvSpPr>
            <p:cNvPr name="TextBox 10" id="10"/>
            <p:cNvSpPr txBox="true"/>
            <p:nvPr/>
          </p:nvSpPr>
          <p:spPr>
            <a:xfrm>
              <a:off x="0" y="-66675"/>
              <a:ext cx="13729662" cy="8210460"/>
            </a:xfrm>
            <a:prstGeom prst="rect">
              <a:avLst/>
            </a:prstGeom>
          </p:spPr>
          <p:txBody>
            <a:bodyPr anchor="ctr" rtlCol="false" tIns="0" lIns="0" bIns="0" rIns="0"/>
            <a:lstStyle/>
            <a:p>
              <a:pPr algn="l">
                <a:lnSpc>
                  <a:spcPts val="3600"/>
                </a:lnSpc>
              </a:pPr>
              <a:r>
                <a:rPr lang="en-US" sz="3000" b="true">
                  <a:solidFill>
                    <a:srgbClr val="FFFFFF"/>
                  </a:solidFill>
                  <a:latin typeface="Calibri (MS) Bold"/>
                  <a:ea typeface="Calibri (MS) Bold"/>
                  <a:cs typeface="Calibri (MS) Bold"/>
                  <a:sym typeface="Calibri (MS) Bold"/>
                </a:rPr>
                <a:t>Ce projet a permis de mettre en place une approche structurée et opérationnelle de la data science au service des enjeux métier. En combinant segmentation, prédiction et estimation de valeur, nous avons construit un ensemble cohérent d’outils d’aide à la décision.</a:t>
              </a:r>
            </a:p>
            <a:p>
              <a:pPr algn="l">
                <a:lnSpc>
                  <a:spcPts val="3600"/>
                </a:lnSpc>
              </a:pPr>
              <a:r>
                <a:rPr lang="en-US" sz="3000" b="true">
                  <a:solidFill>
                    <a:srgbClr val="FFFFFF"/>
                  </a:solidFill>
                  <a:latin typeface="Calibri (MS) Bold"/>
                  <a:ea typeface="Calibri (MS) Bold"/>
                  <a:cs typeface="Calibri (MS) Bold"/>
                  <a:sym typeface="Calibri (MS) Bold"/>
                </a:rPr>
                <a:t>Les résultats obtenus montrent que les modèles ne se limitent pas à une performance technique élevée, mais offrent surtout une capacité réelle à améliorer les actions marketing et commerciales : mieux cibler, anticiper les comportements clients et optimiser l’allocation des ressources.</a:t>
              </a:r>
            </a:p>
            <a:p>
              <a:pPr algn="ctr">
                <a:lnSpc>
                  <a:spcPts val="9959"/>
                </a:lnSpc>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D1B3E"/>
        </a:solidFill>
      </p:bgPr>
    </p:bg>
    <p:spTree>
      <p:nvGrpSpPr>
        <p:cNvPr id="1" name=""/>
        <p:cNvGrpSpPr/>
        <p:nvPr/>
      </p:nvGrpSpPr>
      <p:grpSpPr>
        <a:xfrm>
          <a:off x="0" y="0"/>
          <a:ext cx="0" cy="0"/>
          <a:chOff x="0" y="0"/>
          <a:chExt cx="0" cy="0"/>
        </a:xfrm>
      </p:grpSpPr>
      <p:grpSp>
        <p:nvGrpSpPr>
          <p:cNvPr name="Group 2" id="2"/>
          <p:cNvGrpSpPr/>
          <p:nvPr/>
        </p:nvGrpSpPr>
        <p:grpSpPr>
          <a:xfrm rot="0">
            <a:off x="3516094" y="3681613"/>
            <a:ext cx="10297246" cy="2923774"/>
            <a:chOff x="0" y="0"/>
            <a:chExt cx="13729662" cy="3898366"/>
          </a:xfrm>
        </p:grpSpPr>
        <p:sp>
          <p:nvSpPr>
            <p:cNvPr name="Freeform 3" id="3"/>
            <p:cNvSpPr/>
            <p:nvPr/>
          </p:nvSpPr>
          <p:spPr>
            <a:xfrm flipH="false" flipV="false" rot="0">
              <a:off x="0" y="0"/>
              <a:ext cx="13729661" cy="3898366"/>
            </a:xfrm>
            <a:custGeom>
              <a:avLst/>
              <a:gdLst/>
              <a:ahLst/>
              <a:cxnLst/>
              <a:rect r="r" b="b" t="t" l="l"/>
              <a:pathLst>
                <a:path h="3898366" w="13729661">
                  <a:moveTo>
                    <a:pt x="0" y="0"/>
                  </a:moveTo>
                  <a:lnTo>
                    <a:pt x="13729661" y="0"/>
                  </a:lnTo>
                  <a:lnTo>
                    <a:pt x="13729661" y="3898366"/>
                  </a:lnTo>
                  <a:lnTo>
                    <a:pt x="0" y="3898366"/>
                  </a:lnTo>
                  <a:close/>
                </a:path>
              </a:pathLst>
            </a:custGeom>
            <a:blipFill>
              <a:blip r:embed="rId3">
                <a:alphaModFix amt="0"/>
              </a:blip>
              <a:stretch>
                <a:fillRect l="0" t="-89361" r="-59840" b="-30018"/>
              </a:stretch>
            </a:blipFill>
          </p:spPr>
        </p:sp>
        <p:sp>
          <p:nvSpPr>
            <p:cNvPr name="TextBox 4" id="4"/>
            <p:cNvSpPr txBox="true"/>
            <p:nvPr/>
          </p:nvSpPr>
          <p:spPr>
            <a:xfrm>
              <a:off x="0" y="-171450"/>
              <a:ext cx="13729662" cy="4069816"/>
            </a:xfrm>
            <a:prstGeom prst="rect">
              <a:avLst/>
            </a:prstGeom>
          </p:spPr>
          <p:txBody>
            <a:bodyPr anchor="ctr" rtlCol="false" tIns="0" lIns="0" bIns="0" rIns="0"/>
            <a:lstStyle/>
            <a:p>
              <a:pPr algn="ctr">
                <a:lnSpc>
                  <a:spcPts val="9959"/>
                </a:lnSpc>
              </a:pPr>
              <a:r>
                <a:rPr lang="en-US" sz="8299" b="true">
                  <a:solidFill>
                    <a:srgbClr val="FFFFFF"/>
                  </a:solidFill>
                  <a:latin typeface="Calibri (MS) Bold"/>
                  <a:ea typeface="Calibri (MS) Bold"/>
                  <a:cs typeface="Calibri (MS) Bold"/>
                  <a:sym typeface="Calibri (MS) Bold"/>
                </a:rPr>
                <a:t>Merci pour votre attetion </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DAHHl7ZrJCI</dc:identifier>
  <dcterms:modified xsi:type="dcterms:W3CDTF">2011-08-01T06:04:30Z</dcterms:modified>
  <cp:revision>1</cp:revision>
  <dc:title>presentation_ML (1).pptx</dc:title>
</cp:coreProperties>
</file>